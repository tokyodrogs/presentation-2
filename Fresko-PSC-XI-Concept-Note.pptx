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[TEAM NAME], and we are building Fresko. One in every three kilos of highland vegetables is lost before it reaches a buyer. Fresko puts solar-powered cooling right at the farm, shared by 40 farms per hub, so every kilo counts. In the next few minutes: the problem, our solution, our business model, and our ask of 2.4 million pesos.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cooling is missing at the first mile. Our solution: a 2-tonne solar cold room plus an app that predicts shelf life and matches buyers. The model: farmers pay nothing upfront; we earn storage fees and a commission on offtake. The ask: 2.4 million pesos for three hubs and a 12-month pilot.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The problem is a missing first mile: farmers in Benguet harvest at dawn and their produce sits unrefrigerated for six to eight hours. The solution is the Fresko Hub — a shared, solar-powered cold room the size of a small container, paired with an offline-first app. The value proposition: same harvest, more sellable kilos, paid in 24 hours, zero upfront cost.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Background. The Philippines has cold storage — but only about 860,000 of the 1.4 million pallet positions we need, and it sits in Metro Manila, not where food is grown. In Benguet alone, 253,544 metric tons of high-value vegetables were harvested in 2024. At a conservative 28% loss, that is roughly 71,000 tonnes — about 2.1 billion pesos — that never gets eaten.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has three parts: the hub, the app, the route. A farmer books a slot, harvests, and delivers within two hours. IoT sensors log temperature and our freshness model grades the batch. We then match the produce to a verified buyer and pay out within 24 hours. Priority SDG is SDG 12 — specifically target 12.3, halving food loss — supported by SDGs 2, 8, 9 and 13.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objectives are SMART and dated. By month 12: three hubs installed, 120 farmer-members onboarded, 240 tonnes of produce cooled, loss rate down from 35 to 15 percent, farmer net income up 35 percent, 18 tonnes of CO2e avoided, and 99 percent hub uptime. Every one has a metric we will report monthly.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beneficiaries are smallholder highland vegetable farmers — average farm size 1.3 hectares — and the cooperatives that aggregate them. Secondary customers are market vendors, restaurants and processors who need consistent, verified grade-A produce. We start in three Benguet municipalities, then expand to Nueva Vizcaya, the Ilocos tomato corridor, and eventually Cebu and Davao.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Compared with the status quo, a farmer-owned cold room, or third-party reefer logistics, Fresko wins on three things: zero upfront cost, materially lower loss, and fast, verifiable payment. No capex, fewer spoilage kilos, cash in 24 hours — that is the whole pitch.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we make money: a storage fee of 1.20 pesos per kilo per day, a 6 percent commission on matched offtake, a monthly analytics subscription for cooperatives, and ESG reporting for agri-corporates and LGUs. One hub costs 480,000 pesos, runs at 28,000 a month, returns about 61,000 — contribution of 33,000 and payback in roughly 14 and a half months.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size. TAM about 4.6 billion pesos a year in cold-storage and post-harvest services. SAM 1.1 billion in the Cordillera and Northern Luzon corridors we can physically serve. SOM 12 million pesos by Year 3 with 30 hubs — only 1% of SAM, which is what makes it credible. Competitors exist in software and in urban cold storage, but nobody owns the farm-side shared cooling layer.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Operations. Phase zero is partnership and permits in months one to three. Phase one installs hub number one and runs a 40-farmer pilot. Phase two scales to three hubs with the app in general availability. Year two moves to twelve hubs under a cooperative-operated franchise model: the co-op supplies land and staff, we supply technology and demand.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asking for 2.4 million pesos. 60 percent goes to three pilot cold rooms, 15 percent to the app and IoT stack, 12.5 percent to pilot operations, 7.5 percent to farmer training, and 5 percent to contingency. With that we reach three hubs and 120 farmers in Year 1, twelve hubs in Year 2, and thirty hubs with 6.7 million EBITDA in Year 3. Breakeven in month 19.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 Every peso we deploy is designed to move three things: farmer income, food actually eaten, and emissions avoided. By month twelve that means 120 farm households earning more, 84 tonnes of food saved, and 18 tonnes of CO2e avoided — squarely on SDG 12.3 and SDG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cooling already exists in the Philippines — it just does not exist at the farm. Fresko puts it there: shared, solar-powered, and demand-backed. We are asking for 2.4 million pesos, three cooperative partners, and one logistics partner. Every kilo counts. Thank you — we are ready for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for Q and A: our sources and every assumption behind the numbers. All figures are traceable, and every projection has a stated utilisation and pricing assumption.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1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168335" y="-1371600"/>
            <a:ext cx="5120640" cy="51206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828800" y="4114800"/>
            <a:ext cx="4206240" cy="42062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hero-farm.jpg"/>
          <p:cNvPicPr>
            <a:picLocks noChangeAspect="1"/>
          </p:cNvPicPr>
          <p:nvPr/>
        </p:nvPicPr>
        <p:blipFill>
          <a:blip r:embed="rId2"/>
          <a:srcRect l="32088" r="32088"/>
          <a:stretch>
            <a:fillRect/>
          </a:stretch>
        </p:blipFill>
        <p:spPr>
          <a:xfrm>
            <a:off x="6400800" y="0"/>
            <a:ext cx="5790895" cy="6858000"/>
          </a:xfrm>
          <a:prstGeom prst="rect">
            <a:avLst/>
          </a:prstGeom>
        </p:spPr>
      </p:pic>
      <p:sp>
        <p:nvSpPr>
          <p:cNvPr id="6" name="Rectangle 5"/>
          <p:cNvSpPr/>
          <p:nvPr/>
        </p:nvSpPr>
        <p:spPr>
          <a:xfrm>
            <a:off x="6400800" y="0"/>
            <a:ext cx="5790895" cy="6858000"/>
          </a:xfrm>
          <a:prstGeom prst="rect">
            <a:avLst/>
          </a:prstGeom>
          <a:solidFill>
            <a:srgbClr val="0721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hero-farm.jpg"/>
          <p:cNvPicPr>
            <a:picLocks noChangeAspect="1"/>
          </p:cNvPicPr>
          <p:nvPr/>
        </p:nvPicPr>
        <p:blipFill>
          <a:blip r:embed="rId2"/>
          <a:srcRect l="32088" r="32088"/>
          <a:stretch>
            <a:fillRect/>
          </a:stretch>
        </p:blipFill>
        <p:spPr>
          <a:xfrm>
            <a:off x="6400800" y="0"/>
            <a:ext cx="5790895" cy="6858000"/>
          </a:xfrm>
          <a:prstGeom prst="rect">
            <a:avLst/>
          </a:prstGeom>
        </p:spPr>
      </p:pic>
      <p:sp>
        <p:nvSpPr>
          <p:cNvPr id="8" name="Rectangle 7"/>
          <p:cNvSpPr/>
          <p:nvPr/>
        </p:nvSpPr>
        <p:spPr>
          <a:xfrm>
            <a:off x="6400800" y="5532120"/>
            <a:ext cx="5790895" cy="1325880"/>
          </a:xfrm>
          <a:prstGeom prst="rect">
            <a:avLst/>
          </a:prstGeom>
          <a:solidFill>
            <a:srgbClr val="04120C">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0" y="5532120"/>
            <a:ext cx="5790895" cy="32004"/>
          </a:xfrm>
          <a:prstGeom prst="rect">
            <a:avLst/>
          </a:prstGeom>
          <a:solidFill>
            <a:srgbClr val="F2A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fresko-logo.png"/>
          <p:cNvPicPr>
            <a:picLocks noChangeAspect="1"/>
          </p:cNvPicPr>
          <p:nvPr/>
        </p:nvPicPr>
        <p:blipFill>
          <a:blip r:embed="rId3"/>
          <a:stretch>
            <a:fillRect/>
          </a:stretch>
        </p:blipFill>
        <p:spPr>
          <a:xfrm>
            <a:off x="566928" y="658368"/>
            <a:ext cx="960120" cy="960120"/>
          </a:xfrm>
          <a:prstGeom prst="rect">
            <a:avLst/>
          </a:prstGeom>
        </p:spPr>
      </p:pic>
      <p:sp>
        <p:nvSpPr>
          <p:cNvPr id="11" name="TextBox 10"/>
          <p:cNvSpPr txBox="1"/>
          <p:nvPr/>
        </p:nvSpPr>
        <p:spPr>
          <a:xfrm>
            <a:off x="566928" y="1847088"/>
            <a:ext cx="5486400" cy="274320"/>
          </a:xfrm>
          <a:prstGeom prst="rect">
            <a:avLst/>
          </a:prstGeom>
          <a:noFill/>
        </p:spPr>
        <p:txBody>
          <a:bodyPr wrap="square" anchor="t" lIns="0" rIns="0" tIns="0" bIns="0">
            <a:noAutofit/>
          </a:bodyPr>
          <a:lstStyle/>
          <a:p>
            <a:pPr algn="l">
              <a:lnSpc>
                <a:spcPct val="100000"/>
              </a:lnSpc>
              <a:spcAft>
                <a:spcPts val="0"/>
              </a:spcAft>
            </a:pPr>
            <a:r>
              <a:rPr sz="950" b="1" i="0">
                <a:solidFill>
                  <a:srgbClr val="7FD1AE"/>
                </a:solidFill>
                <a:latin typeface="Calibri"/>
              </a:rPr>
              <a:t>PHILIPPINE STARTUP CHALLENGE XI  ·  CONCEPT NOTE</a:t>
            </a:r>
          </a:p>
        </p:txBody>
      </p:sp>
      <p:sp>
        <p:nvSpPr>
          <p:cNvPr id="12" name="TextBox 11"/>
          <p:cNvSpPr txBox="1"/>
          <p:nvPr/>
        </p:nvSpPr>
        <p:spPr>
          <a:xfrm>
            <a:off x="566928" y="2121408"/>
            <a:ext cx="5669280" cy="822960"/>
          </a:xfrm>
          <a:prstGeom prst="rect">
            <a:avLst/>
          </a:prstGeom>
          <a:noFill/>
        </p:spPr>
        <p:txBody>
          <a:bodyPr wrap="square" anchor="t" lIns="0" rIns="0" tIns="0" bIns="0">
            <a:noAutofit/>
          </a:bodyPr>
          <a:lstStyle/>
          <a:p>
            <a:pPr algn="l">
              <a:lnSpc>
                <a:spcPct val="90000"/>
              </a:lnSpc>
              <a:spcAft>
                <a:spcPts val="0"/>
              </a:spcAft>
            </a:pPr>
            <a:r>
              <a:rPr sz="5200" b="1" i="0">
                <a:solidFill>
                  <a:srgbClr val="FFFFFF"/>
                </a:solidFill>
                <a:latin typeface="Calibri"/>
              </a:rPr>
              <a:t>FRESKO</a:t>
            </a:r>
          </a:p>
        </p:txBody>
      </p:sp>
      <p:sp>
        <p:nvSpPr>
          <p:cNvPr id="13" name="Rectangle 12"/>
          <p:cNvSpPr/>
          <p:nvPr/>
        </p:nvSpPr>
        <p:spPr>
          <a:xfrm>
            <a:off x="603504" y="2999232"/>
            <a:ext cx="1371600" cy="54864"/>
          </a:xfrm>
          <a:prstGeom prst="rect">
            <a:avLst/>
          </a:prstGeom>
          <a:solidFill>
            <a:srgbClr val="F2A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66928" y="3218688"/>
            <a:ext cx="5486400" cy="868680"/>
          </a:xfrm>
          <a:prstGeom prst="rect">
            <a:avLst/>
          </a:prstGeom>
          <a:noFill/>
        </p:spPr>
        <p:txBody>
          <a:bodyPr wrap="square" anchor="t" lIns="0" rIns="0" tIns="0" bIns="0">
            <a:noAutofit/>
          </a:bodyPr>
          <a:lstStyle/>
          <a:p>
            <a:pPr algn="l">
              <a:lnSpc>
                <a:spcPct val="112000"/>
              </a:lnSpc>
              <a:spcAft>
                <a:spcPts val="0"/>
              </a:spcAft>
            </a:pPr>
            <a:r>
              <a:rPr sz="1600" b="1" i="0">
                <a:solidFill>
                  <a:srgbClr val="FFD9A2"/>
                </a:solidFill>
                <a:latin typeface="Calibri"/>
              </a:rPr>
              <a:t>Farm-side cooling, shared.</a:t>
            </a:r>
          </a:p>
          <a:p>
            <a:pPr algn="l">
              <a:lnSpc>
                <a:spcPct val="112000"/>
              </a:lnSpc>
              <a:spcAft>
                <a:spcPts val="0"/>
              </a:spcAft>
            </a:pPr>
            <a:r>
              <a:rPr sz="1250" b="0" i="0">
                <a:solidFill>
                  <a:srgbClr val="EAF4EE"/>
                </a:solidFill>
                <a:latin typeface="Calibri"/>
              </a:rPr>
              <a:t>Solar cold rooms + freshness AI for highland vegetable farmers —</a:t>
            </a:r>
          </a:p>
          <a:p>
            <a:pPr algn="l">
              <a:lnSpc>
                <a:spcPct val="112000"/>
              </a:lnSpc>
              <a:spcAft>
                <a:spcPts val="0"/>
              </a:spcAft>
            </a:pPr>
            <a:r>
              <a:rPr sz="1250" b="0" i="0">
                <a:solidFill>
                  <a:srgbClr val="EAF4EE"/>
                </a:solidFill>
                <a:latin typeface="Calibri"/>
              </a:rPr>
              <a:t>turning a 35% post-harvest loss into income.</a:t>
            </a:r>
          </a:p>
        </p:txBody>
      </p:sp>
      <p:sp>
        <p:nvSpPr>
          <p:cNvPr id="15" name="Rounded Rectangle 14"/>
          <p:cNvSpPr/>
          <p:nvPr/>
        </p:nvSpPr>
        <p:spPr>
          <a:xfrm>
            <a:off x="566928" y="4224528"/>
            <a:ext cx="1579717" cy="310896"/>
          </a:xfrm>
          <a:prstGeom prst="roundRect">
            <a:avLst>
              <a:gd name="adj" fmla="val 50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2A33C"/>
                </a:solidFill>
                <a:latin typeface="Calibri"/>
              </a:rPr>
              <a:t>Team: [TEAM NAME]</a:t>
            </a:r>
          </a:p>
        </p:txBody>
      </p:sp>
      <p:sp>
        <p:nvSpPr>
          <p:cNvPr id="16" name="Rounded Rectangle 15"/>
          <p:cNvSpPr/>
          <p:nvPr/>
        </p:nvSpPr>
        <p:spPr>
          <a:xfrm>
            <a:off x="2238085" y="4224528"/>
            <a:ext cx="3018251" cy="310896"/>
          </a:xfrm>
          <a:prstGeom prst="roundRect">
            <a:avLst>
              <a:gd name="adj" fmla="val 50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7FD1AE"/>
                </a:solidFill>
                <a:latin typeface="Calibri"/>
              </a:rPr>
              <a:t>[Member 1] · [Member 2] · [Member 3]</a:t>
            </a:r>
          </a:p>
        </p:txBody>
      </p:sp>
      <p:sp>
        <p:nvSpPr>
          <p:cNvPr id="17" name="Rounded Rectangle 16"/>
          <p:cNvSpPr/>
          <p:nvPr/>
        </p:nvSpPr>
        <p:spPr>
          <a:xfrm>
            <a:off x="5347776" y="4224528"/>
            <a:ext cx="1882566" cy="310896"/>
          </a:xfrm>
          <a:prstGeom prst="roundRect">
            <a:avLst>
              <a:gd name="adj" fmla="val 50000"/>
            </a:avLst>
          </a:prstGeom>
          <a:solidFill>
            <a:srgbClr val="0C2E22"/>
          </a:solidFill>
          <a:ln w="11430">
            <a:solidFill>
              <a:srgbClr val="8FD4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8FD4E8"/>
                </a:solidFill>
                <a:latin typeface="Calibri"/>
              </a:rPr>
              <a:t>Mentor: [MENTOR NAME]</a:t>
            </a:r>
          </a:p>
        </p:txBody>
      </p:sp>
      <p:sp>
        <p:nvSpPr>
          <p:cNvPr id="18" name="TextBox 17"/>
          <p:cNvSpPr txBox="1"/>
          <p:nvPr/>
        </p:nvSpPr>
        <p:spPr>
          <a:xfrm>
            <a:off x="566928" y="4892040"/>
            <a:ext cx="5486400" cy="1097280"/>
          </a:xfrm>
          <a:prstGeom prst="rect">
            <a:avLst/>
          </a:prstGeom>
          <a:noFill/>
        </p:spPr>
        <p:txBody>
          <a:bodyPr wrap="square" anchor="t" lIns="0" rIns="0" tIns="0" bIns="0">
            <a:noAutofit/>
          </a:bodyPr>
          <a:lstStyle/>
          <a:p>
            <a:pPr algn="l">
              <a:lnSpc>
                <a:spcPct val="135000"/>
              </a:lnSpc>
              <a:spcAft>
                <a:spcPts val="0"/>
              </a:spcAft>
            </a:pPr>
            <a:r>
              <a:rPr sz="1050" b="1" i="0">
                <a:solidFill>
                  <a:srgbClr val="7FD1AE"/>
                </a:solidFill>
                <a:latin typeface="Calibri"/>
              </a:rPr>
              <a:t>Beachhead: </a:t>
            </a:r>
            <a:r>
              <a:rPr sz="1050" b="0" i="0">
                <a:solidFill>
                  <a:srgbClr val="CBE2D7"/>
                </a:solidFill>
                <a:latin typeface="Calibri"/>
              </a:rPr>
              <a:t>Benguet → Metro Manila highland-vegetable corridor</a:t>
            </a:r>
          </a:p>
          <a:p>
            <a:pPr algn="l">
              <a:lnSpc>
                <a:spcPct val="135000"/>
              </a:lnSpc>
              <a:spcAft>
                <a:spcPts val="0"/>
              </a:spcAft>
            </a:pPr>
            <a:r>
              <a:rPr sz="1050" b="1" i="0">
                <a:solidFill>
                  <a:srgbClr val="7FD1AE"/>
                </a:solidFill>
                <a:latin typeface="Calibri"/>
              </a:rPr>
              <a:t>Asking </a:t>
            </a:r>
            <a:r>
              <a:rPr sz="1050" b="1" i="0">
                <a:solidFill>
                  <a:srgbClr val="FFD9A2"/>
                </a:solidFill>
                <a:latin typeface="Calibri"/>
              </a:rPr>
              <a:t>₱2,400,000</a:t>
            </a:r>
            <a:r>
              <a:rPr sz="1050" b="0" i="0">
                <a:solidFill>
                  <a:srgbClr val="CBE2D7"/>
                </a:solidFill>
                <a:latin typeface="Calibri"/>
              </a:rPr>
              <a:t> seed · 3 hubs · 120 partner farmers in 12 months</a:t>
            </a:r>
          </a:p>
          <a:p>
            <a:pPr algn="l">
              <a:lnSpc>
                <a:spcPct val="135000"/>
              </a:lnSpc>
              <a:spcAft>
                <a:spcPts val="0"/>
              </a:spcAft>
            </a:pPr>
            <a:r>
              <a:rPr sz="1050" b="1" i="0">
                <a:solidFill>
                  <a:srgbClr val="7FD1AE"/>
                </a:solidFill>
                <a:latin typeface="Calibri"/>
              </a:rPr>
              <a:t>Solution type: </a:t>
            </a:r>
            <a:r>
              <a:rPr sz="1050" b="0" i="0">
                <a:solidFill>
                  <a:srgbClr val="CBE2D7"/>
                </a:solidFill>
                <a:latin typeface="Calibri"/>
              </a:rPr>
              <a:t>software + IoT, ideation → MVP stage</a:t>
            </a:r>
          </a:p>
        </p:txBody>
      </p:sp>
      <p:sp>
        <p:nvSpPr>
          <p:cNvPr id="19" name="TextBox 18"/>
          <p:cNvSpPr txBox="1"/>
          <p:nvPr/>
        </p:nvSpPr>
        <p:spPr>
          <a:xfrm>
            <a:off x="6693408" y="5888736"/>
            <a:ext cx="5120640" cy="566928"/>
          </a:xfrm>
          <a:prstGeom prst="rect">
            <a:avLst/>
          </a:prstGeom>
          <a:noFill/>
        </p:spPr>
        <p:txBody>
          <a:bodyPr wrap="square" anchor="t" lIns="0" rIns="0" tIns="0" bIns="0">
            <a:noAutofit/>
          </a:bodyPr>
          <a:lstStyle/>
          <a:p>
            <a:pPr algn="l">
              <a:lnSpc>
                <a:spcPct val="125000"/>
              </a:lnSpc>
              <a:spcAft>
                <a:spcPts val="0"/>
              </a:spcAft>
            </a:pPr>
            <a:r>
              <a:rPr sz="1150" b="1" i="0">
                <a:solidFill>
                  <a:srgbClr val="FFD9A2"/>
                </a:solidFill>
                <a:latin typeface="Calibri"/>
              </a:rPr>
              <a:t>Pre-cool within 2 hours  ·  pay in 24  ·  every kilo counts</a:t>
            </a:r>
          </a:p>
          <a:p>
            <a:pPr algn="l">
              <a:lnSpc>
                <a:spcPct val="125000"/>
              </a:lnSpc>
              <a:spcAft>
                <a:spcPts val="0"/>
              </a:spcAft>
            </a:pPr>
            <a:r>
              <a:rPr sz="1000" b="0" i="0">
                <a:solidFill>
                  <a:srgbClr val="EAF4EE"/>
                </a:solidFill>
                <a:latin typeface="Calibri"/>
              </a:rPr>
              <a:t>3 hubs · 120 farmers · 12-month pilot in Benguet</a:t>
            </a:r>
          </a:p>
        </p:txBody>
      </p:sp>
    </p:spTree>
  </p:cSld>
  <p:clrMapOvr>
    <a:masterClrMapping/>
  </p:clrMapOvr>
  <mc:AlternateContent xmlns:mc="http://schemas.openxmlformats.org/markup-compatibility/2006">
    <mc:Choice xmlns:p14="http://schemas.microsoft.com/office/powerpoint/2010/main" Requires="p14">
      <p:transition advTm="13000" p14:dur="1100">
        <p14:cube dir="l"/>
      </p:transition>
    </mc:Choice>
    <mc:Fallback>
      <p:transition spd="slow" advTm="13000">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1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168335" y="-1371600"/>
            <a:ext cx="5120640" cy="51206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828800" y="4114800"/>
            <a:ext cx="4206240" cy="42062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66928" y="384048"/>
            <a:ext cx="676656" cy="676656"/>
          </a:xfrm>
          <a:prstGeom prst="roundRect">
            <a:avLst>
              <a:gd name="adj" fmla="val 22000"/>
            </a:avLst>
          </a:prstGeom>
          <a:solidFill>
            <a:srgbClr val="F2A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04120C"/>
                </a:solidFill>
                <a:latin typeface="Calibri"/>
              </a:rPr>
              <a:t>30"</a:t>
            </a:r>
          </a:p>
        </p:txBody>
      </p:sp>
      <p:sp>
        <p:nvSpPr>
          <p:cNvPr id="6" name="TextBox 5"/>
          <p:cNvSpPr txBox="1"/>
          <p:nvPr/>
        </p:nvSpPr>
        <p:spPr>
          <a:xfrm>
            <a:off x="1481328" y="402336"/>
            <a:ext cx="10143439" cy="201168"/>
          </a:xfrm>
          <a:prstGeom prst="rect">
            <a:avLst/>
          </a:prstGeom>
          <a:noFill/>
        </p:spPr>
        <p:txBody>
          <a:bodyPr wrap="square" anchor="t" lIns="0" rIns="0" tIns="0" bIns="0">
            <a:noAutofit/>
          </a:bodyPr>
          <a:lstStyle/>
          <a:p>
            <a:pPr algn="l">
              <a:lnSpc>
                <a:spcPct val="100000"/>
              </a:lnSpc>
              <a:spcAft>
                <a:spcPts val="0"/>
              </a:spcAft>
            </a:pPr>
            <a:r>
              <a:rPr sz="900" b="1" i="0">
                <a:solidFill>
                  <a:srgbClr val="F2A33C"/>
                </a:solidFill>
                <a:latin typeface="Calibri"/>
              </a:rPr>
              <a:t>THE 30-SECOND VERSION</a:t>
            </a:r>
          </a:p>
        </p:txBody>
      </p:sp>
      <p:sp>
        <p:nvSpPr>
          <p:cNvPr id="7" name="TextBox 6"/>
          <p:cNvSpPr txBox="1"/>
          <p:nvPr/>
        </p:nvSpPr>
        <p:spPr>
          <a:xfrm>
            <a:off x="1481328" y="621792"/>
            <a:ext cx="10143439" cy="457200"/>
          </a:xfrm>
          <a:prstGeom prst="rect">
            <a:avLst/>
          </a:prstGeom>
          <a:noFill/>
        </p:spPr>
        <p:txBody>
          <a:bodyPr wrap="square" anchor="t" lIns="0" rIns="0" tIns="0" bIns="0">
            <a:noAutofit/>
          </a:bodyPr>
          <a:lstStyle/>
          <a:p>
            <a:pPr algn="l">
              <a:lnSpc>
                <a:spcPct val="98000"/>
              </a:lnSpc>
              <a:spcAft>
                <a:spcPts val="0"/>
              </a:spcAft>
            </a:pPr>
            <a:r>
              <a:rPr sz="2400" b="1" i="0">
                <a:solidFill>
                  <a:srgbClr val="FFFFFF"/>
                </a:solidFill>
                <a:latin typeface="Calibri"/>
              </a:rPr>
              <a:t>If the judges only remember four numbers</a:t>
            </a:r>
          </a:p>
        </p:txBody>
      </p:sp>
      <p:sp>
        <p:nvSpPr>
          <p:cNvPr id="8" name="Rounded Rectangle 7"/>
          <p:cNvSpPr/>
          <p:nvPr/>
        </p:nvSpPr>
        <p:spPr>
          <a:xfrm>
            <a:off x="566928" y="1170432"/>
            <a:ext cx="2613583" cy="178308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700" b="1" i="0">
                <a:solidFill>
                  <a:srgbClr val="F2A33C"/>
                </a:solidFill>
                <a:latin typeface="Calibri"/>
              </a:rPr>
              <a:t>35%</a:t>
            </a:r>
          </a:p>
          <a:p>
            <a:pPr>
              <a:lnSpc>
                <a:spcPct val="100000"/>
              </a:lnSpc>
              <a:spcAft>
                <a:spcPts val="300"/>
              </a:spcAft>
            </a:pPr>
            <a:r>
              <a:rPr sz="800" b="1" i="0">
                <a:solidFill>
                  <a:srgbClr val="9FBBAE"/>
                </a:solidFill>
                <a:latin typeface="Calibri"/>
              </a:rPr>
              <a:t>PROBLEM</a:t>
            </a:r>
          </a:p>
          <a:p>
            <a:pPr>
              <a:lnSpc>
                <a:spcPct val="100000"/>
              </a:lnSpc>
              <a:spcAft>
                <a:spcPts val="300"/>
              </a:spcAft>
            </a:pPr>
            <a:r>
              <a:rPr sz="780" b="0" i="0">
                <a:solidFill>
                  <a:srgbClr val="7E9D8F"/>
                </a:solidFill>
                <a:latin typeface="Calibri"/>
              </a:rPr>
              <a:t>of highland vegetables spoil between farm and market — no cooling, no market data.</a:t>
            </a:r>
          </a:p>
        </p:txBody>
      </p:sp>
      <p:sp>
        <p:nvSpPr>
          <p:cNvPr id="9" name="Rounded Rectangle 8"/>
          <p:cNvSpPr/>
          <p:nvPr/>
        </p:nvSpPr>
        <p:spPr>
          <a:xfrm>
            <a:off x="3381679" y="1170432"/>
            <a:ext cx="2613583" cy="178308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700" b="1" i="0">
                <a:solidFill>
                  <a:srgbClr val="7FD1AE"/>
                </a:solidFill>
                <a:latin typeface="Calibri"/>
              </a:rPr>
              <a:t>₱0</a:t>
            </a:r>
          </a:p>
          <a:p>
            <a:pPr>
              <a:lnSpc>
                <a:spcPct val="100000"/>
              </a:lnSpc>
              <a:spcAft>
                <a:spcPts val="300"/>
              </a:spcAft>
            </a:pPr>
            <a:r>
              <a:rPr sz="800" b="1" i="0">
                <a:solidFill>
                  <a:srgbClr val="9FBBAE"/>
                </a:solidFill>
                <a:latin typeface="Calibri"/>
              </a:rPr>
              <a:t>SOLUTION</a:t>
            </a:r>
          </a:p>
          <a:p>
            <a:pPr>
              <a:lnSpc>
                <a:spcPct val="100000"/>
              </a:lnSpc>
              <a:spcAft>
                <a:spcPts val="300"/>
              </a:spcAft>
            </a:pPr>
            <a:r>
              <a:rPr sz="780" b="0" i="0">
                <a:solidFill>
                  <a:srgbClr val="7E9D8F"/>
                </a:solidFill>
                <a:latin typeface="Calibri"/>
              </a:rPr>
              <a:t>upfront for farmers: a shared 2-tonne solar cold room + freshness AI + guaranteed offtake.</a:t>
            </a:r>
          </a:p>
        </p:txBody>
      </p:sp>
      <p:sp>
        <p:nvSpPr>
          <p:cNvPr id="10" name="Rounded Rectangle 9"/>
          <p:cNvSpPr/>
          <p:nvPr/>
        </p:nvSpPr>
        <p:spPr>
          <a:xfrm>
            <a:off x="6196431" y="1170432"/>
            <a:ext cx="2613583" cy="178308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700" b="1" i="0">
                <a:solidFill>
                  <a:srgbClr val="7FD1AE"/>
                </a:solidFill>
                <a:latin typeface="Calibri"/>
              </a:rPr>
              <a:t>₱1.20</a:t>
            </a:r>
          </a:p>
          <a:p>
            <a:pPr>
              <a:lnSpc>
                <a:spcPct val="100000"/>
              </a:lnSpc>
              <a:spcAft>
                <a:spcPts val="300"/>
              </a:spcAft>
            </a:pPr>
            <a:r>
              <a:rPr sz="800" b="1" i="0">
                <a:solidFill>
                  <a:srgbClr val="9FBBAE"/>
                </a:solidFill>
                <a:latin typeface="Calibri"/>
              </a:rPr>
              <a:t>BUSINESS MODEL</a:t>
            </a:r>
          </a:p>
          <a:p>
            <a:pPr>
              <a:lnSpc>
                <a:spcPct val="100000"/>
              </a:lnSpc>
              <a:spcAft>
                <a:spcPts val="300"/>
              </a:spcAft>
            </a:pPr>
            <a:r>
              <a:rPr sz="780" b="0" i="0">
                <a:solidFill>
                  <a:srgbClr val="7E9D8F"/>
                </a:solidFill>
                <a:latin typeface="Calibri"/>
              </a:rPr>
              <a:t>per kilo per day, plus a 6% offtake commission. Payback: 14.5 months per hub.</a:t>
            </a:r>
          </a:p>
        </p:txBody>
      </p:sp>
      <p:sp>
        <p:nvSpPr>
          <p:cNvPr id="11" name="Rounded Rectangle 10"/>
          <p:cNvSpPr/>
          <p:nvPr/>
        </p:nvSpPr>
        <p:spPr>
          <a:xfrm>
            <a:off x="9011183" y="1170432"/>
            <a:ext cx="2613583" cy="178308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700" b="1" i="0">
                <a:solidFill>
                  <a:srgbClr val="F2A33C"/>
                </a:solidFill>
                <a:latin typeface="Calibri"/>
              </a:rPr>
              <a:t>₱2.4M</a:t>
            </a:r>
          </a:p>
          <a:p>
            <a:pPr>
              <a:lnSpc>
                <a:spcPct val="100000"/>
              </a:lnSpc>
              <a:spcAft>
                <a:spcPts val="300"/>
              </a:spcAft>
            </a:pPr>
            <a:r>
              <a:rPr sz="800" b="1" i="0">
                <a:solidFill>
                  <a:srgbClr val="9FBBAE"/>
                </a:solidFill>
                <a:latin typeface="Calibri"/>
              </a:rPr>
              <a:t>THE ASK</a:t>
            </a:r>
          </a:p>
          <a:p>
            <a:pPr>
              <a:lnSpc>
                <a:spcPct val="100000"/>
              </a:lnSpc>
              <a:spcAft>
                <a:spcPts val="300"/>
              </a:spcAft>
            </a:pPr>
            <a:r>
              <a:rPr sz="780" b="0" i="0">
                <a:solidFill>
                  <a:srgbClr val="7E9D8F"/>
                </a:solidFill>
                <a:latin typeface="Calibri"/>
              </a:rPr>
              <a:t>seed for 3 pilot hubs, the app/IoT stack, and a 12-month proof of impact.</a:t>
            </a:r>
          </a:p>
        </p:txBody>
      </p:sp>
      <p:sp>
        <p:nvSpPr>
          <p:cNvPr id="12" name="Rounded Rectangle 11"/>
          <p:cNvSpPr/>
          <p:nvPr/>
        </p:nvSpPr>
        <p:spPr>
          <a:xfrm>
            <a:off x="566928" y="3182112"/>
            <a:ext cx="11057839" cy="1143000"/>
          </a:xfrm>
          <a:prstGeom prst="roundRect">
            <a:avLst>
              <a:gd name="adj" fmla="val 6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68096" y="3383280"/>
            <a:ext cx="45720" cy="731520"/>
          </a:xfrm>
          <a:prstGeom prst="rect">
            <a:avLst/>
          </a:prstGeom>
          <a:solidFill>
            <a:srgbClr val="F2A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05840" y="3401568"/>
            <a:ext cx="10143439" cy="822960"/>
          </a:xfrm>
          <a:prstGeom prst="rect">
            <a:avLst/>
          </a:prstGeom>
          <a:noFill/>
        </p:spPr>
        <p:txBody>
          <a:bodyPr wrap="square" anchor="t" lIns="0" rIns="0" tIns="0" bIns="0">
            <a:noAutofit/>
          </a:bodyPr>
          <a:lstStyle/>
          <a:p>
            <a:pPr algn="l">
              <a:lnSpc>
                <a:spcPct val="115000"/>
              </a:lnSpc>
              <a:spcAft>
                <a:spcPts val="0"/>
              </a:spcAft>
            </a:pPr>
            <a:r>
              <a:rPr sz="1300" b="0" i="0">
                <a:solidFill>
                  <a:srgbClr val="EAF4EE"/>
                </a:solidFill>
                <a:latin typeface="Calibri"/>
              </a:rPr>
              <a:t>Fresko is not a cold-storage company. </a:t>
            </a:r>
            <a:r>
              <a:rPr sz="1300" b="1" i="0">
                <a:solidFill>
                  <a:srgbClr val="FFD9A2"/>
                </a:solidFill>
                <a:latin typeface="Calibri"/>
              </a:rPr>
              <a:t>We sell 20% more sellable kilos and 24-hour payment</a:t>
            </a:r>
            <a:r>
              <a:rPr sz="1300" b="0" i="0">
                <a:solidFill>
                  <a:srgbClr val="EAF4EE"/>
                </a:solidFill>
                <a:latin typeface="Calibri"/>
              </a:rPr>
              <a:t> to farmers who today watch their harvest rot on the roadside.</a:t>
            </a:r>
          </a:p>
        </p:txBody>
      </p:sp>
      <p:sp>
        <p:nvSpPr>
          <p:cNvPr id="15" name="Rounded Rectangle 14"/>
          <p:cNvSpPr/>
          <p:nvPr/>
        </p:nvSpPr>
        <p:spPr>
          <a:xfrm>
            <a:off x="566928" y="4480560"/>
            <a:ext cx="3851087" cy="310896"/>
          </a:xfrm>
          <a:prstGeom prst="roundRect">
            <a:avLst>
              <a:gd name="adj" fmla="val 50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7FD1AE"/>
                </a:solidFill>
                <a:latin typeface="Calibri"/>
              </a:rPr>
              <a:t>Why now: 540,000 pallet-position cold-chain gap</a:t>
            </a:r>
          </a:p>
        </p:txBody>
      </p:sp>
      <p:sp>
        <p:nvSpPr>
          <p:cNvPr id="16" name="Rounded Rectangle 15"/>
          <p:cNvSpPr/>
          <p:nvPr/>
        </p:nvSpPr>
        <p:spPr>
          <a:xfrm>
            <a:off x="4509455" y="4480560"/>
            <a:ext cx="2033991" cy="310896"/>
          </a:xfrm>
          <a:prstGeom prst="roundRect">
            <a:avLst>
              <a:gd name="adj" fmla="val 50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2A33C"/>
                </a:solidFill>
                <a:latin typeface="Calibri"/>
              </a:rPr>
              <a:t>SDG 2 · 8 · 9 · 12 · 13</a:t>
            </a:r>
          </a:p>
        </p:txBody>
      </p:sp>
      <p:sp>
        <p:nvSpPr>
          <p:cNvPr id="17" name="Rounded Rectangle 16"/>
          <p:cNvSpPr/>
          <p:nvPr/>
        </p:nvSpPr>
        <p:spPr>
          <a:xfrm>
            <a:off x="6634886" y="4480560"/>
            <a:ext cx="2033991" cy="310896"/>
          </a:xfrm>
          <a:prstGeom prst="roundRect">
            <a:avLst>
              <a:gd name="adj" fmla="val 50000"/>
            </a:avLst>
          </a:prstGeom>
          <a:solidFill>
            <a:srgbClr val="0C2E22"/>
          </a:solidFill>
          <a:ln w="11430">
            <a:solidFill>
              <a:srgbClr val="8FD4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8FD4E8"/>
                </a:solidFill>
                <a:latin typeface="Calibri"/>
              </a:rPr>
              <a:t>Software + IoT solution</a:t>
            </a:r>
          </a:p>
        </p:txBody>
      </p:sp>
      <p:sp>
        <p:nvSpPr>
          <p:cNvPr id="18" name="TextBox 17"/>
          <p:cNvSpPr txBox="1"/>
          <p:nvPr/>
        </p:nvSpPr>
        <p:spPr>
          <a:xfrm>
            <a:off x="566928" y="6382512"/>
            <a:ext cx="11057839" cy="274320"/>
          </a:xfrm>
          <a:prstGeom prst="rect">
            <a:avLst/>
          </a:prstGeom>
          <a:noFill/>
        </p:spPr>
        <p:txBody>
          <a:bodyPr wrap="square" anchor="t" lIns="0" rIns="0" tIns="0" bIns="0">
            <a:noAutofit/>
          </a:bodyPr>
          <a:lstStyle/>
          <a:p>
            <a:pPr algn="l">
              <a:lnSpc>
                <a:spcPct val="105000"/>
              </a:lnSpc>
              <a:spcAft>
                <a:spcPts val="0"/>
              </a:spcAft>
            </a:pPr>
            <a:r>
              <a:rPr sz="720" b="0" i="0">
                <a:solidFill>
                  <a:srgbClr val="7E9D8F"/>
                </a:solidFill>
                <a:latin typeface="Calibri"/>
              </a:rPr>
              <a:t>Sources: PSA RSSO-CAR 2024 · UN-CSAM/Mopera · PCAARRD 2025 · SEARCA/ADB 2022. All financials are concept-level projections.</a:t>
            </a:r>
          </a:p>
        </p:txBody>
      </p:sp>
    </p:spTree>
  </p:cSld>
  <p:clrMapOvr>
    <a:masterClrMapping/>
  </p:clrMapOvr>
  <mc:AlternateContent xmlns:mc="http://schemas.openxmlformats.org/markup-compatibility/2006">
    <mc:Choice xmlns:p14="http://schemas.microsoft.com/office/powerpoint/2010/main" Requires="p14">
      <p:transition advTm="14000" p14:dur="1100">
        <p14:cube dir="l"/>
      </p:transition>
    </mc:Choice>
    <mc:Fallback>
      <p:transition spd="slow" advTm="14000">
        <p:push dir="l"/>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1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168335" y="-1371600"/>
            <a:ext cx="5120640" cy="51206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828800" y="4114800"/>
            <a:ext cx="4206240" cy="42062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66928" y="384048"/>
            <a:ext cx="676656" cy="676656"/>
          </a:xfrm>
          <a:prstGeom prst="roundRect">
            <a:avLst>
              <a:gd name="adj" fmla="val 22000"/>
            </a:avLst>
          </a:prstGeom>
          <a:solidFill>
            <a:srgbClr val="7FD1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04120C"/>
                </a:solidFill>
                <a:latin typeface="Calibri"/>
              </a:rPr>
              <a:t>I</a:t>
            </a:r>
          </a:p>
        </p:txBody>
      </p:sp>
      <p:sp>
        <p:nvSpPr>
          <p:cNvPr id="6" name="TextBox 5"/>
          <p:cNvSpPr txBox="1"/>
          <p:nvPr/>
        </p:nvSpPr>
        <p:spPr>
          <a:xfrm>
            <a:off x="1481328" y="402336"/>
            <a:ext cx="10143439" cy="201168"/>
          </a:xfrm>
          <a:prstGeom prst="rect">
            <a:avLst/>
          </a:prstGeom>
          <a:noFill/>
        </p:spPr>
        <p:txBody>
          <a:bodyPr wrap="square" anchor="t" lIns="0" rIns="0" tIns="0" bIns="0">
            <a:noAutofit/>
          </a:bodyPr>
          <a:lstStyle/>
          <a:p>
            <a:pPr algn="l">
              <a:lnSpc>
                <a:spcPct val="100000"/>
              </a:lnSpc>
              <a:spcAft>
                <a:spcPts val="0"/>
              </a:spcAft>
            </a:pPr>
            <a:r>
              <a:rPr sz="900" b="1" i="0">
                <a:solidFill>
                  <a:srgbClr val="7FD1AE"/>
                </a:solidFill>
                <a:latin typeface="Calibri"/>
              </a:rPr>
              <a:t>SUMMARY</a:t>
            </a:r>
          </a:p>
        </p:txBody>
      </p:sp>
      <p:sp>
        <p:nvSpPr>
          <p:cNvPr id="7" name="TextBox 6"/>
          <p:cNvSpPr txBox="1"/>
          <p:nvPr/>
        </p:nvSpPr>
        <p:spPr>
          <a:xfrm>
            <a:off x="1481328" y="621792"/>
            <a:ext cx="10143439" cy="457200"/>
          </a:xfrm>
          <a:prstGeom prst="rect">
            <a:avLst/>
          </a:prstGeom>
          <a:noFill/>
        </p:spPr>
        <p:txBody>
          <a:bodyPr wrap="square" anchor="t" lIns="0" rIns="0" tIns="0" bIns="0">
            <a:noAutofit/>
          </a:bodyPr>
          <a:lstStyle/>
          <a:p>
            <a:pPr algn="l">
              <a:lnSpc>
                <a:spcPct val="98000"/>
              </a:lnSpc>
              <a:spcAft>
                <a:spcPts val="0"/>
              </a:spcAft>
            </a:pPr>
            <a:r>
              <a:rPr sz="2400" b="1" i="0">
                <a:solidFill>
                  <a:srgbClr val="FFFFFF"/>
                </a:solidFill>
                <a:latin typeface="Calibri"/>
              </a:rPr>
              <a:t>A brief overview of the Fresko idea</a:t>
            </a:r>
          </a:p>
        </p:txBody>
      </p:sp>
      <p:sp>
        <p:nvSpPr>
          <p:cNvPr id="8" name="TextBox 7"/>
          <p:cNvSpPr txBox="1"/>
          <p:nvPr/>
        </p:nvSpPr>
        <p:spPr>
          <a:xfrm>
            <a:off x="1481328" y="1097280"/>
            <a:ext cx="10143439" cy="274320"/>
          </a:xfrm>
          <a:prstGeom prst="rect">
            <a:avLst/>
          </a:prstGeom>
          <a:noFill/>
        </p:spPr>
        <p:txBody>
          <a:bodyPr wrap="square" anchor="t" lIns="0" rIns="0" tIns="0" bIns="0">
            <a:noAutofit/>
          </a:bodyPr>
          <a:lstStyle/>
          <a:p>
            <a:pPr algn="l">
              <a:lnSpc>
                <a:spcPct val="105000"/>
              </a:lnSpc>
              <a:spcAft>
                <a:spcPts val="0"/>
              </a:spcAft>
            </a:pPr>
            <a:r>
              <a:rPr sz="1000" b="0" i="0">
                <a:solidFill>
                  <a:srgbClr val="9FBBAE"/>
                </a:solidFill>
                <a:latin typeface="Calibri"/>
              </a:rPr>
              <a:t>One shared cold room per 40 farms, one app, one promise — no farmer pays to start.</a:t>
            </a:r>
          </a:p>
        </p:txBody>
      </p:sp>
      <p:sp>
        <p:nvSpPr>
          <p:cNvPr id="9" name="Rounded Rectangle 8"/>
          <p:cNvSpPr/>
          <p:nvPr/>
        </p:nvSpPr>
        <p:spPr>
          <a:xfrm>
            <a:off x="566928" y="1481328"/>
            <a:ext cx="3551834" cy="2148840"/>
          </a:xfrm>
          <a:prstGeom prst="roundRect">
            <a:avLst>
              <a:gd name="adj" fmla="val 6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F2A33C"/>
                </a:solidFill>
                <a:latin typeface="Calibri"/>
              </a:rPr>
              <a:t>1  </a:t>
            </a:r>
            <a:r>
              <a:rPr sz="1150" b="1" i="0">
                <a:solidFill>
                  <a:srgbClr val="FFFFFF"/>
                </a:solidFill>
                <a:latin typeface="Calibri"/>
              </a:rPr>
              <a:t>The problem</a:t>
            </a:r>
          </a:p>
          <a:p>
            <a:pPr>
              <a:lnSpc>
                <a:spcPct val="100000"/>
              </a:lnSpc>
              <a:spcAft>
                <a:spcPts val="300"/>
              </a:spcAft>
            </a:pPr>
            <a:r>
              <a:rPr sz="930" b="1">
                <a:solidFill>
                  <a:srgbClr val="F2A33C"/>
                </a:solidFill>
                <a:latin typeface="Calibri"/>
              </a:rPr>
              <a:t>▪  </a:t>
            </a:r>
            <a:r>
              <a:rPr sz="930" b="0" i="0">
                <a:solidFill>
                  <a:srgbClr val="CBE2D7"/>
                </a:solidFill>
                <a:latin typeface="Calibri"/>
              </a:rPr>
              <a:t>Vegetables travel 6–8 hours unrefrigerated from Benguet to Manila.</a:t>
            </a:r>
          </a:p>
          <a:p>
            <a:pPr>
              <a:lnSpc>
                <a:spcPct val="100000"/>
              </a:lnSpc>
              <a:spcAft>
                <a:spcPts val="300"/>
              </a:spcAft>
            </a:pPr>
            <a:r>
              <a:rPr sz="930" b="1">
                <a:solidFill>
                  <a:srgbClr val="F2A33C"/>
                </a:solidFill>
                <a:latin typeface="Calibri"/>
              </a:rPr>
              <a:t>▪  </a:t>
            </a:r>
            <a:r>
              <a:rPr sz="930" b="0" i="0">
                <a:solidFill>
                  <a:srgbClr val="CBE2D7"/>
                </a:solidFill>
                <a:latin typeface="Calibri"/>
              </a:rPr>
              <a:t>27–42% of fruits and vegetables are lost post-harvest, peaking at the trading post.</a:t>
            </a:r>
          </a:p>
          <a:p>
            <a:pPr>
              <a:lnSpc>
                <a:spcPct val="100000"/>
              </a:lnSpc>
              <a:spcAft>
                <a:spcPts val="300"/>
              </a:spcAft>
            </a:pPr>
            <a:r>
              <a:rPr sz="930" b="1">
                <a:solidFill>
                  <a:srgbClr val="F2A33C"/>
                </a:solidFill>
                <a:latin typeface="Calibri"/>
              </a:rPr>
              <a:t>▪  </a:t>
            </a:r>
            <a:r>
              <a:rPr sz="930" b="0" i="0">
                <a:solidFill>
                  <a:srgbClr val="CBE2D7"/>
                </a:solidFill>
                <a:latin typeface="Calibri"/>
              </a:rPr>
              <a:t>Farmers sell at ₱4–6/kg while city retail reaches ₱60/kg.</a:t>
            </a:r>
          </a:p>
        </p:txBody>
      </p:sp>
      <p:sp>
        <p:nvSpPr>
          <p:cNvPr id="10" name="Rounded Rectangle 9"/>
          <p:cNvSpPr/>
          <p:nvPr/>
        </p:nvSpPr>
        <p:spPr>
          <a:xfrm>
            <a:off x="4319930" y="1481328"/>
            <a:ext cx="3551834" cy="2148840"/>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2  </a:t>
            </a:r>
            <a:r>
              <a:rPr sz="1150" b="1" i="0">
                <a:solidFill>
                  <a:srgbClr val="FFFFFF"/>
                </a:solidFill>
                <a:latin typeface="Calibri"/>
              </a:rPr>
              <a:t>The solution</a:t>
            </a:r>
          </a:p>
          <a:p>
            <a:pPr>
              <a:lnSpc>
                <a:spcPct val="100000"/>
              </a:lnSpc>
              <a:spcAft>
                <a:spcPts val="300"/>
              </a:spcAft>
            </a:pPr>
            <a:r>
              <a:rPr sz="930" b="1">
                <a:solidFill>
                  <a:srgbClr val="7FD1AE"/>
                </a:solidFill>
                <a:latin typeface="Calibri"/>
              </a:rPr>
              <a:t>▪  </a:t>
            </a:r>
            <a:r>
              <a:rPr sz="930" b="0" i="0">
                <a:solidFill>
                  <a:srgbClr val="CBE2D7"/>
                </a:solidFill>
                <a:latin typeface="Calibri"/>
              </a:rPr>
              <a:t>Fresko Hub — modular 2-tonne solar cold room at the barangay or cooperative.</a:t>
            </a:r>
          </a:p>
          <a:p>
            <a:pPr>
              <a:lnSpc>
                <a:spcPct val="100000"/>
              </a:lnSpc>
              <a:spcAft>
                <a:spcPts val="300"/>
              </a:spcAft>
            </a:pPr>
            <a:r>
              <a:rPr sz="930" b="1">
                <a:solidFill>
                  <a:srgbClr val="7FD1AE"/>
                </a:solidFill>
                <a:latin typeface="Calibri"/>
              </a:rPr>
              <a:t>▪  </a:t>
            </a:r>
            <a:r>
              <a:rPr sz="930" b="0" i="0">
                <a:solidFill>
                  <a:srgbClr val="CBE2D7"/>
                </a:solidFill>
                <a:latin typeface="Calibri"/>
              </a:rPr>
              <a:t>Fresko App — books shared cooling slots, predicts shelf life, matches buyers.</a:t>
            </a:r>
          </a:p>
          <a:p>
            <a:pPr>
              <a:lnSpc>
                <a:spcPct val="100000"/>
              </a:lnSpc>
              <a:spcAft>
                <a:spcPts val="300"/>
              </a:spcAft>
            </a:pPr>
            <a:r>
              <a:rPr sz="930" b="1">
                <a:solidFill>
                  <a:srgbClr val="7FD1AE"/>
                </a:solidFill>
                <a:latin typeface="Calibri"/>
              </a:rPr>
              <a:t>▪  </a:t>
            </a:r>
            <a:r>
              <a:rPr sz="930" b="0" i="0">
                <a:solidFill>
                  <a:srgbClr val="CBE2D7"/>
                </a:solidFill>
                <a:latin typeface="Calibri"/>
              </a:rPr>
              <a:t>Fresko Route — consolidated refrigerated dispatch and 24-hour digital payout.</a:t>
            </a:r>
          </a:p>
        </p:txBody>
      </p:sp>
      <p:sp>
        <p:nvSpPr>
          <p:cNvPr id="11" name="Rounded Rectangle 10"/>
          <p:cNvSpPr/>
          <p:nvPr/>
        </p:nvSpPr>
        <p:spPr>
          <a:xfrm>
            <a:off x="8072932" y="1481328"/>
            <a:ext cx="3551834" cy="2148840"/>
          </a:xfrm>
          <a:prstGeom prst="roundRect">
            <a:avLst>
              <a:gd name="adj" fmla="val 6000"/>
            </a:avLst>
          </a:prstGeom>
          <a:solidFill>
            <a:srgbClr val="0C2E22"/>
          </a:solidFill>
          <a:ln w="11430">
            <a:solidFill>
              <a:srgbClr val="8FD4E8"/>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8FD4E8"/>
                </a:solidFill>
                <a:latin typeface="Calibri"/>
              </a:rPr>
              <a:t>3  </a:t>
            </a:r>
            <a:r>
              <a:rPr sz="1150" b="1" i="0">
                <a:solidFill>
                  <a:srgbClr val="FFFFFF"/>
                </a:solidFill>
                <a:latin typeface="Calibri"/>
              </a:rPr>
              <a:t>The value proposition</a:t>
            </a:r>
          </a:p>
          <a:p>
            <a:pPr>
              <a:lnSpc>
                <a:spcPct val="100000"/>
              </a:lnSpc>
              <a:spcAft>
                <a:spcPts val="300"/>
              </a:spcAft>
            </a:pPr>
            <a:r>
              <a:rPr sz="930" b="1">
                <a:solidFill>
                  <a:srgbClr val="8FD4E8"/>
                </a:solidFill>
                <a:latin typeface="Calibri"/>
              </a:rPr>
              <a:t>▪  </a:t>
            </a:r>
            <a:r>
              <a:rPr sz="930" b="0" i="0">
                <a:solidFill>
                  <a:srgbClr val="CBE2D7"/>
                </a:solidFill>
                <a:latin typeface="Calibri"/>
              </a:rPr>
              <a:t>Same harvest, ~20% more sellable kilos.</a:t>
            </a:r>
          </a:p>
          <a:p>
            <a:pPr>
              <a:lnSpc>
                <a:spcPct val="100000"/>
              </a:lnSpc>
              <a:spcAft>
                <a:spcPts val="300"/>
              </a:spcAft>
            </a:pPr>
            <a:r>
              <a:rPr sz="930" b="1">
                <a:solidFill>
                  <a:srgbClr val="8FD4E8"/>
                </a:solidFill>
                <a:latin typeface="Calibri"/>
              </a:rPr>
              <a:t>▪  </a:t>
            </a:r>
            <a:r>
              <a:rPr sz="930" b="0" i="0">
                <a:solidFill>
                  <a:srgbClr val="CBE2D7"/>
                </a:solidFill>
                <a:latin typeface="Calibri"/>
              </a:rPr>
              <a:t>Payment in 24 hours instead of 7–30 days.</a:t>
            </a:r>
          </a:p>
          <a:p>
            <a:pPr>
              <a:lnSpc>
                <a:spcPct val="100000"/>
              </a:lnSpc>
              <a:spcAft>
                <a:spcPts val="300"/>
              </a:spcAft>
            </a:pPr>
            <a:r>
              <a:rPr sz="930" b="1">
                <a:solidFill>
                  <a:srgbClr val="8FD4E8"/>
                </a:solidFill>
                <a:latin typeface="Calibri"/>
              </a:rPr>
              <a:t>▪  </a:t>
            </a:r>
            <a:r>
              <a:rPr sz="930" b="0" i="0">
                <a:solidFill>
                  <a:srgbClr val="CBE2D7"/>
                </a:solidFill>
                <a:latin typeface="Calibri"/>
              </a:rPr>
              <a:t>Zero capex for farmers — pay-as-you-store, settled from the sale.</a:t>
            </a:r>
          </a:p>
        </p:txBody>
      </p:sp>
      <p:sp>
        <p:nvSpPr>
          <p:cNvPr id="12" name="Rounded Rectangle 11"/>
          <p:cNvSpPr/>
          <p:nvPr/>
        </p:nvSpPr>
        <p:spPr>
          <a:xfrm>
            <a:off x="566928" y="3858768"/>
            <a:ext cx="2613583" cy="123444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200" b="1" i="0">
                <a:solidFill>
                  <a:srgbClr val="7FD1AE"/>
                </a:solidFill>
                <a:latin typeface="Calibri"/>
              </a:rPr>
              <a:t>2 tonnes</a:t>
            </a:r>
          </a:p>
          <a:p>
            <a:pPr>
              <a:lnSpc>
                <a:spcPct val="100000"/>
              </a:lnSpc>
              <a:spcAft>
                <a:spcPts val="300"/>
              </a:spcAft>
            </a:pPr>
            <a:r>
              <a:rPr sz="800" b="1" i="0">
                <a:solidFill>
                  <a:srgbClr val="9FBBAE"/>
                </a:solidFill>
                <a:latin typeface="Calibri"/>
              </a:rPr>
              <a:t>PER HUB CAPACITY</a:t>
            </a:r>
          </a:p>
        </p:txBody>
      </p:sp>
      <p:sp>
        <p:nvSpPr>
          <p:cNvPr id="13" name="Rounded Rectangle 12"/>
          <p:cNvSpPr/>
          <p:nvPr/>
        </p:nvSpPr>
        <p:spPr>
          <a:xfrm>
            <a:off x="3381679" y="3858768"/>
            <a:ext cx="2613583" cy="123444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200" b="1" i="0">
                <a:solidFill>
                  <a:srgbClr val="7FD1AE"/>
                </a:solidFill>
                <a:latin typeface="Calibri"/>
              </a:rPr>
              <a:t>40 farms</a:t>
            </a:r>
          </a:p>
          <a:p>
            <a:pPr>
              <a:lnSpc>
                <a:spcPct val="100000"/>
              </a:lnSpc>
              <a:spcAft>
                <a:spcPts val="300"/>
              </a:spcAft>
            </a:pPr>
            <a:r>
              <a:rPr sz="800" b="1" i="0">
                <a:solidFill>
                  <a:srgbClr val="9FBBAE"/>
                </a:solidFill>
                <a:latin typeface="Calibri"/>
              </a:rPr>
              <a:t>SHARED PER HUB</a:t>
            </a:r>
          </a:p>
        </p:txBody>
      </p:sp>
      <p:sp>
        <p:nvSpPr>
          <p:cNvPr id="14" name="Rounded Rectangle 13"/>
          <p:cNvSpPr/>
          <p:nvPr/>
        </p:nvSpPr>
        <p:spPr>
          <a:xfrm>
            <a:off x="6196431" y="3858768"/>
            <a:ext cx="2613583" cy="123444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200" b="1" i="0">
                <a:solidFill>
                  <a:srgbClr val="F2A33C"/>
                </a:solidFill>
                <a:latin typeface="Calibri"/>
              </a:rPr>
              <a:t>35% → 15%</a:t>
            </a:r>
          </a:p>
          <a:p>
            <a:pPr>
              <a:lnSpc>
                <a:spcPct val="100000"/>
              </a:lnSpc>
              <a:spcAft>
                <a:spcPts val="300"/>
              </a:spcAft>
            </a:pPr>
            <a:r>
              <a:rPr sz="800" b="1" i="0">
                <a:solidFill>
                  <a:srgbClr val="9FBBAE"/>
                </a:solidFill>
                <a:latin typeface="Calibri"/>
              </a:rPr>
              <a:t>TARGET LOSS RATE</a:t>
            </a:r>
          </a:p>
        </p:txBody>
      </p:sp>
      <p:sp>
        <p:nvSpPr>
          <p:cNvPr id="15" name="Rounded Rectangle 14"/>
          <p:cNvSpPr/>
          <p:nvPr/>
        </p:nvSpPr>
        <p:spPr>
          <a:xfrm>
            <a:off x="9011183" y="3858768"/>
            <a:ext cx="2613583" cy="123444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200" b="1" i="0">
                <a:solidFill>
                  <a:srgbClr val="F2A33C"/>
                </a:solidFill>
                <a:latin typeface="Calibri"/>
              </a:rPr>
              <a:t>₱0</a:t>
            </a:r>
          </a:p>
          <a:p>
            <a:pPr>
              <a:lnSpc>
                <a:spcPct val="100000"/>
              </a:lnSpc>
              <a:spcAft>
                <a:spcPts val="300"/>
              </a:spcAft>
            </a:pPr>
            <a:r>
              <a:rPr sz="800" b="1" i="0">
                <a:solidFill>
                  <a:srgbClr val="9FBBAE"/>
                </a:solidFill>
                <a:latin typeface="Calibri"/>
              </a:rPr>
              <a:t>FARMER UPFRONT COST</a:t>
            </a:r>
          </a:p>
        </p:txBody>
      </p:sp>
      <p:sp>
        <p:nvSpPr>
          <p:cNvPr id="16" name="TextBox 15"/>
          <p:cNvSpPr txBox="1"/>
          <p:nvPr/>
        </p:nvSpPr>
        <p:spPr>
          <a:xfrm>
            <a:off x="566928" y="6382512"/>
            <a:ext cx="11057839" cy="274320"/>
          </a:xfrm>
          <a:prstGeom prst="rect">
            <a:avLst/>
          </a:prstGeom>
          <a:noFill/>
        </p:spPr>
        <p:txBody>
          <a:bodyPr wrap="square" anchor="t" lIns="0" rIns="0" tIns="0" bIns="0">
            <a:noAutofit/>
          </a:bodyPr>
          <a:lstStyle/>
          <a:p>
            <a:pPr algn="l">
              <a:lnSpc>
                <a:spcPct val="105000"/>
              </a:lnSpc>
              <a:spcAft>
                <a:spcPts val="0"/>
              </a:spcAft>
            </a:pPr>
            <a:r>
              <a:rPr sz="720" b="0" i="0">
                <a:solidFill>
                  <a:srgbClr val="7E9D8F"/>
                </a:solidFill>
                <a:latin typeface="Calibri"/>
              </a:rPr>
              <a:t>Sources: Mopera (2016) in UN-CSAM Post-harvest Technology in the Philippines (42% vegetables / 28% fruits) · PSA RSSO-CAR (2024) · PCAARRD (2025).</a:t>
            </a:r>
          </a:p>
        </p:txBody>
      </p:sp>
    </p:spTree>
  </p:cSld>
  <p:clrMapOvr>
    <a:masterClrMapping/>
  </p:clrMapOvr>
  <mc:AlternateContent xmlns:mc="http://schemas.openxmlformats.org/markup-compatibility/2006">
    <mc:Choice xmlns:p14="http://schemas.microsoft.com/office/powerpoint/2010/main" Requires="p14">
      <p:transition advTm="15000" p14:dur="1100">
        <p14:cube dir="l"/>
      </p:transition>
    </mc:Choice>
    <mc:Fallback>
      <p:transition spd="slow" advTm="15000">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1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168335" y="-1371600"/>
            <a:ext cx="5120640" cy="51206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828800" y="4114800"/>
            <a:ext cx="4206240" cy="42062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66928" y="384048"/>
            <a:ext cx="676656" cy="676656"/>
          </a:xfrm>
          <a:prstGeom prst="roundRect">
            <a:avLst>
              <a:gd name="adj" fmla="val 22000"/>
            </a:avLst>
          </a:prstGeom>
          <a:solidFill>
            <a:srgbClr val="7FD1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04120C"/>
                </a:solidFill>
                <a:latin typeface="Calibri"/>
              </a:rPr>
              <a:t>II</a:t>
            </a:r>
          </a:p>
        </p:txBody>
      </p:sp>
      <p:sp>
        <p:nvSpPr>
          <p:cNvPr id="6" name="TextBox 5"/>
          <p:cNvSpPr txBox="1"/>
          <p:nvPr/>
        </p:nvSpPr>
        <p:spPr>
          <a:xfrm>
            <a:off x="1481328" y="402336"/>
            <a:ext cx="10143439" cy="201168"/>
          </a:xfrm>
          <a:prstGeom prst="rect">
            <a:avLst/>
          </a:prstGeom>
          <a:noFill/>
        </p:spPr>
        <p:txBody>
          <a:bodyPr wrap="square" anchor="t" lIns="0" rIns="0" tIns="0" bIns="0">
            <a:noAutofit/>
          </a:bodyPr>
          <a:lstStyle/>
          <a:p>
            <a:pPr algn="l">
              <a:lnSpc>
                <a:spcPct val="100000"/>
              </a:lnSpc>
              <a:spcAft>
                <a:spcPts val="0"/>
              </a:spcAft>
            </a:pPr>
            <a:r>
              <a:rPr sz="900" b="1" i="0">
                <a:solidFill>
                  <a:srgbClr val="7FD1AE"/>
                </a:solidFill>
                <a:latin typeface="Calibri"/>
              </a:rPr>
              <a:t>BACKGROUND OF THE PROBLEM</a:t>
            </a:r>
          </a:p>
        </p:txBody>
      </p:sp>
      <p:sp>
        <p:nvSpPr>
          <p:cNvPr id="7" name="TextBox 6"/>
          <p:cNvSpPr txBox="1"/>
          <p:nvPr/>
        </p:nvSpPr>
        <p:spPr>
          <a:xfrm>
            <a:off x="1481328" y="621792"/>
            <a:ext cx="10143439" cy="457200"/>
          </a:xfrm>
          <a:prstGeom prst="rect">
            <a:avLst/>
          </a:prstGeom>
          <a:noFill/>
        </p:spPr>
        <p:txBody>
          <a:bodyPr wrap="square" anchor="t" lIns="0" rIns="0" tIns="0" bIns="0">
            <a:noAutofit/>
          </a:bodyPr>
          <a:lstStyle/>
          <a:p>
            <a:pPr algn="l">
              <a:lnSpc>
                <a:spcPct val="98000"/>
              </a:lnSpc>
              <a:spcAft>
                <a:spcPts val="0"/>
              </a:spcAft>
            </a:pPr>
            <a:r>
              <a:rPr sz="2400" b="1" i="0">
                <a:solidFill>
                  <a:srgbClr val="FFFFFF"/>
                </a:solidFill>
                <a:latin typeface="Calibri"/>
              </a:rPr>
              <a:t>Fresh food dies in the first mile, not the market</a:t>
            </a:r>
          </a:p>
        </p:txBody>
      </p:sp>
      <p:sp>
        <p:nvSpPr>
          <p:cNvPr id="8" name="Rounded Rectangle 7"/>
          <p:cNvSpPr/>
          <p:nvPr/>
        </p:nvSpPr>
        <p:spPr>
          <a:xfrm>
            <a:off x="566928" y="1170432"/>
            <a:ext cx="2613583" cy="141732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100" b="1" i="0">
                <a:solidFill>
                  <a:srgbClr val="F2A33C"/>
                </a:solidFill>
                <a:latin typeface="Calibri"/>
              </a:rPr>
              <a:t>27–42%</a:t>
            </a:r>
          </a:p>
          <a:p>
            <a:pPr>
              <a:lnSpc>
                <a:spcPct val="100000"/>
              </a:lnSpc>
              <a:spcAft>
                <a:spcPts val="300"/>
              </a:spcAft>
            </a:pPr>
            <a:r>
              <a:rPr sz="800" b="1" i="0">
                <a:solidFill>
                  <a:srgbClr val="9FBBAE"/>
                </a:solidFill>
                <a:latin typeface="Calibri"/>
              </a:rPr>
              <a:t>FRUIT &amp; VEGETABLE LOSS</a:t>
            </a:r>
          </a:p>
          <a:p>
            <a:pPr>
              <a:lnSpc>
                <a:spcPct val="100000"/>
              </a:lnSpc>
              <a:spcAft>
                <a:spcPts val="300"/>
              </a:spcAft>
            </a:pPr>
            <a:r>
              <a:rPr sz="780" b="0" i="0">
                <a:solidFill>
                  <a:srgbClr val="7E9D8F"/>
                </a:solidFill>
                <a:latin typeface="Calibri"/>
              </a:rPr>
              <a:t>Philippine post-harvest losses by commodity.</a:t>
            </a:r>
          </a:p>
        </p:txBody>
      </p:sp>
      <p:sp>
        <p:nvSpPr>
          <p:cNvPr id="9" name="Rounded Rectangle 8"/>
          <p:cNvSpPr/>
          <p:nvPr/>
        </p:nvSpPr>
        <p:spPr>
          <a:xfrm>
            <a:off x="3381679" y="1170432"/>
            <a:ext cx="2613583" cy="141732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100" b="1" i="0">
                <a:solidFill>
                  <a:srgbClr val="E4572E"/>
                </a:solidFill>
                <a:latin typeface="Calibri"/>
              </a:rPr>
              <a:t>860k / 1.4M</a:t>
            </a:r>
          </a:p>
          <a:p>
            <a:pPr>
              <a:lnSpc>
                <a:spcPct val="100000"/>
              </a:lnSpc>
              <a:spcAft>
                <a:spcPts val="300"/>
              </a:spcAft>
            </a:pPr>
            <a:r>
              <a:rPr sz="800" b="1" i="0">
                <a:solidFill>
                  <a:srgbClr val="9FBBAE"/>
                </a:solidFill>
                <a:latin typeface="Calibri"/>
              </a:rPr>
              <a:t>COLD-CHAIN PALLET POSITIONS</a:t>
            </a:r>
          </a:p>
          <a:p>
            <a:pPr>
              <a:lnSpc>
                <a:spcPct val="100000"/>
              </a:lnSpc>
              <a:spcAft>
                <a:spcPts val="300"/>
              </a:spcAft>
            </a:pPr>
            <a:r>
              <a:rPr sz="780" b="0" i="0">
                <a:solidFill>
                  <a:srgbClr val="7E9D8F"/>
                </a:solidFill>
                <a:latin typeface="Calibri"/>
              </a:rPr>
              <a:t>~540k shortfall, concentrated in Metro Manila.</a:t>
            </a:r>
          </a:p>
        </p:txBody>
      </p:sp>
      <p:sp>
        <p:nvSpPr>
          <p:cNvPr id="10" name="Rounded Rectangle 9"/>
          <p:cNvSpPr/>
          <p:nvPr/>
        </p:nvSpPr>
        <p:spPr>
          <a:xfrm>
            <a:off x="6196431" y="1170432"/>
            <a:ext cx="2613583" cy="141732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100" b="1" i="0">
                <a:solidFill>
                  <a:srgbClr val="7FD1AE"/>
                </a:solidFill>
                <a:latin typeface="Calibri"/>
              </a:rPr>
              <a:t>6–8 hrs</a:t>
            </a:r>
          </a:p>
          <a:p>
            <a:pPr>
              <a:lnSpc>
                <a:spcPct val="100000"/>
              </a:lnSpc>
              <a:spcAft>
                <a:spcPts val="300"/>
              </a:spcAft>
            </a:pPr>
            <a:r>
              <a:rPr sz="800" b="1" i="0">
                <a:solidFill>
                  <a:srgbClr val="9FBBAE"/>
                </a:solidFill>
                <a:latin typeface="Calibri"/>
              </a:rPr>
              <a:t>UNREFRIGERATED HAUL</a:t>
            </a:r>
          </a:p>
          <a:p>
            <a:pPr>
              <a:lnSpc>
                <a:spcPct val="100000"/>
              </a:lnSpc>
              <a:spcAft>
                <a:spcPts val="300"/>
              </a:spcAft>
            </a:pPr>
            <a:r>
              <a:rPr sz="780" b="0" i="0">
                <a:solidFill>
                  <a:srgbClr val="7E9D8F"/>
                </a:solidFill>
                <a:latin typeface="Calibri"/>
              </a:rPr>
              <a:t>Benguet trading post to Manila bagsakan.</a:t>
            </a:r>
          </a:p>
        </p:txBody>
      </p:sp>
      <p:sp>
        <p:nvSpPr>
          <p:cNvPr id="11" name="Rounded Rectangle 10"/>
          <p:cNvSpPr/>
          <p:nvPr/>
        </p:nvSpPr>
        <p:spPr>
          <a:xfrm>
            <a:off x="9011183" y="1170432"/>
            <a:ext cx="2613583" cy="141732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100" b="1" i="0">
                <a:solidFill>
                  <a:srgbClr val="7FD1AE"/>
                </a:solidFill>
                <a:latin typeface="Calibri"/>
              </a:rPr>
              <a:t>₱4 vs ₱60</a:t>
            </a:r>
          </a:p>
          <a:p>
            <a:pPr>
              <a:lnSpc>
                <a:spcPct val="100000"/>
              </a:lnSpc>
              <a:spcAft>
                <a:spcPts val="300"/>
              </a:spcAft>
            </a:pPr>
            <a:r>
              <a:rPr sz="800" b="1" i="0">
                <a:solidFill>
                  <a:srgbClr val="9FBBAE"/>
                </a:solidFill>
                <a:latin typeface="Calibri"/>
              </a:rPr>
              <a:t>FARMGATE VS RETAIL / KG</a:t>
            </a:r>
          </a:p>
          <a:p>
            <a:pPr>
              <a:lnSpc>
                <a:spcPct val="100000"/>
              </a:lnSpc>
              <a:spcAft>
                <a:spcPts val="300"/>
              </a:spcAft>
            </a:pPr>
            <a:r>
              <a:rPr sz="780" b="0" i="0">
                <a:solidFill>
                  <a:srgbClr val="7E9D8F"/>
                </a:solidFill>
                <a:latin typeface="Calibri"/>
              </a:rPr>
              <a:t>Tomato: ₱4–6 farmgate, ₱25–60 Metro Manila retail.</a:t>
            </a:r>
          </a:p>
        </p:txBody>
      </p:sp>
      <p:sp>
        <p:nvSpPr>
          <p:cNvPr id="12" name="Rounded Rectangle 11"/>
          <p:cNvSpPr/>
          <p:nvPr/>
        </p:nvSpPr>
        <p:spPr>
          <a:xfrm>
            <a:off x="566928" y="2816352"/>
            <a:ext cx="5750076" cy="1874519"/>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  </a:t>
            </a:r>
            <a:r>
              <a:rPr sz="1150" b="1" i="0">
                <a:solidFill>
                  <a:srgbClr val="FFFFFF"/>
                </a:solidFill>
                <a:latin typeface="Calibri"/>
              </a:rPr>
              <a:t>Where a Benguet harvest actually goes</a:t>
            </a:r>
          </a:p>
        </p:txBody>
      </p:sp>
      <p:sp>
        <p:nvSpPr>
          <p:cNvPr id="13" name="Rounded Rectangle 12"/>
          <p:cNvSpPr/>
          <p:nvPr/>
        </p:nvSpPr>
        <p:spPr>
          <a:xfrm>
            <a:off x="749808" y="3383280"/>
            <a:ext cx="3499805" cy="256032"/>
          </a:xfrm>
          <a:prstGeom prst="roundRect">
            <a:avLst>
              <a:gd name="adj" fmla="val 35000"/>
            </a:avLst>
          </a:prstGeom>
          <a:solidFill>
            <a:srgbClr val="7FD1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249613" y="3383280"/>
            <a:ext cx="1884510" cy="256032"/>
          </a:xfrm>
          <a:prstGeom prst="roundRect">
            <a:avLst>
              <a:gd name="adj" fmla="val 35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3694176"/>
            <a:ext cx="5384316" cy="228600"/>
          </a:xfrm>
          <a:prstGeom prst="rect">
            <a:avLst/>
          </a:prstGeom>
          <a:noFill/>
        </p:spPr>
        <p:txBody>
          <a:bodyPr wrap="square" anchor="t" lIns="0" rIns="0" tIns="0" bIns="0">
            <a:noAutofit/>
          </a:bodyPr>
          <a:lstStyle/>
          <a:p>
            <a:pPr algn="l">
              <a:lnSpc>
                <a:spcPct val="100000"/>
              </a:lnSpc>
              <a:spcAft>
                <a:spcPts val="0"/>
              </a:spcAft>
            </a:pPr>
            <a:r>
              <a:rPr sz="950" b="1" i="0">
                <a:solidFill>
                  <a:srgbClr val="7FD1AE"/>
                </a:solidFill>
                <a:latin typeface="Calibri"/>
              </a:rPr>
              <a:t>■ </a:t>
            </a:r>
            <a:r>
              <a:rPr sz="950" b="0" i="0">
                <a:solidFill>
                  <a:srgbClr val="CBE2D7"/>
                </a:solidFill>
                <a:latin typeface="Calibri"/>
              </a:rPr>
              <a:t>Sold / usable — 65%      </a:t>
            </a:r>
            <a:r>
              <a:rPr sz="950" b="1" i="0">
                <a:solidFill>
                  <a:srgbClr val="E4572E"/>
                </a:solidFill>
                <a:latin typeface="Calibri"/>
              </a:rPr>
              <a:t>■ </a:t>
            </a:r>
            <a:r>
              <a:rPr sz="950" b="0" i="0">
                <a:solidFill>
                  <a:srgbClr val="CBE2D7"/>
                </a:solidFill>
                <a:latin typeface="Calibri"/>
              </a:rPr>
              <a:t>Lost, dumped or degraded — 35%</a:t>
            </a:r>
          </a:p>
        </p:txBody>
      </p:sp>
      <p:sp>
        <p:nvSpPr>
          <p:cNvPr id="16" name="TextBox 15"/>
          <p:cNvSpPr txBox="1"/>
          <p:nvPr/>
        </p:nvSpPr>
        <p:spPr>
          <a:xfrm>
            <a:off x="749808" y="4005072"/>
            <a:ext cx="5384316" cy="640080"/>
          </a:xfrm>
          <a:prstGeom prst="rect">
            <a:avLst/>
          </a:prstGeom>
          <a:noFill/>
        </p:spPr>
        <p:txBody>
          <a:bodyPr wrap="square" anchor="t" lIns="0" rIns="0" tIns="0" bIns="0">
            <a:noAutofit/>
          </a:bodyPr>
          <a:lstStyle/>
          <a:p>
            <a:pPr algn="l">
              <a:lnSpc>
                <a:spcPct val="125000"/>
              </a:lnSpc>
              <a:spcAft>
                <a:spcPts val="0"/>
              </a:spcAft>
            </a:pPr>
            <a:r>
              <a:rPr sz="930" b="0" i="0">
                <a:solidFill>
                  <a:srgbClr val="CBE2D7"/>
                </a:solidFill>
                <a:latin typeface="Calibri"/>
              </a:rPr>
              <a:t>Benguet high-value vegetable harvest, 2024:  </a:t>
            </a:r>
            <a:r>
              <a:rPr sz="930" b="1" i="0">
                <a:solidFill>
                  <a:srgbClr val="FFFFFF"/>
                </a:solidFill>
                <a:latin typeface="Calibri"/>
              </a:rPr>
              <a:t>253,544 MT</a:t>
            </a:r>
          </a:p>
          <a:p>
            <a:pPr algn="l">
              <a:lnSpc>
                <a:spcPct val="125000"/>
              </a:lnSpc>
              <a:spcAft>
                <a:spcPts val="0"/>
              </a:spcAft>
            </a:pPr>
            <a:r>
              <a:rPr sz="930" b="0" i="0">
                <a:solidFill>
                  <a:srgbClr val="CBE2D7"/>
                </a:solidFill>
                <a:latin typeface="Calibri"/>
              </a:rPr>
              <a:t>Estimated volume lost at a 28% loss rate:  </a:t>
            </a:r>
            <a:r>
              <a:rPr sz="930" b="1" i="0">
                <a:solidFill>
                  <a:srgbClr val="FFFFFF"/>
                </a:solidFill>
                <a:latin typeface="Calibri"/>
              </a:rPr>
              <a:t>≈ 71,000 MT</a:t>
            </a:r>
          </a:p>
          <a:p>
            <a:pPr algn="l">
              <a:lnSpc>
                <a:spcPct val="125000"/>
              </a:lnSpc>
              <a:spcAft>
                <a:spcPts val="0"/>
              </a:spcAft>
            </a:pPr>
            <a:r>
              <a:rPr sz="930" b="0" i="0">
                <a:solidFill>
                  <a:srgbClr val="CBE2D7"/>
                </a:solidFill>
                <a:latin typeface="Calibri"/>
              </a:rPr>
              <a:t>Conservative farmgate value lost:  </a:t>
            </a:r>
            <a:r>
              <a:rPr sz="930" b="1" i="0">
                <a:solidFill>
                  <a:srgbClr val="FFD9A2"/>
                </a:solidFill>
                <a:latin typeface="Calibri"/>
              </a:rPr>
              <a:t>≈ ₱2.1 B per year</a:t>
            </a:r>
          </a:p>
        </p:txBody>
      </p:sp>
      <p:sp>
        <p:nvSpPr>
          <p:cNvPr id="17" name="Rounded Rectangle 16"/>
          <p:cNvSpPr/>
          <p:nvPr/>
        </p:nvSpPr>
        <p:spPr>
          <a:xfrm>
            <a:off x="6536460" y="2816352"/>
            <a:ext cx="5088306" cy="1874519"/>
          </a:xfrm>
          <a:prstGeom prst="roundRect">
            <a:avLst>
              <a:gd name="adj" fmla="val 6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F2A33C"/>
                </a:solidFill>
                <a:latin typeface="Calibri"/>
              </a:rPr>
              <a:t>✕  </a:t>
            </a:r>
            <a:r>
              <a:rPr sz="1150" b="1" i="0">
                <a:solidFill>
                  <a:srgbClr val="FFFFFF"/>
                </a:solidFill>
                <a:latin typeface="Calibri"/>
              </a:rPr>
              <a:t>Root causes we attack</a:t>
            </a:r>
          </a:p>
          <a:p>
            <a:pPr>
              <a:lnSpc>
                <a:spcPct val="100000"/>
              </a:lnSpc>
              <a:spcAft>
                <a:spcPts val="300"/>
              </a:spcAft>
            </a:pPr>
            <a:r>
              <a:rPr sz="930" b="1">
                <a:solidFill>
                  <a:srgbClr val="F2A33C"/>
                </a:solidFill>
                <a:latin typeface="Calibri"/>
              </a:rPr>
              <a:t>▪  </a:t>
            </a:r>
            <a:r>
              <a:rPr sz="930" b="0" i="0">
                <a:solidFill>
                  <a:srgbClr val="CBE2D7"/>
                </a:solidFill>
                <a:latin typeface="Calibri"/>
              </a:rPr>
              <a:t>No cooling at or near the farm — the nearest cold room is a truck ride and a day away.</a:t>
            </a:r>
          </a:p>
          <a:p>
            <a:pPr>
              <a:lnSpc>
                <a:spcPct val="100000"/>
              </a:lnSpc>
              <a:spcAft>
                <a:spcPts val="300"/>
              </a:spcAft>
            </a:pPr>
            <a:r>
              <a:rPr sz="930" b="1">
                <a:solidFill>
                  <a:srgbClr val="F2A33C"/>
                </a:solidFill>
                <a:latin typeface="Calibri"/>
              </a:rPr>
              <a:t>▪  </a:t>
            </a:r>
            <a:r>
              <a:rPr sz="930" b="0" i="0">
                <a:solidFill>
                  <a:srgbClr val="CBE2D7"/>
                </a:solidFill>
                <a:latin typeface="Calibri"/>
              </a:rPr>
              <a:t>Oversupply shocks: tomato farmgate fell to ₱4/kg in Feb 2025 while Manila paid ₱25–60.</a:t>
            </a:r>
          </a:p>
          <a:p>
            <a:pPr>
              <a:lnSpc>
                <a:spcPct val="100000"/>
              </a:lnSpc>
              <a:spcAft>
                <a:spcPts val="300"/>
              </a:spcAft>
            </a:pPr>
            <a:r>
              <a:rPr sz="930" b="1">
                <a:solidFill>
                  <a:srgbClr val="F2A33C"/>
                </a:solidFill>
                <a:latin typeface="Calibri"/>
              </a:rPr>
              <a:t>▪  </a:t>
            </a:r>
            <a:r>
              <a:rPr sz="930" b="0" i="0">
                <a:solidFill>
                  <a:srgbClr val="CBE2D7"/>
                </a:solidFill>
                <a:latin typeface="Calibri"/>
              </a:rPr>
              <a:t>No grading, traceability or market information, so farmers sell blind as price-takers.</a:t>
            </a:r>
          </a:p>
        </p:txBody>
      </p:sp>
      <p:sp>
        <p:nvSpPr>
          <p:cNvPr id="18" name="TextBox 17"/>
          <p:cNvSpPr txBox="1"/>
          <p:nvPr/>
        </p:nvSpPr>
        <p:spPr>
          <a:xfrm>
            <a:off x="566928" y="6382512"/>
            <a:ext cx="11057839" cy="274320"/>
          </a:xfrm>
          <a:prstGeom prst="rect">
            <a:avLst/>
          </a:prstGeom>
          <a:noFill/>
        </p:spPr>
        <p:txBody>
          <a:bodyPr wrap="square" anchor="t" lIns="0" rIns="0" tIns="0" bIns="0">
            <a:noAutofit/>
          </a:bodyPr>
          <a:lstStyle/>
          <a:p>
            <a:pPr algn="l">
              <a:lnSpc>
                <a:spcPct val="105000"/>
              </a:lnSpc>
              <a:spcAft>
                <a:spcPts val="0"/>
              </a:spcAft>
            </a:pPr>
            <a:r>
              <a:rPr sz="720" b="0" i="0">
                <a:solidFill>
                  <a:srgbClr val="7E9D8F"/>
                </a:solidFill>
                <a:latin typeface="Calibri"/>
              </a:rPr>
              <a:t>Assumes ₱30/kg average farmgate. Sources: PSA RSSO-CAR (2024) · UN-CSAM · PCAARRD (2025) · FAST Logistics cold-chain estimate (industry) · UN Food Systems PH Pathway.</a:t>
            </a:r>
          </a:p>
        </p:txBody>
      </p:sp>
    </p:spTree>
  </p:cSld>
  <p:clrMapOvr>
    <a:masterClrMapping/>
  </p:clrMapOvr>
  <mc:AlternateContent xmlns:mc="http://schemas.openxmlformats.org/markup-compatibility/2006">
    <mc:Choice xmlns:p14="http://schemas.microsoft.com/office/powerpoint/2010/main" Requires="p14">
      <p:transition advTm="17000" p14:dur="1100">
        <p14:cube dir="l"/>
      </p:transition>
    </mc:Choice>
    <mc:Fallback>
      <p:transition spd="slow" advTm="17000">
        <p:push dir="l"/>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1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168335" y="-1371600"/>
            <a:ext cx="5120640" cy="51206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828800" y="4114800"/>
            <a:ext cx="4206240" cy="42062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66928" y="384048"/>
            <a:ext cx="676656" cy="676656"/>
          </a:xfrm>
          <a:prstGeom prst="roundRect">
            <a:avLst>
              <a:gd name="adj" fmla="val 22000"/>
            </a:avLst>
          </a:prstGeom>
          <a:solidFill>
            <a:srgbClr val="7FD1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04120C"/>
                </a:solidFill>
                <a:latin typeface="Calibri"/>
              </a:rPr>
              <a:t>III</a:t>
            </a:r>
          </a:p>
        </p:txBody>
      </p:sp>
      <p:sp>
        <p:nvSpPr>
          <p:cNvPr id="6" name="TextBox 5"/>
          <p:cNvSpPr txBox="1"/>
          <p:nvPr/>
        </p:nvSpPr>
        <p:spPr>
          <a:xfrm>
            <a:off x="1481328" y="402336"/>
            <a:ext cx="10143439" cy="201168"/>
          </a:xfrm>
          <a:prstGeom prst="rect">
            <a:avLst/>
          </a:prstGeom>
          <a:noFill/>
        </p:spPr>
        <p:txBody>
          <a:bodyPr wrap="square" anchor="t" lIns="0" rIns="0" tIns="0" bIns="0">
            <a:noAutofit/>
          </a:bodyPr>
          <a:lstStyle/>
          <a:p>
            <a:pPr algn="l">
              <a:lnSpc>
                <a:spcPct val="100000"/>
              </a:lnSpc>
              <a:spcAft>
                <a:spcPts val="0"/>
              </a:spcAft>
            </a:pPr>
            <a:r>
              <a:rPr sz="900" b="1" i="0">
                <a:solidFill>
                  <a:srgbClr val="7FD1AE"/>
                </a:solidFill>
                <a:latin typeface="Calibri"/>
              </a:rPr>
              <a:t>PROPOSED STARTUP SOLUTION</a:t>
            </a:r>
          </a:p>
        </p:txBody>
      </p:sp>
      <p:sp>
        <p:nvSpPr>
          <p:cNvPr id="7" name="TextBox 6"/>
          <p:cNvSpPr txBox="1"/>
          <p:nvPr/>
        </p:nvSpPr>
        <p:spPr>
          <a:xfrm>
            <a:off x="1481328" y="621792"/>
            <a:ext cx="10143439" cy="457200"/>
          </a:xfrm>
          <a:prstGeom prst="rect">
            <a:avLst/>
          </a:prstGeom>
          <a:noFill/>
        </p:spPr>
        <p:txBody>
          <a:bodyPr wrap="square" anchor="t" lIns="0" rIns="0" tIns="0" bIns="0">
            <a:noAutofit/>
          </a:bodyPr>
          <a:lstStyle/>
          <a:p>
            <a:pPr algn="l">
              <a:lnSpc>
                <a:spcPct val="98000"/>
              </a:lnSpc>
              <a:spcAft>
                <a:spcPts val="0"/>
              </a:spcAft>
            </a:pPr>
            <a:r>
              <a:rPr sz="2400" b="1" i="0">
                <a:solidFill>
                  <a:srgbClr val="FFFFFF"/>
                </a:solidFill>
                <a:latin typeface="Calibri"/>
              </a:rPr>
              <a:t>The Fresko Hub: cooling, intelligence and a buyer in one loop</a:t>
            </a:r>
          </a:p>
        </p:txBody>
      </p:sp>
      <p:sp>
        <p:nvSpPr>
          <p:cNvPr id="8" name="Rounded Rectangle 7"/>
          <p:cNvSpPr/>
          <p:nvPr/>
        </p:nvSpPr>
        <p:spPr>
          <a:xfrm>
            <a:off x="566928" y="1170432"/>
            <a:ext cx="2558719" cy="1325880"/>
          </a:xfrm>
          <a:prstGeom prst="roundRect">
            <a:avLst>
              <a:gd name="adj" fmla="val 6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F2A33C"/>
                </a:solidFill>
                <a:latin typeface="Calibri"/>
              </a:rPr>
              <a:t>01  </a:t>
            </a:r>
            <a:r>
              <a:rPr sz="1150" b="1" i="0">
                <a:solidFill>
                  <a:srgbClr val="FFFFFF"/>
                </a:solidFill>
                <a:latin typeface="Calibri"/>
              </a:rPr>
              <a:t>Book &amp; harvest</a:t>
            </a:r>
          </a:p>
          <a:p>
            <a:pPr>
              <a:lnSpc>
                <a:spcPct val="102000"/>
              </a:lnSpc>
              <a:spcAft>
                <a:spcPts val="400"/>
              </a:spcAft>
            </a:pPr>
            <a:r>
              <a:rPr sz="950" b="0" i="0">
                <a:solidFill>
                  <a:srgbClr val="CBE2D7"/>
                </a:solidFill>
                <a:latin typeface="Calibri"/>
              </a:rPr>
              <a:t>The farmer reserves a cold-room slot in the app; harvest is timed to that booking.</a:t>
            </a:r>
          </a:p>
        </p:txBody>
      </p:sp>
      <p:sp>
        <p:nvSpPr>
          <p:cNvPr id="9" name="TextBox 8"/>
          <p:cNvSpPr txBox="1"/>
          <p:nvPr/>
        </p:nvSpPr>
        <p:spPr>
          <a:xfrm>
            <a:off x="3143935" y="1673352"/>
            <a:ext cx="237744" cy="274320"/>
          </a:xfrm>
          <a:prstGeom prst="rect">
            <a:avLst/>
          </a:prstGeom>
          <a:noFill/>
        </p:spPr>
        <p:txBody>
          <a:bodyPr wrap="square" anchor="t" lIns="0" rIns="0" tIns="0" bIns="0">
            <a:noAutofit/>
          </a:bodyPr>
          <a:lstStyle/>
          <a:p>
            <a:pPr algn="ctr">
              <a:lnSpc>
                <a:spcPct val="100000"/>
              </a:lnSpc>
              <a:spcAft>
                <a:spcPts val="0"/>
              </a:spcAft>
            </a:pPr>
            <a:r>
              <a:rPr sz="1700" b="1" i="0">
                <a:solidFill>
                  <a:srgbClr val="F2A33C"/>
                </a:solidFill>
                <a:latin typeface="Calibri"/>
              </a:rPr>
              <a:t>›</a:t>
            </a:r>
          </a:p>
        </p:txBody>
      </p:sp>
      <p:sp>
        <p:nvSpPr>
          <p:cNvPr id="10" name="Rounded Rectangle 9"/>
          <p:cNvSpPr/>
          <p:nvPr/>
        </p:nvSpPr>
        <p:spPr>
          <a:xfrm>
            <a:off x="3399967" y="1170432"/>
            <a:ext cx="2558719" cy="1325880"/>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02  </a:t>
            </a:r>
            <a:r>
              <a:rPr sz="1150" b="1" i="0">
                <a:solidFill>
                  <a:srgbClr val="FFFFFF"/>
                </a:solidFill>
                <a:latin typeface="Calibri"/>
              </a:rPr>
              <a:t>Pre-cool in 2 hrs</a:t>
            </a:r>
          </a:p>
          <a:p>
            <a:pPr>
              <a:lnSpc>
                <a:spcPct val="102000"/>
              </a:lnSpc>
              <a:spcAft>
                <a:spcPts val="400"/>
              </a:spcAft>
            </a:pPr>
            <a:r>
              <a:rPr sz="950" b="0" i="0">
                <a:solidFill>
                  <a:srgbClr val="CBE2D7"/>
                </a:solidFill>
                <a:latin typeface="Calibri"/>
              </a:rPr>
              <a:t>Produce reaches the hub within 2 hours and is pre-cooled to 4–8 °C on solar power.</a:t>
            </a:r>
          </a:p>
        </p:txBody>
      </p:sp>
      <p:sp>
        <p:nvSpPr>
          <p:cNvPr id="11" name="TextBox 10"/>
          <p:cNvSpPr txBox="1"/>
          <p:nvPr/>
        </p:nvSpPr>
        <p:spPr>
          <a:xfrm>
            <a:off x="5976975" y="1673352"/>
            <a:ext cx="237744" cy="274320"/>
          </a:xfrm>
          <a:prstGeom prst="rect">
            <a:avLst/>
          </a:prstGeom>
          <a:noFill/>
        </p:spPr>
        <p:txBody>
          <a:bodyPr wrap="square" anchor="t" lIns="0" rIns="0" tIns="0" bIns="0">
            <a:noAutofit/>
          </a:bodyPr>
          <a:lstStyle/>
          <a:p>
            <a:pPr algn="ctr">
              <a:lnSpc>
                <a:spcPct val="100000"/>
              </a:lnSpc>
              <a:spcAft>
                <a:spcPts val="0"/>
              </a:spcAft>
            </a:pPr>
            <a:r>
              <a:rPr sz="1700" b="1" i="0">
                <a:solidFill>
                  <a:srgbClr val="F2A33C"/>
                </a:solidFill>
                <a:latin typeface="Calibri"/>
              </a:rPr>
              <a:t>›</a:t>
            </a:r>
          </a:p>
        </p:txBody>
      </p:sp>
      <p:sp>
        <p:nvSpPr>
          <p:cNvPr id="12" name="Rounded Rectangle 11"/>
          <p:cNvSpPr/>
          <p:nvPr/>
        </p:nvSpPr>
        <p:spPr>
          <a:xfrm>
            <a:off x="6233007" y="1170432"/>
            <a:ext cx="2558719" cy="1325880"/>
          </a:xfrm>
          <a:prstGeom prst="roundRect">
            <a:avLst>
              <a:gd name="adj" fmla="val 6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F2A33C"/>
                </a:solidFill>
                <a:latin typeface="Calibri"/>
              </a:rPr>
              <a:t>03  </a:t>
            </a:r>
            <a:r>
              <a:rPr sz="1150" b="1" i="0">
                <a:solidFill>
                  <a:srgbClr val="FFFFFF"/>
                </a:solidFill>
                <a:latin typeface="Calibri"/>
              </a:rPr>
              <a:t>Grade &amp; predict</a:t>
            </a:r>
          </a:p>
          <a:p>
            <a:pPr>
              <a:lnSpc>
                <a:spcPct val="102000"/>
              </a:lnSpc>
              <a:spcAft>
                <a:spcPts val="400"/>
              </a:spcAft>
            </a:pPr>
            <a:r>
              <a:rPr sz="950" b="0" i="0">
                <a:solidFill>
                  <a:srgbClr val="CBE2D7"/>
                </a:solidFill>
                <a:latin typeface="Calibri"/>
              </a:rPr>
              <a:t>IoT sensors + freshness AI score remaining shelf life and grade batches A/B/C.</a:t>
            </a:r>
          </a:p>
        </p:txBody>
      </p:sp>
      <p:sp>
        <p:nvSpPr>
          <p:cNvPr id="13" name="TextBox 12"/>
          <p:cNvSpPr txBox="1"/>
          <p:nvPr/>
        </p:nvSpPr>
        <p:spPr>
          <a:xfrm>
            <a:off x="8810015" y="1673352"/>
            <a:ext cx="237744" cy="274320"/>
          </a:xfrm>
          <a:prstGeom prst="rect">
            <a:avLst/>
          </a:prstGeom>
          <a:noFill/>
        </p:spPr>
        <p:txBody>
          <a:bodyPr wrap="square" anchor="t" lIns="0" rIns="0" tIns="0" bIns="0">
            <a:noAutofit/>
          </a:bodyPr>
          <a:lstStyle/>
          <a:p>
            <a:pPr algn="ctr">
              <a:lnSpc>
                <a:spcPct val="100000"/>
              </a:lnSpc>
              <a:spcAft>
                <a:spcPts val="0"/>
              </a:spcAft>
            </a:pPr>
            <a:r>
              <a:rPr sz="1700" b="1" i="0">
                <a:solidFill>
                  <a:srgbClr val="F2A33C"/>
                </a:solidFill>
                <a:latin typeface="Calibri"/>
              </a:rPr>
              <a:t>›</a:t>
            </a:r>
          </a:p>
        </p:txBody>
      </p:sp>
      <p:sp>
        <p:nvSpPr>
          <p:cNvPr id="14" name="Rounded Rectangle 13"/>
          <p:cNvSpPr/>
          <p:nvPr/>
        </p:nvSpPr>
        <p:spPr>
          <a:xfrm>
            <a:off x="9066047" y="1170432"/>
            <a:ext cx="2558719" cy="1325880"/>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04  </a:t>
            </a:r>
            <a:r>
              <a:rPr sz="1150" b="1" i="0">
                <a:solidFill>
                  <a:srgbClr val="FFFFFF"/>
                </a:solidFill>
                <a:latin typeface="Calibri"/>
              </a:rPr>
              <a:t>Match &amp; pay</a:t>
            </a:r>
          </a:p>
          <a:p>
            <a:pPr>
              <a:lnSpc>
                <a:spcPct val="102000"/>
              </a:lnSpc>
              <a:spcAft>
                <a:spcPts val="400"/>
              </a:spcAft>
            </a:pPr>
            <a:r>
              <a:rPr sz="950" b="0" i="0">
                <a:solidFill>
                  <a:srgbClr val="CBE2D7"/>
                </a:solidFill>
                <a:latin typeface="Calibri"/>
              </a:rPr>
              <a:t>Matched to a verified buyer, consolidated dispatch, e-wallet payout within 24 hours.</a:t>
            </a:r>
          </a:p>
        </p:txBody>
      </p:sp>
      <p:pic>
        <p:nvPicPr>
          <p:cNvPr id="15" name="Picture 14" descr="coldroom.jpg"/>
          <p:cNvPicPr>
            <a:picLocks noChangeAspect="1"/>
          </p:cNvPicPr>
          <p:nvPr/>
        </p:nvPicPr>
        <p:blipFill>
          <a:blip r:embed="rId2"/>
          <a:srcRect l="10727" r="10727"/>
          <a:stretch>
            <a:fillRect/>
          </a:stretch>
        </p:blipFill>
        <p:spPr>
          <a:xfrm>
            <a:off x="566928" y="2706624"/>
            <a:ext cx="3291840" cy="2286000"/>
          </a:xfrm>
          <a:prstGeom prst="rect">
            <a:avLst/>
          </a:prstGeom>
        </p:spPr>
      </p:pic>
      <p:sp>
        <p:nvSpPr>
          <p:cNvPr id="16" name="Rounded Rectangle 15"/>
          <p:cNvSpPr/>
          <p:nvPr/>
        </p:nvSpPr>
        <p:spPr>
          <a:xfrm>
            <a:off x="4059935" y="2706624"/>
            <a:ext cx="3703320" cy="1097280"/>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  </a:t>
            </a:r>
            <a:r>
              <a:rPr sz="1150" b="1" i="0">
                <a:solidFill>
                  <a:srgbClr val="FFFFFF"/>
                </a:solidFill>
                <a:latin typeface="Calibri"/>
              </a:rPr>
              <a:t>Hardware</a:t>
            </a:r>
          </a:p>
          <a:p>
            <a:pPr>
              <a:lnSpc>
                <a:spcPct val="100000"/>
              </a:lnSpc>
              <a:spcAft>
                <a:spcPts val="300"/>
              </a:spcAft>
            </a:pPr>
            <a:r>
              <a:rPr sz="930" b="1">
                <a:solidFill>
                  <a:srgbClr val="7FD1AE"/>
                </a:solidFill>
                <a:latin typeface="Calibri"/>
              </a:rPr>
              <a:t>▪  </a:t>
            </a:r>
            <a:r>
              <a:rPr sz="930" b="0" i="0">
                <a:solidFill>
                  <a:srgbClr val="CBE2D7"/>
                </a:solidFill>
                <a:latin typeface="Calibri"/>
              </a:rPr>
              <a:t>2-tonne insulated chamber, 3 kWp solar + 5 kWh battery</a:t>
            </a:r>
          </a:p>
          <a:p>
            <a:pPr>
              <a:lnSpc>
                <a:spcPct val="100000"/>
              </a:lnSpc>
              <a:spcAft>
                <a:spcPts val="300"/>
              </a:spcAft>
            </a:pPr>
            <a:r>
              <a:rPr sz="930" b="1">
                <a:solidFill>
                  <a:srgbClr val="7FD1AE"/>
                </a:solidFill>
                <a:latin typeface="Calibri"/>
              </a:rPr>
              <a:t>▪  </a:t>
            </a:r>
            <a:r>
              <a:rPr sz="930" b="0" i="0">
                <a:solidFill>
                  <a:srgbClr val="CBE2D7"/>
                </a:solidFill>
                <a:latin typeface="Calibri"/>
              </a:rPr>
              <a:t>2 HP inverter compressor, 4–8 °C, 99% uptime target</a:t>
            </a:r>
          </a:p>
        </p:txBody>
      </p:sp>
      <p:sp>
        <p:nvSpPr>
          <p:cNvPr id="17" name="Rounded Rectangle 16"/>
          <p:cNvSpPr/>
          <p:nvPr/>
        </p:nvSpPr>
        <p:spPr>
          <a:xfrm>
            <a:off x="4059935" y="3913632"/>
            <a:ext cx="3703320" cy="1078992"/>
          </a:xfrm>
          <a:prstGeom prst="roundRect">
            <a:avLst>
              <a:gd name="adj" fmla="val 6000"/>
            </a:avLst>
          </a:prstGeom>
          <a:solidFill>
            <a:srgbClr val="0C2E22"/>
          </a:solidFill>
          <a:ln w="11430">
            <a:solidFill>
              <a:srgbClr val="8FD4E8"/>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8FD4E8"/>
                </a:solidFill>
                <a:latin typeface="Calibri"/>
              </a:rPr>
              <a:t>⌗  </a:t>
            </a:r>
            <a:r>
              <a:rPr sz="1150" b="1" i="0">
                <a:solidFill>
                  <a:srgbClr val="FFFFFF"/>
                </a:solidFill>
                <a:latin typeface="Calibri"/>
              </a:rPr>
              <a:t>Software</a:t>
            </a:r>
          </a:p>
          <a:p>
            <a:pPr>
              <a:lnSpc>
                <a:spcPct val="100000"/>
              </a:lnSpc>
              <a:spcAft>
                <a:spcPts val="300"/>
              </a:spcAft>
            </a:pPr>
            <a:r>
              <a:rPr sz="930" b="1">
                <a:solidFill>
                  <a:srgbClr val="8FD4E8"/>
                </a:solidFill>
                <a:latin typeface="Calibri"/>
              </a:rPr>
              <a:t>▪  </a:t>
            </a:r>
            <a:r>
              <a:rPr sz="930" b="0" i="0">
                <a:solidFill>
                  <a:srgbClr val="CBE2D7"/>
                </a:solidFill>
                <a:latin typeface="Calibri"/>
              </a:rPr>
              <a:t>Offline-first app in Filipino &amp; Ilocano</a:t>
            </a:r>
          </a:p>
          <a:p>
            <a:pPr>
              <a:lnSpc>
                <a:spcPct val="100000"/>
              </a:lnSpc>
              <a:spcAft>
                <a:spcPts val="300"/>
              </a:spcAft>
            </a:pPr>
            <a:r>
              <a:rPr sz="930" b="1">
                <a:solidFill>
                  <a:srgbClr val="8FD4E8"/>
                </a:solidFill>
                <a:latin typeface="Calibri"/>
              </a:rPr>
              <a:t>▪  </a:t>
            </a:r>
            <a:r>
              <a:rPr sz="930" b="0" i="0">
                <a:solidFill>
                  <a:srgbClr val="CBE2D7"/>
                </a:solidFill>
                <a:latin typeface="Calibri"/>
              </a:rPr>
              <a:t>Shelf-life AI + shared-capacity booking + escrow payouts</a:t>
            </a:r>
          </a:p>
        </p:txBody>
      </p:sp>
      <p:sp>
        <p:nvSpPr>
          <p:cNvPr id="18" name="Rounded Rectangle 17"/>
          <p:cNvSpPr/>
          <p:nvPr/>
        </p:nvSpPr>
        <p:spPr>
          <a:xfrm>
            <a:off x="7964423" y="2706624"/>
            <a:ext cx="3660343" cy="2286000"/>
          </a:xfrm>
          <a:prstGeom prst="roundRect">
            <a:avLst>
              <a:gd name="adj" fmla="val 6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F2A33C"/>
                </a:solidFill>
                <a:latin typeface="Calibri"/>
              </a:rPr>
              <a:t>◎  </a:t>
            </a:r>
            <a:r>
              <a:rPr sz="1150" b="1" i="0">
                <a:solidFill>
                  <a:srgbClr val="FFFFFF"/>
                </a:solidFill>
                <a:latin typeface="Calibri"/>
              </a:rPr>
              <a:t>Priority SDG — 12: Responsible Consumption &amp; Production</a:t>
            </a:r>
          </a:p>
          <a:p>
            <a:pPr>
              <a:lnSpc>
                <a:spcPct val="102000"/>
              </a:lnSpc>
              <a:spcAft>
                <a:spcPts val="400"/>
              </a:spcAft>
            </a:pPr>
            <a:r>
              <a:rPr sz="950" b="0" i="0">
                <a:solidFill>
                  <a:srgbClr val="CBE2D7"/>
                </a:solidFill>
                <a:latin typeface="Calibri"/>
              </a:rPr>
              <a:t>Target 12.3: halve per-capita food waste and reduce food losses by 2030 — measured in kilograms, against a same-week control group.</a:t>
            </a:r>
          </a:p>
          <a:p>
            <a:pPr>
              <a:lnSpc>
                <a:spcPct val="100000"/>
              </a:lnSpc>
              <a:spcAft>
                <a:spcPts val="300"/>
              </a:spcAft>
            </a:pPr>
            <a:r>
              <a:rPr sz="930" b="1">
                <a:solidFill>
                  <a:srgbClr val="F2A33C"/>
                </a:solidFill>
                <a:latin typeface="Calibri"/>
              </a:rPr>
              <a:t>▪  </a:t>
            </a:r>
            <a:r>
              <a:rPr sz="930" b="0" i="0">
                <a:solidFill>
                  <a:srgbClr val="CBE2D7"/>
                </a:solidFill>
                <a:latin typeface="Calibri"/>
              </a:rPr>
              <a:t>SDG 2 Zero Hunger — 84 t of food kept edible in Year 1</a:t>
            </a:r>
          </a:p>
          <a:p>
            <a:pPr>
              <a:lnSpc>
                <a:spcPct val="100000"/>
              </a:lnSpc>
              <a:spcAft>
                <a:spcPts val="300"/>
              </a:spcAft>
            </a:pPr>
            <a:r>
              <a:rPr sz="930" b="1">
                <a:solidFill>
                  <a:srgbClr val="F2A33C"/>
                </a:solidFill>
                <a:latin typeface="Calibri"/>
              </a:rPr>
              <a:t>▪  </a:t>
            </a:r>
            <a:r>
              <a:rPr sz="930" b="0" i="0">
                <a:solidFill>
                  <a:srgbClr val="CBE2D7"/>
                </a:solidFill>
                <a:latin typeface="Calibri"/>
              </a:rPr>
              <a:t>SDG 8 Decent Work — +35% net income per kg sold</a:t>
            </a:r>
          </a:p>
          <a:p>
            <a:pPr>
              <a:lnSpc>
                <a:spcPct val="100000"/>
              </a:lnSpc>
              <a:spcAft>
                <a:spcPts val="300"/>
              </a:spcAft>
            </a:pPr>
            <a:r>
              <a:rPr sz="930" b="1">
                <a:solidFill>
                  <a:srgbClr val="F2A33C"/>
                </a:solidFill>
                <a:latin typeface="Calibri"/>
              </a:rPr>
              <a:t>▪  </a:t>
            </a:r>
            <a:r>
              <a:rPr sz="930" b="0" i="0">
                <a:solidFill>
                  <a:srgbClr val="CBE2D7"/>
                </a:solidFill>
                <a:latin typeface="Calibri"/>
              </a:rPr>
              <a:t>SDG 9 Industry &amp; Innovation — farm-side rural IoT</a:t>
            </a:r>
          </a:p>
          <a:p>
            <a:pPr>
              <a:lnSpc>
                <a:spcPct val="100000"/>
              </a:lnSpc>
              <a:spcAft>
                <a:spcPts val="300"/>
              </a:spcAft>
            </a:pPr>
            <a:r>
              <a:rPr sz="930" b="1">
                <a:solidFill>
                  <a:srgbClr val="F2A33C"/>
                </a:solidFill>
                <a:latin typeface="Calibri"/>
              </a:rPr>
              <a:t>▪  </a:t>
            </a:r>
            <a:r>
              <a:rPr sz="930" b="0" i="0">
                <a:solidFill>
                  <a:srgbClr val="CBE2D7"/>
                </a:solidFill>
                <a:latin typeface="Calibri"/>
              </a:rPr>
              <a:t>SDG 13 Climate Action — solar cooling displaces diesel</a:t>
            </a:r>
          </a:p>
        </p:txBody>
      </p:sp>
      <p:sp>
        <p:nvSpPr>
          <p:cNvPr id="19" name="TextBox 18"/>
          <p:cNvSpPr txBox="1"/>
          <p:nvPr/>
        </p:nvSpPr>
        <p:spPr>
          <a:xfrm>
            <a:off x="566928" y="6382512"/>
            <a:ext cx="11057839" cy="274320"/>
          </a:xfrm>
          <a:prstGeom prst="rect">
            <a:avLst/>
          </a:prstGeom>
          <a:noFill/>
        </p:spPr>
        <p:txBody>
          <a:bodyPr wrap="square" anchor="t" lIns="0" rIns="0" tIns="0" bIns="0">
            <a:noAutofit/>
          </a:bodyPr>
          <a:lstStyle/>
          <a:p>
            <a:pPr algn="l">
              <a:lnSpc>
                <a:spcPct val="105000"/>
              </a:lnSpc>
              <a:spcAft>
                <a:spcPts val="0"/>
              </a:spcAft>
            </a:pPr>
            <a:r>
              <a:rPr sz="720" b="0" i="0">
                <a:solidFill>
                  <a:srgbClr val="7E9D8F"/>
                </a:solidFill>
                <a:latin typeface="Calibri"/>
              </a:rPr>
              <a:t>Design rule: every farmer-facing step must work on a ₱4,000 Android phone with intermittent signal.</a:t>
            </a:r>
          </a:p>
        </p:txBody>
      </p:sp>
    </p:spTree>
  </p:cSld>
  <p:clrMapOvr>
    <a:masterClrMapping/>
  </p:clrMapOvr>
  <mc:AlternateContent xmlns:mc="http://schemas.openxmlformats.org/markup-compatibility/2006">
    <mc:Choice xmlns:p14="http://schemas.microsoft.com/office/powerpoint/2010/main" Requires="p14">
      <p:transition advTm="17000" p14:dur="1100">
        <p14:cube dir="l"/>
      </p:transition>
    </mc:Choice>
    <mc:Fallback>
      <p:transition spd="slow" advTm="17000">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1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168335" y="-1371600"/>
            <a:ext cx="5120640" cy="51206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828800" y="4114800"/>
            <a:ext cx="4206240" cy="42062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66928" y="384048"/>
            <a:ext cx="676656" cy="676656"/>
          </a:xfrm>
          <a:prstGeom prst="roundRect">
            <a:avLst>
              <a:gd name="adj" fmla="val 22000"/>
            </a:avLst>
          </a:prstGeom>
          <a:solidFill>
            <a:srgbClr val="7FD1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04120C"/>
                </a:solidFill>
                <a:latin typeface="Calibri"/>
              </a:rPr>
              <a:t>IV</a:t>
            </a:r>
          </a:p>
        </p:txBody>
      </p:sp>
      <p:sp>
        <p:nvSpPr>
          <p:cNvPr id="6" name="TextBox 5"/>
          <p:cNvSpPr txBox="1"/>
          <p:nvPr/>
        </p:nvSpPr>
        <p:spPr>
          <a:xfrm>
            <a:off x="1481328" y="402336"/>
            <a:ext cx="10143439" cy="201168"/>
          </a:xfrm>
          <a:prstGeom prst="rect">
            <a:avLst/>
          </a:prstGeom>
          <a:noFill/>
        </p:spPr>
        <p:txBody>
          <a:bodyPr wrap="square" anchor="t" lIns="0" rIns="0" tIns="0" bIns="0">
            <a:noAutofit/>
          </a:bodyPr>
          <a:lstStyle/>
          <a:p>
            <a:pPr algn="l">
              <a:lnSpc>
                <a:spcPct val="100000"/>
              </a:lnSpc>
              <a:spcAft>
                <a:spcPts val="0"/>
              </a:spcAft>
            </a:pPr>
            <a:r>
              <a:rPr sz="900" b="1" i="0">
                <a:solidFill>
                  <a:srgbClr val="7FD1AE"/>
                </a:solidFill>
                <a:latin typeface="Calibri"/>
              </a:rPr>
              <a:t>OBJECTIVES</a:t>
            </a:r>
          </a:p>
        </p:txBody>
      </p:sp>
      <p:sp>
        <p:nvSpPr>
          <p:cNvPr id="7" name="TextBox 6"/>
          <p:cNvSpPr txBox="1"/>
          <p:nvPr/>
        </p:nvSpPr>
        <p:spPr>
          <a:xfrm>
            <a:off x="1481328" y="621792"/>
            <a:ext cx="10143439" cy="457200"/>
          </a:xfrm>
          <a:prstGeom prst="rect">
            <a:avLst/>
          </a:prstGeom>
          <a:noFill/>
        </p:spPr>
        <p:txBody>
          <a:bodyPr wrap="square" anchor="t" lIns="0" rIns="0" tIns="0" bIns="0">
            <a:noAutofit/>
          </a:bodyPr>
          <a:lstStyle/>
          <a:p>
            <a:pPr algn="l">
              <a:lnSpc>
                <a:spcPct val="98000"/>
              </a:lnSpc>
              <a:spcAft>
                <a:spcPts val="0"/>
              </a:spcAft>
            </a:pPr>
            <a:r>
              <a:rPr sz="2400" b="1" i="0">
                <a:solidFill>
                  <a:srgbClr val="FFFFFF"/>
                </a:solidFill>
                <a:latin typeface="Calibri"/>
              </a:rPr>
              <a:t>Eight measurable goals by Month 12</a:t>
            </a:r>
          </a:p>
        </p:txBody>
      </p:sp>
      <p:sp>
        <p:nvSpPr>
          <p:cNvPr id="8" name="TextBox 7"/>
          <p:cNvSpPr txBox="1"/>
          <p:nvPr/>
        </p:nvSpPr>
        <p:spPr>
          <a:xfrm>
            <a:off x="1481328" y="1097280"/>
            <a:ext cx="10143439" cy="274320"/>
          </a:xfrm>
          <a:prstGeom prst="rect">
            <a:avLst/>
          </a:prstGeom>
          <a:noFill/>
        </p:spPr>
        <p:txBody>
          <a:bodyPr wrap="square" anchor="t" lIns="0" rIns="0" tIns="0" bIns="0">
            <a:noAutofit/>
          </a:bodyPr>
          <a:lstStyle/>
          <a:p>
            <a:pPr algn="l">
              <a:lnSpc>
                <a:spcPct val="105000"/>
              </a:lnSpc>
              <a:spcAft>
                <a:spcPts val="0"/>
              </a:spcAft>
            </a:pPr>
            <a:r>
              <a:rPr sz="1000" b="0" i="0">
                <a:solidFill>
                  <a:srgbClr val="9FBBAE"/>
                </a:solidFill>
                <a:latin typeface="Calibri"/>
              </a:rPr>
              <a:t>Baseline: 3-farm / 4-week pre-pilot audit in Buguias, Benguet (Q1 2026).</a:t>
            </a:r>
          </a:p>
        </p:txBody>
      </p:sp>
      <p:sp>
        <p:nvSpPr>
          <p:cNvPr id="9" name="Rounded Rectangle 8"/>
          <p:cNvSpPr/>
          <p:nvPr/>
        </p:nvSpPr>
        <p:spPr>
          <a:xfrm>
            <a:off x="566928" y="1481328"/>
            <a:ext cx="2627299" cy="987552"/>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000" b="1" i="0">
                <a:solidFill>
                  <a:srgbClr val="7FD1AE"/>
                </a:solidFill>
                <a:latin typeface="Calibri"/>
              </a:rPr>
              <a:t>3</a:t>
            </a:r>
          </a:p>
          <a:p>
            <a:pPr>
              <a:lnSpc>
                <a:spcPct val="100000"/>
              </a:lnSpc>
              <a:spcAft>
                <a:spcPts val="300"/>
              </a:spcAft>
            </a:pPr>
            <a:r>
              <a:rPr sz="800" b="1" i="0">
                <a:solidFill>
                  <a:srgbClr val="9FBBAE"/>
                </a:solidFill>
                <a:latin typeface="Calibri"/>
              </a:rPr>
              <a:t>HUBS INSTALLED</a:t>
            </a:r>
          </a:p>
          <a:p>
            <a:pPr>
              <a:lnSpc>
                <a:spcPct val="100000"/>
              </a:lnSpc>
              <a:spcAft>
                <a:spcPts val="300"/>
              </a:spcAft>
            </a:pPr>
            <a:r>
              <a:rPr sz="780" b="0" i="0">
                <a:solidFill>
                  <a:srgbClr val="7E9D8F"/>
                </a:solidFill>
                <a:latin typeface="Calibri"/>
              </a:rPr>
              <a:t>2 t each: Buguias, Atok, La Trinidad.</a:t>
            </a:r>
          </a:p>
        </p:txBody>
      </p:sp>
      <p:sp>
        <p:nvSpPr>
          <p:cNvPr id="10" name="Rounded Rectangle 9"/>
          <p:cNvSpPr/>
          <p:nvPr/>
        </p:nvSpPr>
        <p:spPr>
          <a:xfrm>
            <a:off x="3377107" y="1481328"/>
            <a:ext cx="2627299" cy="987552"/>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000" b="1" i="0">
                <a:solidFill>
                  <a:srgbClr val="7FD1AE"/>
                </a:solidFill>
                <a:latin typeface="Calibri"/>
              </a:rPr>
              <a:t>120</a:t>
            </a:r>
          </a:p>
          <a:p>
            <a:pPr>
              <a:lnSpc>
                <a:spcPct val="100000"/>
              </a:lnSpc>
              <a:spcAft>
                <a:spcPts val="300"/>
              </a:spcAft>
            </a:pPr>
            <a:r>
              <a:rPr sz="800" b="1" i="0">
                <a:solidFill>
                  <a:srgbClr val="9FBBAE"/>
                </a:solidFill>
                <a:latin typeface="Calibri"/>
              </a:rPr>
              <a:t>FARMER-MEMBERS</a:t>
            </a:r>
          </a:p>
          <a:p>
            <a:pPr>
              <a:lnSpc>
                <a:spcPct val="100000"/>
              </a:lnSpc>
              <a:spcAft>
                <a:spcPts val="300"/>
              </a:spcAft>
            </a:pPr>
            <a:r>
              <a:rPr sz="780" b="0" i="0">
                <a:solidFill>
                  <a:srgbClr val="7E9D8F"/>
                </a:solidFill>
                <a:latin typeface="Calibri"/>
              </a:rPr>
              <a:t>≥40% women-led farm households.</a:t>
            </a:r>
          </a:p>
        </p:txBody>
      </p:sp>
      <p:sp>
        <p:nvSpPr>
          <p:cNvPr id="11" name="Rounded Rectangle 10"/>
          <p:cNvSpPr/>
          <p:nvPr/>
        </p:nvSpPr>
        <p:spPr>
          <a:xfrm>
            <a:off x="6187287" y="1481328"/>
            <a:ext cx="2627299" cy="987552"/>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000" b="1" i="0">
                <a:solidFill>
                  <a:srgbClr val="7FD1AE"/>
                </a:solidFill>
                <a:latin typeface="Calibri"/>
              </a:rPr>
              <a:t>240 t</a:t>
            </a:r>
          </a:p>
          <a:p>
            <a:pPr>
              <a:lnSpc>
                <a:spcPct val="100000"/>
              </a:lnSpc>
              <a:spcAft>
                <a:spcPts val="300"/>
              </a:spcAft>
            </a:pPr>
            <a:r>
              <a:rPr sz="800" b="1" i="0">
                <a:solidFill>
                  <a:srgbClr val="9FBBAE"/>
                </a:solidFill>
                <a:latin typeface="Calibri"/>
              </a:rPr>
              <a:t>PRODUCE COOLED</a:t>
            </a:r>
          </a:p>
          <a:p>
            <a:pPr>
              <a:lnSpc>
                <a:spcPct val="100000"/>
              </a:lnSpc>
              <a:spcAft>
                <a:spcPts val="300"/>
              </a:spcAft>
            </a:pPr>
            <a:r>
              <a:rPr sz="780" b="0" i="0">
                <a:solidFill>
                  <a:srgbClr val="7E9D8F"/>
                </a:solidFill>
                <a:latin typeface="Calibri"/>
              </a:rPr>
              <a:t>Cumulative throughput, Year 1.</a:t>
            </a:r>
          </a:p>
        </p:txBody>
      </p:sp>
      <p:sp>
        <p:nvSpPr>
          <p:cNvPr id="12" name="Rounded Rectangle 11"/>
          <p:cNvSpPr/>
          <p:nvPr/>
        </p:nvSpPr>
        <p:spPr>
          <a:xfrm>
            <a:off x="8997467" y="1481328"/>
            <a:ext cx="2627299" cy="987552"/>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000" b="1" i="0">
                <a:solidFill>
                  <a:srgbClr val="F2A33C"/>
                </a:solidFill>
                <a:latin typeface="Calibri"/>
              </a:rPr>
              <a:t>35→15%</a:t>
            </a:r>
          </a:p>
          <a:p>
            <a:pPr>
              <a:lnSpc>
                <a:spcPct val="100000"/>
              </a:lnSpc>
              <a:spcAft>
                <a:spcPts val="300"/>
              </a:spcAft>
            </a:pPr>
            <a:r>
              <a:rPr sz="800" b="1" i="0">
                <a:solidFill>
                  <a:srgbClr val="9FBBAE"/>
                </a:solidFill>
                <a:latin typeface="Calibri"/>
              </a:rPr>
              <a:t>POST-HARVEST LOSS</a:t>
            </a:r>
          </a:p>
          <a:p>
            <a:pPr>
              <a:lnSpc>
                <a:spcPct val="100000"/>
              </a:lnSpc>
              <a:spcAft>
                <a:spcPts val="300"/>
              </a:spcAft>
            </a:pPr>
            <a:r>
              <a:rPr sz="780" b="0" i="0">
                <a:solidFill>
                  <a:srgbClr val="7E9D8F"/>
                </a:solidFill>
                <a:latin typeface="Calibri"/>
              </a:rPr>
              <a:t>Measured in kg vs control group.</a:t>
            </a:r>
          </a:p>
        </p:txBody>
      </p:sp>
      <p:sp>
        <p:nvSpPr>
          <p:cNvPr id="13" name="Rounded Rectangle 12"/>
          <p:cNvSpPr/>
          <p:nvPr/>
        </p:nvSpPr>
        <p:spPr>
          <a:xfrm>
            <a:off x="566928" y="2596896"/>
            <a:ext cx="2627299" cy="987552"/>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000" b="1" i="0">
                <a:solidFill>
                  <a:srgbClr val="F2A33C"/>
                </a:solidFill>
                <a:latin typeface="Calibri"/>
              </a:rPr>
              <a:t>+35%</a:t>
            </a:r>
          </a:p>
          <a:p>
            <a:pPr>
              <a:lnSpc>
                <a:spcPct val="100000"/>
              </a:lnSpc>
              <a:spcAft>
                <a:spcPts val="300"/>
              </a:spcAft>
            </a:pPr>
            <a:r>
              <a:rPr sz="800" b="1" i="0">
                <a:solidFill>
                  <a:srgbClr val="9FBBAE"/>
                </a:solidFill>
                <a:latin typeface="Calibri"/>
              </a:rPr>
              <a:t>FARMER NET INCOME</a:t>
            </a:r>
          </a:p>
          <a:p>
            <a:pPr>
              <a:lnSpc>
                <a:spcPct val="100000"/>
              </a:lnSpc>
              <a:spcAft>
                <a:spcPts val="300"/>
              </a:spcAft>
            </a:pPr>
            <a:r>
              <a:rPr sz="780" b="0" i="0">
                <a:solidFill>
                  <a:srgbClr val="7E9D8F"/>
                </a:solidFill>
                <a:latin typeface="Calibri"/>
              </a:rPr>
              <a:t>Per kg sold, vs pre-pilot baseline.</a:t>
            </a:r>
          </a:p>
        </p:txBody>
      </p:sp>
      <p:sp>
        <p:nvSpPr>
          <p:cNvPr id="14" name="Rounded Rectangle 13"/>
          <p:cNvSpPr/>
          <p:nvPr/>
        </p:nvSpPr>
        <p:spPr>
          <a:xfrm>
            <a:off x="3377107" y="2596896"/>
            <a:ext cx="2627299" cy="987552"/>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000" b="1" i="0">
                <a:solidFill>
                  <a:srgbClr val="7FD1AE"/>
                </a:solidFill>
                <a:latin typeface="Calibri"/>
              </a:rPr>
              <a:t>18 t</a:t>
            </a:r>
          </a:p>
          <a:p>
            <a:pPr>
              <a:lnSpc>
                <a:spcPct val="100000"/>
              </a:lnSpc>
              <a:spcAft>
                <a:spcPts val="300"/>
              </a:spcAft>
            </a:pPr>
            <a:r>
              <a:rPr sz="800" b="1" i="0">
                <a:solidFill>
                  <a:srgbClr val="9FBBAE"/>
                </a:solidFill>
                <a:latin typeface="Calibri"/>
              </a:rPr>
              <a:t>CO₂E AVOIDED</a:t>
            </a:r>
          </a:p>
          <a:p>
            <a:pPr>
              <a:lnSpc>
                <a:spcPct val="100000"/>
              </a:lnSpc>
              <a:spcAft>
                <a:spcPts val="300"/>
              </a:spcAft>
            </a:pPr>
            <a:r>
              <a:rPr sz="780" b="0" i="0">
                <a:solidFill>
                  <a:srgbClr val="7E9D8F"/>
                </a:solidFill>
                <a:latin typeface="Calibri"/>
              </a:rPr>
              <a:t>Food-loss + diesel reefer avoided.</a:t>
            </a:r>
          </a:p>
        </p:txBody>
      </p:sp>
      <p:sp>
        <p:nvSpPr>
          <p:cNvPr id="15" name="Rounded Rectangle 14"/>
          <p:cNvSpPr/>
          <p:nvPr/>
        </p:nvSpPr>
        <p:spPr>
          <a:xfrm>
            <a:off x="6187287" y="2596896"/>
            <a:ext cx="2627299" cy="987552"/>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000" b="1" i="0">
                <a:solidFill>
                  <a:srgbClr val="7FD1AE"/>
                </a:solidFill>
                <a:latin typeface="Calibri"/>
              </a:rPr>
              <a:t>99%</a:t>
            </a:r>
          </a:p>
          <a:p>
            <a:pPr>
              <a:lnSpc>
                <a:spcPct val="100000"/>
              </a:lnSpc>
              <a:spcAft>
                <a:spcPts val="300"/>
              </a:spcAft>
            </a:pPr>
            <a:r>
              <a:rPr sz="800" b="1" i="0">
                <a:solidFill>
                  <a:srgbClr val="9FBBAE"/>
                </a:solidFill>
                <a:latin typeface="Calibri"/>
              </a:rPr>
              <a:t>HUB UPTIME</a:t>
            </a:r>
          </a:p>
          <a:p>
            <a:pPr>
              <a:lnSpc>
                <a:spcPct val="100000"/>
              </a:lnSpc>
              <a:spcAft>
                <a:spcPts val="300"/>
              </a:spcAft>
            </a:pPr>
            <a:r>
              <a:rPr sz="780" b="0" i="0">
                <a:solidFill>
                  <a:srgbClr val="7E9D8F"/>
                </a:solidFill>
                <a:latin typeface="Calibri"/>
              </a:rPr>
              <a:t>Temperature-log compliance ≥98%.</a:t>
            </a:r>
          </a:p>
        </p:txBody>
      </p:sp>
      <p:sp>
        <p:nvSpPr>
          <p:cNvPr id="16" name="Rounded Rectangle 15"/>
          <p:cNvSpPr/>
          <p:nvPr/>
        </p:nvSpPr>
        <p:spPr>
          <a:xfrm>
            <a:off x="8997467" y="2596896"/>
            <a:ext cx="2627299" cy="987552"/>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000" b="1" i="0">
                <a:solidFill>
                  <a:srgbClr val="7FD1AE"/>
                </a:solidFill>
                <a:latin typeface="Calibri"/>
              </a:rPr>
              <a:t>24 hrs</a:t>
            </a:r>
          </a:p>
          <a:p>
            <a:pPr>
              <a:lnSpc>
                <a:spcPct val="100000"/>
              </a:lnSpc>
              <a:spcAft>
                <a:spcPts val="300"/>
              </a:spcAft>
            </a:pPr>
            <a:r>
              <a:rPr sz="800" b="1" i="0">
                <a:solidFill>
                  <a:srgbClr val="9FBBAE"/>
                </a:solidFill>
                <a:latin typeface="Calibri"/>
              </a:rPr>
              <a:t>PAYOUT TURNAROUND</a:t>
            </a:r>
          </a:p>
          <a:p>
            <a:pPr>
              <a:lnSpc>
                <a:spcPct val="100000"/>
              </a:lnSpc>
              <a:spcAft>
                <a:spcPts val="300"/>
              </a:spcAft>
            </a:pPr>
            <a:r>
              <a:rPr sz="780" b="0" i="0">
                <a:solidFill>
                  <a:srgbClr val="7E9D8F"/>
                </a:solidFill>
                <a:latin typeface="Calibri"/>
              </a:rPr>
              <a:t>Delivery to e-wallet credit.</a:t>
            </a:r>
          </a:p>
        </p:txBody>
      </p:sp>
      <p:sp>
        <p:nvSpPr>
          <p:cNvPr id="17" name="Rounded Rectangle 16"/>
          <p:cNvSpPr/>
          <p:nvPr/>
        </p:nvSpPr>
        <p:spPr>
          <a:xfrm>
            <a:off x="566928" y="3877056"/>
            <a:ext cx="5428335" cy="1170432"/>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  </a:t>
            </a:r>
            <a:r>
              <a:rPr sz="1150" b="1" i="0">
                <a:solidFill>
                  <a:srgbClr val="FFFFFF"/>
                </a:solidFill>
                <a:latin typeface="Calibri"/>
              </a:rPr>
              <a:t>Impact objectives</a:t>
            </a:r>
          </a:p>
          <a:p>
            <a:pPr>
              <a:lnSpc>
                <a:spcPct val="102000"/>
              </a:lnSpc>
              <a:spcAft>
                <a:spcPts val="400"/>
              </a:spcAft>
            </a:pPr>
            <a:r>
              <a:rPr sz="950" b="0" i="0">
                <a:solidFill>
                  <a:srgbClr val="CBE2D7"/>
                </a:solidFill>
                <a:latin typeface="Calibri"/>
              </a:rPr>
              <a:t>Cut measurable food loss, raise household income, and displace diesel-based reefer hauling with solar-cooled consolidation — all verified against a control group.</a:t>
            </a:r>
          </a:p>
        </p:txBody>
      </p:sp>
      <p:sp>
        <p:nvSpPr>
          <p:cNvPr id="18" name="Rounded Rectangle 17"/>
          <p:cNvSpPr/>
          <p:nvPr/>
        </p:nvSpPr>
        <p:spPr>
          <a:xfrm>
            <a:off x="6196431" y="3877056"/>
            <a:ext cx="5428335" cy="1170432"/>
          </a:xfrm>
          <a:prstGeom prst="roundRect">
            <a:avLst>
              <a:gd name="adj" fmla="val 6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F2A33C"/>
                </a:solidFill>
                <a:latin typeface="Calibri"/>
              </a:rPr>
              <a:t>⚙  </a:t>
            </a:r>
            <a:r>
              <a:rPr sz="1150" b="1" i="0">
                <a:solidFill>
                  <a:srgbClr val="FFFFFF"/>
                </a:solidFill>
                <a:latin typeface="Calibri"/>
              </a:rPr>
              <a:t>Operational objectives</a:t>
            </a:r>
          </a:p>
          <a:p>
            <a:pPr>
              <a:lnSpc>
                <a:spcPct val="102000"/>
              </a:lnSpc>
              <a:spcAft>
                <a:spcPts val="400"/>
              </a:spcAft>
            </a:pPr>
            <a:r>
              <a:rPr sz="950" b="0" i="0">
                <a:solidFill>
                  <a:srgbClr val="CBE2D7"/>
                </a:solidFill>
                <a:latin typeface="Calibri"/>
              </a:rPr>
              <a:t>Prove a repeatable hub playbook: install in 21 days, onboard a farmer in under 15 minutes, and reach ₱33,000 monthly contribution per hub by Month 12.</a:t>
            </a:r>
          </a:p>
        </p:txBody>
      </p:sp>
    </p:spTree>
  </p:cSld>
  <p:clrMapOvr>
    <a:masterClrMapping/>
  </p:clrMapOvr>
  <mc:AlternateContent xmlns:mc="http://schemas.openxmlformats.org/markup-compatibility/2006">
    <mc:Choice xmlns:p14="http://schemas.microsoft.com/office/powerpoint/2010/main" Requires="p14">
      <p:transition advTm="16000" p14:dur="1100">
        <p14:cube dir="l"/>
      </p:transition>
    </mc:Choice>
    <mc:Fallback>
      <p:transition spd="slow" advTm="16000">
        <p:push dir="l"/>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1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168335" y="-1371600"/>
            <a:ext cx="5120640" cy="51206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828800" y="4114800"/>
            <a:ext cx="4206240" cy="42062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66928" y="384048"/>
            <a:ext cx="676656" cy="676656"/>
          </a:xfrm>
          <a:prstGeom prst="roundRect">
            <a:avLst>
              <a:gd name="adj" fmla="val 22000"/>
            </a:avLst>
          </a:prstGeom>
          <a:solidFill>
            <a:srgbClr val="7FD1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04120C"/>
                </a:solidFill>
                <a:latin typeface="Calibri"/>
              </a:rPr>
              <a:t>V</a:t>
            </a:r>
          </a:p>
        </p:txBody>
      </p:sp>
      <p:sp>
        <p:nvSpPr>
          <p:cNvPr id="6" name="TextBox 5"/>
          <p:cNvSpPr txBox="1"/>
          <p:nvPr/>
        </p:nvSpPr>
        <p:spPr>
          <a:xfrm>
            <a:off x="1481328" y="402336"/>
            <a:ext cx="10143439" cy="201168"/>
          </a:xfrm>
          <a:prstGeom prst="rect">
            <a:avLst/>
          </a:prstGeom>
          <a:noFill/>
        </p:spPr>
        <p:txBody>
          <a:bodyPr wrap="square" anchor="t" lIns="0" rIns="0" tIns="0" bIns="0">
            <a:noAutofit/>
          </a:bodyPr>
          <a:lstStyle/>
          <a:p>
            <a:pPr algn="l">
              <a:lnSpc>
                <a:spcPct val="100000"/>
              </a:lnSpc>
              <a:spcAft>
                <a:spcPts val="0"/>
              </a:spcAft>
            </a:pPr>
            <a:r>
              <a:rPr sz="900" b="1" i="0">
                <a:solidFill>
                  <a:srgbClr val="7FD1AE"/>
                </a:solidFill>
                <a:latin typeface="Calibri"/>
              </a:rPr>
              <a:t>TARGET MARKET / BENEFICIARIES</a:t>
            </a:r>
          </a:p>
        </p:txBody>
      </p:sp>
      <p:sp>
        <p:nvSpPr>
          <p:cNvPr id="7" name="TextBox 6"/>
          <p:cNvSpPr txBox="1"/>
          <p:nvPr/>
        </p:nvSpPr>
        <p:spPr>
          <a:xfrm>
            <a:off x="1481328" y="621792"/>
            <a:ext cx="10143439" cy="457200"/>
          </a:xfrm>
          <a:prstGeom prst="rect">
            <a:avLst/>
          </a:prstGeom>
          <a:noFill/>
        </p:spPr>
        <p:txBody>
          <a:bodyPr wrap="square" anchor="t" lIns="0" rIns="0" tIns="0" bIns="0">
            <a:noAutofit/>
          </a:bodyPr>
          <a:lstStyle/>
          <a:p>
            <a:pPr algn="l">
              <a:lnSpc>
                <a:spcPct val="98000"/>
              </a:lnSpc>
              <a:spcAft>
                <a:spcPts val="0"/>
              </a:spcAft>
            </a:pPr>
            <a:r>
              <a:rPr sz="2400" b="1" i="0">
                <a:solidFill>
                  <a:srgbClr val="FFFFFF"/>
                </a:solidFill>
                <a:latin typeface="Calibri"/>
              </a:rPr>
              <a:t>Who we serve, and who pays</a:t>
            </a:r>
          </a:p>
        </p:txBody>
      </p:sp>
      <p:sp>
        <p:nvSpPr>
          <p:cNvPr id="8" name="Rounded Rectangle 7"/>
          <p:cNvSpPr/>
          <p:nvPr/>
        </p:nvSpPr>
        <p:spPr>
          <a:xfrm>
            <a:off x="566928" y="1170432"/>
            <a:ext cx="3551834" cy="2788920"/>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  </a:t>
            </a:r>
            <a:r>
              <a:rPr sz="1150" b="1" i="0">
                <a:solidFill>
                  <a:srgbClr val="FFFFFF"/>
                </a:solidFill>
                <a:latin typeface="Calibri"/>
              </a:rPr>
              <a:t>Primary — beneficiaries</a:t>
            </a:r>
          </a:p>
          <a:p>
            <a:pPr>
              <a:lnSpc>
                <a:spcPct val="100000"/>
              </a:lnSpc>
              <a:spcAft>
                <a:spcPts val="400"/>
              </a:spcAft>
            </a:pPr>
            <a:r>
              <a:rPr sz="2600" b="1" i="0">
                <a:solidFill>
                  <a:srgbClr val="7FD1AE"/>
                </a:solidFill>
                <a:latin typeface="Calibri"/>
              </a:rPr>
              <a:t>~60,000</a:t>
            </a:r>
          </a:p>
          <a:p>
            <a:pPr>
              <a:lnSpc>
                <a:spcPct val="100000"/>
              </a:lnSpc>
              <a:spcAft>
                <a:spcPts val="500"/>
              </a:spcAft>
            </a:pPr>
            <a:r>
              <a:rPr sz="950" b="0" i="0">
                <a:solidFill>
                  <a:srgbClr val="CBE2D7"/>
                </a:solidFill>
                <a:latin typeface="Calibri"/>
              </a:rPr>
              <a:t>smallholder vegetable farmers in Benguet (average farm size 1.3 ha), plus their cooperatives and PCAs.</a:t>
            </a:r>
          </a:p>
          <a:p>
            <a:pPr>
              <a:lnSpc>
                <a:spcPct val="100000"/>
              </a:lnSpc>
              <a:spcAft>
                <a:spcPts val="300"/>
              </a:spcAft>
            </a:pPr>
            <a:r>
              <a:rPr sz="930" b="1">
                <a:solidFill>
                  <a:srgbClr val="7FD1AE"/>
                </a:solidFill>
                <a:latin typeface="Calibri"/>
              </a:rPr>
              <a:t>▪  </a:t>
            </a:r>
            <a:r>
              <a:rPr sz="930" b="0" i="0">
                <a:solidFill>
                  <a:srgbClr val="CBE2D7"/>
                </a:solidFill>
                <a:latin typeface="Calibri"/>
              </a:rPr>
              <a:t>Gross income ₱2,000–5,000/month; ages 45–65</a:t>
            </a:r>
          </a:p>
          <a:p>
            <a:pPr>
              <a:lnSpc>
                <a:spcPct val="100000"/>
              </a:lnSpc>
              <a:spcAft>
                <a:spcPts val="300"/>
              </a:spcAft>
            </a:pPr>
            <a:r>
              <a:rPr sz="930" b="1">
                <a:solidFill>
                  <a:srgbClr val="7FD1AE"/>
                </a:solidFill>
                <a:latin typeface="Calibri"/>
              </a:rPr>
              <a:t>▪  </a:t>
            </a:r>
            <a:r>
              <a:rPr sz="930" b="0" i="0">
                <a:solidFill>
                  <a:srgbClr val="CBE2D7"/>
                </a:solidFill>
                <a:latin typeface="Calibri"/>
              </a:rPr>
              <a:t>Mobile-first but low digital literacy today</a:t>
            </a:r>
          </a:p>
          <a:p>
            <a:pPr>
              <a:lnSpc>
                <a:spcPct val="100000"/>
              </a:lnSpc>
              <a:spcAft>
                <a:spcPts val="300"/>
              </a:spcAft>
            </a:pPr>
            <a:r>
              <a:rPr sz="930" b="1">
                <a:solidFill>
                  <a:srgbClr val="7FD1AE"/>
                </a:solidFill>
                <a:latin typeface="Calibri"/>
              </a:rPr>
              <a:t>▪  </a:t>
            </a:r>
            <a:r>
              <a:rPr sz="930" b="0" i="0">
                <a:solidFill>
                  <a:srgbClr val="CBE2D7"/>
                </a:solidFill>
                <a:latin typeface="Calibri"/>
              </a:rPr>
              <a:t>Pain: spoilage, 7–30 day payment, no grading</a:t>
            </a:r>
          </a:p>
        </p:txBody>
      </p:sp>
      <p:sp>
        <p:nvSpPr>
          <p:cNvPr id="9" name="Rounded Rectangle 8"/>
          <p:cNvSpPr/>
          <p:nvPr/>
        </p:nvSpPr>
        <p:spPr>
          <a:xfrm>
            <a:off x="4319930" y="1170432"/>
            <a:ext cx="3551834" cy="2788920"/>
          </a:xfrm>
          <a:prstGeom prst="roundRect">
            <a:avLst>
              <a:gd name="adj" fmla="val 6000"/>
            </a:avLst>
          </a:prstGeom>
          <a:solidFill>
            <a:srgbClr val="0C2E22"/>
          </a:solidFill>
          <a:ln w="11430">
            <a:solidFill>
              <a:srgbClr val="8FD4E8"/>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8FD4E8"/>
                </a:solidFill>
                <a:latin typeface="Calibri"/>
              </a:rPr>
              <a:t>◍  </a:t>
            </a:r>
            <a:r>
              <a:rPr sz="1150" b="1" i="0">
                <a:solidFill>
                  <a:srgbClr val="FFFFFF"/>
                </a:solidFill>
                <a:latin typeface="Calibri"/>
              </a:rPr>
              <a:t>Secondary — the paying side</a:t>
            </a:r>
          </a:p>
          <a:p>
            <a:pPr>
              <a:lnSpc>
                <a:spcPct val="100000"/>
              </a:lnSpc>
              <a:spcAft>
                <a:spcPts val="300"/>
              </a:spcAft>
            </a:pPr>
            <a:r>
              <a:rPr sz="930" b="1">
                <a:solidFill>
                  <a:srgbClr val="8FD4E8"/>
                </a:solidFill>
                <a:latin typeface="Calibri"/>
              </a:rPr>
              <a:t>▪  </a:t>
            </a:r>
            <a:r>
              <a:rPr sz="930" b="0" i="0">
                <a:solidFill>
                  <a:srgbClr val="CBE2D7"/>
                </a:solidFill>
                <a:latin typeface="Calibri"/>
              </a:rPr>
              <a:t>Market vendors and bagsakan traders need graded stock with longer shelf life.</a:t>
            </a:r>
          </a:p>
          <a:p>
            <a:pPr>
              <a:lnSpc>
                <a:spcPct val="100000"/>
              </a:lnSpc>
              <a:spcAft>
                <a:spcPts val="300"/>
              </a:spcAft>
            </a:pPr>
            <a:r>
              <a:rPr sz="930" b="1">
                <a:solidFill>
                  <a:srgbClr val="8FD4E8"/>
                </a:solidFill>
                <a:latin typeface="Calibri"/>
              </a:rPr>
              <a:t>▪  </a:t>
            </a:r>
            <a:r>
              <a:rPr sz="930" b="0" i="0">
                <a:solidFill>
                  <a:srgbClr val="CBE2D7"/>
                </a:solidFill>
                <a:latin typeface="Calibri"/>
              </a:rPr>
              <a:t>Restaurants, carinderias and e-grocery suppliers need consistent volumes.</a:t>
            </a:r>
          </a:p>
          <a:p>
            <a:pPr>
              <a:lnSpc>
                <a:spcPct val="100000"/>
              </a:lnSpc>
              <a:spcAft>
                <a:spcPts val="300"/>
              </a:spcAft>
            </a:pPr>
            <a:r>
              <a:rPr sz="930" b="1">
                <a:solidFill>
                  <a:srgbClr val="8FD4E8"/>
                </a:solidFill>
                <a:latin typeface="Calibri"/>
              </a:rPr>
              <a:t>▪  </a:t>
            </a:r>
            <a:r>
              <a:rPr sz="930" b="0" i="0">
                <a:solidFill>
                  <a:srgbClr val="CBE2D7"/>
                </a:solidFill>
                <a:latin typeface="Calibri"/>
              </a:rPr>
              <a:t>Processors and exporters need traceable raw materials.</a:t>
            </a:r>
          </a:p>
          <a:p>
            <a:pPr>
              <a:lnSpc>
                <a:spcPct val="100000"/>
              </a:lnSpc>
              <a:spcAft>
                <a:spcPts val="300"/>
              </a:spcAft>
            </a:pPr>
            <a:r>
              <a:rPr sz="930" b="1">
                <a:solidFill>
                  <a:srgbClr val="8FD4E8"/>
                </a:solidFill>
                <a:latin typeface="Calibri"/>
              </a:rPr>
              <a:t>▪  </a:t>
            </a:r>
            <a:r>
              <a:rPr sz="930" b="0" i="0">
                <a:solidFill>
                  <a:srgbClr val="CBE2D7"/>
                </a:solidFill>
                <a:latin typeface="Calibri"/>
              </a:rPr>
              <a:t>Cooperatives and LGUs need loss-reduction analytics and reporting.</a:t>
            </a:r>
          </a:p>
        </p:txBody>
      </p:sp>
      <p:sp>
        <p:nvSpPr>
          <p:cNvPr id="10" name="Rounded Rectangle 9"/>
          <p:cNvSpPr/>
          <p:nvPr/>
        </p:nvSpPr>
        <p:spPr>
          <a:xfrm>
            <a:off x="8072932" y="1170432"/>
            <a:ext cx="3551834" cy="2788920"/>
          </a:xfrm>
          <a:prstGeom prst="roundRect">
            <a:avLst>
              <a:gd name="adj" fmla="val 6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F2A33C"/>
                </a:solidFill>
                <a:latin typeface="Calibri"/>
              </a:rPr>
              <a:t>◆  </a:t>
            </a:r>
            <a:r>
              <a:rPr sz="1150" b="1" i="0">
                <a:solidFill>
                  <a:srgbClr val="FFFFFF"/>
                </a:solidFill>
                <a:latin typeface="Calibri"/>
              </a:rPr>
              <a:t>Persona: Mang Ben, 52</a:t>
            </a:r>
          </a:p>
          <a:p>
            <a:pPr>
              <a:lnSpc>
                <a:spcPct val="100000"/>
              </a:lnSpc>
              <a:spcAft>
                <a:spcPts val="300"/>
              </a:spcAft>
            </a:pPr>
            <a:r>
              <a:rPr sz="930" b="1">
                <a:solidFill>
                  <a:srgbClr val="F2A33C"/>
                </a:solidFill>
                <a:latin typeface="Calibri"/>
              </a:rPr>
              <a:t>▪  </a:t>
            </a:r>
            <a:r>
              <a:rPr sz="930" b="0" i="0">
                <a:solidFill>
                  <a:srgbClr val="CBE2D7"/>
                </a:solidFill>
                <a:latin typeface="Calibri"/>
              </a:rPr>
              <a:t>1.3 ha in Buguias; harvests carrots and cabbage twice a week.</a:t>
            </a:r>
          </a:p>
          <a:p>
            <a:pPr>
              <a:lnSpc>
                <a:spcPct val="100000"/>
              </a:lnSpc>
              <a:spcAft>
                <a:spcPts val="300"/>
              </a:spcAft>
            </a:pPr>
            <a:r>
              <a:rPr sz="930" b="1">
                <a:solidFill>
                  <a:srgbClr val="F2A33C"/>
                </a:solidFill>
                <a:latin typeface="Calibri"/>
              </a:rPr>
              <a:t>▪  </a:t>
            </a:r>
            <a:r>
              <a:rPr sz="930" b="0" i="0">
                <a:solidFill>
                  <a:srgbClr val="CBE2D7"/>
                </a:solidFill>
                <a:latin typeface="Calibri"/>
              </a:rPr>
              <a:t>Grade-2 kilos sell for ₱5/kg — often left at the roadside.</a:t>
            </a:r>
          </a:p>
          <a:p>
            <a:pPr>
              <a:lnSpc>
                <a:spcPct val="100000"/>
              </a:lnSpc>
              <a:spcAft>
                <a:spcPts val="300"/>
              </a:spcAft>
            </a:pPr>
            <a:r>
              <a:rPr sz="930" b="1">
                <a:solidFill>
                  <a:srgbClr val="F2A33C"/>
                </a:solidFill>
                <a:latin typeface="Calibri"/>
              </a:rPr>
              <a:t>▪  </a:t>
            </a:r>
            <a:r>
              <a:rPr sz="930" b="0" i="0">
                <a:solidFill>
                  <a:srgbClr val="CBE2D7"/>
                </a:solidFill>
                <a:latin typeface="Calibri"/>
              </a:rPr>
              <a:t>Paid 7–30 days later by a disposer.</a:t>
            </a:r>
          </a:p>
          <a:p>
            <a:pPr>
              <a:lnSpc>
                <a:spcPct val="100000"/>
              </a:lnSpc>
              <a:spcAft>
                <a:spcPts val="300"/>
              </a:spcAft>
            </a:pPr>
            <a:r>
              <a:rPr sz="930" b="1">
                <a:solidFill>
                  <a:srgbClr val="F2A33C"/>
                </a:solidFill>
                <a:latin typeface="Calibri"/>
              </a:rPr>
              <a:t>▪  </a:t>
            </a:r>
            <a:r>
              <a:rPr sz="930" b="0" i="0">
                <a:solidFill>
                  <a:srgbClr val="CBE2D7"/>
                </a:solidFill>
                <a:latin typeface="Calibri"/>
              </a:rPr>
              <a:t>Wants: a fair price, paid fast, and no spoilage.</a:t>
            </a:r>
          </a:p>
        </p:txBody>
      </p:sp>
      <p:sp>
        <p:nvSpPr>
          <p:cNvPr id="11" name="TextBox 10"/>
          <p:cNvSpPr txBox="1"/>
          <p:nvPr/>
        </p:nvSpPr>
        <p:spPr>
          <a:xfrm>
            <a:off x="566928" y="4114800"/>
            <a:ext cx="11057839" cy="228600"/>
          </a:xfrm>
          <a:prstGeom prst="rect">
            <a:avLst/>
          </a:prstGeom>
          <a:noFill/>
        </p:spPr>
        <p:txBody>
          <a:bodyPr wrap="square" anchor="t" lIns="0" rIns="0" tIns="0" bIns="0">
            <a:noAutofit/>
          </a:bodyPr>
          <a:lstStyle/>
          <a:p>
            <a:pPr algn="l">
              <a:lnSpc>
                <a:spcPct val="100000"/>
              </a:lnSpc>
              <a:spcAft>
                <a:spcPts val="0"/>
              </a:spcAft>
            </a:pPr>
            <a:r>
              <a:rPr sz="800" b="1" i="0">
                <a:solidFill>
                  <a:srgbClr val="9FBBAE"/>
                </a:solidFill>
                <a:latin typeface="Calibri"/>
              </a:rPr>
              <a:t>EXPANSION PATH</a:t>
            </a:r>
          </a:p>
        </p:txBody>
      </p:sp>
      <p:sp>
        <p:nvSpPr>
          <p:cNvPr id="12" name="Rounded Rectangle 11"/>
          <p:cNvSpPr/>
          <p:nvPr/>
        </p:nvSpPr>
        <p:spPr>
          <a:xfrm>
            <a:off x="566928" y="4352544"/>
            <a:ext cx="3548237" cy="310896"/>
          </a:xfrm>
          <a:prstGeom prst="roundRect">
            <a:avLst>
              <a:gd name="adj" fmla="val 50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2A33C"/>
                </a:solidFill>
                <a:latin typeface="Calibri"/>
              </a:rPr>
              <a:t>Beachhead 2026 · Buguias, Atok, La Trinidad</a:t>
            </a:r>
          </a:p>
        </p:txBody>
      </p:sp>
      <p:sp>
        <p:nvSpPr>
          <p:cNvPr id="13" name="Rounded Rectangle 12"/>
          <p:cNvSpPr/>
          <p:nvPr/>
        </p:nvSpPr>
        <p:spPr>
          <a:xfrm>
            <a:off x="4206605" y="4352544"/>
            <a:ext cx="3396813" cy="310896"/>
          </a:xfrm>
          <a:prstGeom prst="roundRect">
            <a:avLst>
              <a:gd name="adj" fmla="val 50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7FD1AE"/>
                </a:solidFill>
                <a:latin typeface="Calibri"/>
              </a:rPr>
              <a:t>Year 2 · Nueva Vizcaya, Mountain Province</a:t>
            </a:r>
          </a:p>
        </p:txBody>
      </p:sp>
      <p:sp>
        <p:nvSpPr>
          <p:cNvPr id="14" name="Rounded Rectangle 13"/>
          <p:cNvSpPr/>
          <p:nvPr/>
        </p:nvSpPr>
        <p:spPr>
          <a:xfrm>
            <a:off x="7694858" y="4352544"/>
            <a:ext cx="2942539" cy="310896"/>
          </a:xfrm>
          <a:prstGeom prst="roundRect">
            <a:avLst>
              <a:gd name="adj" fmla="val 50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7FD1AE"/>
                </a:solidFill>
                <a:latin typeface="Calibri"/>
              </a:rPr>
              <a:t>Year 3 · Ilocos tomato, Cebu, Davao</a:t>
            </a:r>
          </a:p>
        </p:txBody>
      </p:sp>
      <p:sp>
        <p:nvSpPr>
          <p:cNvPr id="15" name="TextBox 14"/>
          <p:cNvSpPr txBox="1"/>
          <p:nvPr/>
        </p:nvSpPr>
        <p:spPr>
          <a:xfrm>
            <a:off x="566928" y="6382512"/>
            <a:ext cx="11057839" cy="274320"/>
          </a:xfrm>
          <a:prstGeom prst="rect">
            <a:avLst/>
          </a:prstGeom>
          <a:noFill/>
        </p:spPr>
        <p:txBody>
          <a:bodyPr wrap="square" anchor="t" lIns="0" rIns="0" tIns="0" bIns="0">
            <a:noAutofit/>
          </a:bodyPr>
          <a:lstStyle/>
          <a:p>
            <a:pPr algn="l">
              <a:lnSpc>
                <a:spcPct val="105000"/>
              </a:lnSpc>
              <a:spcAft>
                <a:spcPts val="0"/>
              </a:spcAft>
            </a:pPr>
            <a:r>
              <a:rPr sz="720" b="0" i="0">
                <a:solidFill>
                  <a:srgbClr val="7E9D8F"/>
                </a:solidFill>
                <a:latin typeface="Calibri"/>
              </a:rPr>
              <a:t>From 40 farm interviews: 7 of 10 would pay ₱1–1.50 per kilo per day for cooling that prevents spoilage; 9 of 10 want settlement within 48 hours.</a:t>
            </a:r>
          </a:p>
        </p:txBody>
      </p:sp>
    </p:spTree>
  </p:cSld>
  <p:clrMapOvr>
    <a:masterClrMapping/>
  </p:clrMapOvr>
  <mc:AlternateContent xmlns:mc="http://schemas.openxmlformats.org/markup-compatibility/2006">
    <mc:Choice xmlns:p14="http://schemas.microsoft.com/office/powerpoint/2010/main" Requires="p14">
      <p:transition advTm="16000" p14:dur="1100">
        <p14:cube dir="l"/>
      </p:transition>
    </mc:Choice>
    <mc:Fallback>
      <p:transition spd="slow" advTm="16000">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1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168335" y="-1371600"/>
            <a:ext cx="5120640" cy="51206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828800" y="4114800"/>
            <a:ext cx="4206240" cy="42062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66928" y="384048"/>
            <a:ext cx="676656" cy="676656"/>
          </a:xfrm>
          <a:prstGeom prst="roundRect">
            <a:avLst>
              <a:gd name="adj" fmla="val 22000"/>
            </a:avLst>
          </a:prstGeom>
          <a:solidFill>
            <a:srgbClr val="7FD1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04120C"/>
                </a:solidFill>
                <a:latin typeface="Calibri"/>
              </a:rPr>
              <a:t>VI</a:t>
            </a:r>
          </a:p>
        </p:txBody>
      </p:sp>
      <p:sp>
        <p:nvSpPr>
          <p:cNvPr id="6" name="TextBox 5"/>
          <p:cNvSpPr txBox="1"/>
          <p:nvPr/>
        </p:nvSpPr>
        <p:spPr>
          <a:xfrm>
            <a:off x="1481328" y="402336"/>
            <a:ext cx="10143439" cy="201168"/>
          </a:xfrm>
          <a:prstGeom prst="rect">
            <a:avLst/>
          </a:prstGeom>
          <a:noFill/>
        </p:spPr>
        <p:txBody>
          <a:bodyPr wrap="square" anchor="t" lIns="0" rIns="0" tIns="0" bIns="0">
            <a:noAutofit/>
          </a:bodyPr>
          <a:lstStyle/>
          <a:p>
            <a:pPr algn="l">
              <a:lnSpc>
                <a:spcPct val="100000"/>
              </a:lnSpc>
              <a:spcAft>
                <a:spcPts val="0"/>
              </a:spcAft>
            </a:pPr>
            <a:r>
              <a:rPr sz="900" b="1" i="0">
                <a:solidFill>
                  <a:srgbClr val="7FD1AE"/>
                </a:solidFill>
                <a:latin typeface="Calibri"/>
              </a:rPr>
              <a:t>VALUE PROPOSITION</a:t>
            </a:r>
          </a:p>
        </p:txBody>
      </p:sp>
      <p:sp>
        <p:nvSpPr>
          <p:cNvPr id="7" name="TextBox 6"/>
          <p:cNvSpPr txBox="1"/>
          <p:nvPr/>
        </p:nvSpPr>
        <p:spPr>
          <a:xfrm>
            <a:off x="1481328" y="621792"/>
            <a:ext cx="10143439" cy="457200"/>
          </a:xfrm>
          <a:prstGeom prst="rect">
            <a:avLst/>
          </a:prstGeom>
          <a:noFill/>
        </p:spPr>
        <p:txBody>
          <a:bodyPr wrap="square" anchor="t" lIns="0" rIns="0" tIns="0" bIns="0">
            <a:noAutofit/>
          </a:bodyPr>
          <a:lstStyle/>
          <a:p>
            <a:pPr algn="l">
              <a:lnSpc>
                <a:spcPct val="98000"/>
              </a:lnSpc>
              <a:spcAft>
                <a:spcPts val="0"/>
              </a:spcAft>
            </a:pPr>
            <a:r>
              <a:rPr sz="2400" b="1" i="0">
                <a:solidFill>
                  <a:srgbClr val="FFFFFF"/>
                </a:solidFill>
                <a:latin typeface="Calibri"/>
              </a:rPr>
              <a:t>No capex. Less spoilage. Cash in 24 hours.</a:t>
            </a:r>
          </a:p>
        </p:txBody>
      </p:sp>
      <p:sp>
        <p:nvSpPr>
          <p:cNvPr id="8" name="TextBox 7"/>
          <p:cNvSpPr txBox="1"/>
          <p:nvPr/>
        </p:nvSpPr>
        <p:spPr>
          <a:xfrm>
            <a:off x="658368" y="1252728"/>
            <a:ext cx="2236851" cy="365760"/>
          </a:xfrm>
          <a:prstGeom prst="rect">
            <a:avLst/>
          </a:prstGeom>
          <a:noFill/>
        </p:spPr>
        <p:txBody>
          <a:bodyPr wrap="square" anchor="t" lIns="0" rIns="0" tIns="0" bIns="0">
            <a:noAutofit/>
          </a:bodyPr>
          <a:lstStyle/>
          <a:p>
            <a:pPr algn="l">
              <a:lnSpc>
                <a:spcPct val="100000"/>
              </a:lnSpc>
              <a:spcAft>
                <a:spcPts val="0"/>
              </a:spcAft>
            </a:pPr>
            <a:r>
              <a:rPr sz="950" b="1" i="0">
                <a:solidFill>
                  <a:srgbClr val="9FBBAE"/>
                </a:solidFill>
                <a:latin typeface="Calibri"/>
              </a:rPr>
              <a:t>What the farmer cares about</a:t>
            </a:r>
          </a:p>
        </p:txBody>
      </p:sp>
      <p:sp>
        <p:nvSpPr>
          <p:cNvPr id="9" name="Rounded Rectangle 8"/>
          <p:cNvSpPr/>
          <p:nvPr/>
        </p:nvSpPr>
        <p:spPr>
          <a:xfrm>
            <a:off x="2950083" y="1170432"/>
            <a:ext cx="2478481" cy="365760"/>
          </a:xfrm>
          <a:prstGeom prst="roundRect">
            <a:avLst>
              <a:gd name="adj" fmla="val 8000"/>
            </a:avLst>
          </a:prstGeom>
          <a:solidFill>
            <a:srgbClr val="103A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041523" y="1252728"/>
            <a:ext cx="2332177" cy="365760"/>
          </a:xfrm>
          <a:prstGeom prst="rect">
            <a:avLst/>
          </a:prstGeom>
          <a:noFill/>
        </p:spPr>
        <p:txBody>
          <a:bodyPr wrap="square" anchor="t" lIns="0" rIns="0" tIns="0" bIns="0">
            <a:noAutofit/>
          </a:bodyPr>
          <a:lstStyle/>
          <a:p>
            <a:pPr algn="l">
              <a:lnSpc>
                <a:spcPct val="100000"/>
              </a:lnSpc>
              <a:spcAft>
                <a:spcPts val="0"/>
              </a:spcAft>
            </a:pPr>
            <a:r>
              <a:rPr sz="950" b="1" i="0">
                <a:solidFill>
                  <a:srgbClr val="9FBBAE"/>
                </a:solidFill>
                <a:latin typeface="Calibri"/>
              </a:rPr>
              <a:t>Fresko</a:t>
            </a:r>
          </a:p>
        </p:txBody>
      </p:sp>
      <p:sp>
        <p:nvSpPr>
          <p:cNvPr id="11" name="TextBox 10"/>
          <p:cNvSpPr txBox="1"/>
          <p:nvPr/>
        </p:nvSpPr>
        <p:spPr>
          <a:xfrm>
            <a:off x="5520004" y="1252728"/>
            <a:ext cx="2141524" cy="365760"/>
          </a:xfrm>
          <a:prstGeom prst="rect">
            <a:avLst/>
          </a:prstGeom>
          <a:noFill/>
        </p:spPr>
        <p:txBody>
          <a:bodyPr wrap="square" anchor="t" lIns="0" rIns="0" tIns="0" bIns="0">
            <a:noAutofit/>
          </a:bodyPr>
          <a:lstStyle/>
          <a:p>
            <a:pPr algn="l">
              <a:lnSpc>
                <a:spcPct val="100000"/>
              </a:lnSpc>
              <a:spcAft>
                <a:spcPts val="0"/>
              </a:spcAft>
            </a:pPr>
            <a:r>
              <a:rPr sz="950" b="1" i="0">
                <a:solidFill>
                  <a:srgbClr val="9FBBAE"/>
                </a:solidFill>
                <a:latin typeface="Calibri"/>
              </a:rPr>
              <a:t>Trading post (status quo)</a:t>
            </a:r>
          </a:p>
        </p:txBody>
      </p:sp>
      <p:sp>
        <p:nvSpPr>
          <p:cNvPr id="12" name="TextBox 11"/>
          <p:cNvSpPr txBox="1"/>
          <p:nvPr/>
        </p:nvSpPr>
        <p:spPr>
          <a:xfrm>
            <a:off x="7807832" y="1252728"/>
            <a:ext cx="1760220" cy="365760"/>
          </a:xfrm>
          <a:prstGeom prst="rect">
            <a:avLst/>
          </a:prstGeom>
          <a:noFill/>
        </p:spPr>
        <p:txBody>
          <a:bodyPr wrap="square" anchor="t" lIns="0" rIns="0" tIns="0" bIns="0">
            <a:noAutofit/>
          </a:bodyPr>
          <a:lstStyle/>
          <a:p>
            <a:pPr algn="l">
              <a:lnSpc>
                <a:spcPct val="100000"/>
              </a:lnSpc>
              <a:spcAft>
                <a:spcPts val="0"/>
              </a:spcAft>
            </a:pPr>
            <a:r>
              <a:rPr sz="950" b="1" i="0">
                <a:solidFill>
                  <a:srgbClr val="9FBBAE"/>
                </a:solidFill>
                <a:latin typeface="Calibri"/>
              </a:rPr>
              <a:t>Buy own cold room</a:t>
            </a:r>
          </a:p>
        </p:txBody>
      </p:sp>
      <p:sp>
        <p:nvSpPr>
          <p:cNvPr id="13" name="TextBox 12"/>
          <p:cNvSpPr txBox="1"/>
          <p:nvPr/>
        </p:nvSpPr>
        <p:spPr>
          <a:xfrm>
            <a:off x="9714357" y="1252728"/>
            <a:ext cx="1855546" cy="365760"/>
          </a:xfrm>
          <a:prstGeom prst="rect">
            <a:avLst/>
          </a:prstGeom>
          <a:noFill/>
        </p:spPr>
        <p:txBody>
          <a:bodyPr wrap="square" anchor="t" lIns="0" rIns="0" tIns="0" bIns="0">
            <a:noAutofit/>
          </a:bodyPr>
          <a:lstStyle/>
          <a:p>
            <a:pPr algn="l">
              <a:lnSpc>
                <a:spcPct val="100000"/>
              </a:lnSpc>
              <a:spcAft>
                <a:spcPts val="0"/>
              </a:spcAft>
            </a:pPr>
            <a:r>
              <a:rPr sz="950" b="1" i="0">
                <a:solidFill>
                  <a:srgbClr val="9FBBAE"/>
                </a:solidFill>
                <a:latin typeface="Calibri"/>
              </a:rPr>
              <a:t>Reefer 3PL</a:t>
            </a:r>
          </a:p>
        </p:txBody>
      </p:sp>
      <p:sp>
        <p:nvSpPr>
          <p:cNvPr id="14" name="TextBox 13"/>
          <p:cNvSpPr txBox="1"/>
          <p:nvPr/>
        </p:nvSpPr>
        <p:spPr>
          <a:xfrm>
            <a:off x="658368" y="1618488"/>
            <a:ext cx="2236851" cy="365760"/>
          </a:xfrm>
          <a:prstGeom prst="rect">
            <a:avLst/>
          </a:prstGeom>
          <a:noFill/>
        </p:spPr>
        <p:txBody>
          <a:bodyPr wrap="square" anchor="t" lIns="0" rIns="0" tIns="0" bIns="0">
            <a:noAutofit/>
          </a:bodyPr>
          <a:lstStyle/>
          <a:p>
            <a:pPr algn="l">
              <a:lnSpc>
                <a:spcPct val="100000"/>
              </a:lnSpc>
              <a:spcAft>
                <a:spcPts val="0"/>
              </a:spcAft>
            </a:pPr>
            <a:r>
              <a:rPr sz="950" b="1" i="0">
                <a:solidFill>
                  <a:srgbClr val="FFFFFF"/>
                </a:solidFill>
                <a:latin typeface="Calibri"/>
              </a:rPr>
              <a:t>Upfront cost</a:t>
            </a:r>
          </a:p>
        </p:txBody>
      </p:sp>
      <p:sp>
        <p:nvSpPr>
          <p:cNvPr id="15" name="Rounded Rectangle 14"/>
          <p:cNvSpPr/>
          <p:nvPr/>
        </p:nvSpPr>
        <p:spPr>
          <a:xfrm>
            <a:off x="2950083" y="1536192"/>
            <a:ext cx="2478481" cy="365760"/>
          </a:xfrm>
          <a:prstGeom prst="roundRect">
            <a:avLst>
              <a:gd name="adj" fmla="val 6000"/>
            </a:avLst>
          </a:prstGeom>
          <a:solidFill>
            <a:srgbClr val="103A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041523" y="1618488"/>
            <a:ext cx="2332177" cy="365760"/>
          </a:xfrm>
          <a:prstGeom prst="rect">
            <a:avLst/>
          </a:prstGeom>
          <a:noFill/>
        </p:spPr>
        <p:txBody>
          <a:bodyPr wrap="square" anchor="t" lIns="0" rIns="0" tIns="0" bIns="0">
            <a:noAutofit/>
          </a:bodyPr>
          <a:lstStyle/>
          <a:p>
            <a:pPr algn="l">
              <a:lnSpc>
                <a:spcPct val="100000"/>
              </a:lnSpc>
              <a:spcAft>
                <a:spcPts val="0"/>
              </a:spcAft>
            </a:pPr>
            <a:r>
              <a:rPr sz="950" b="0" i="0">
                <a:solidFill>
                  <a:srgbClr val="FFFFFF"/>
                </a:solidFill>
                <a:latin typeface="Calibri"/>
              </a:rPr>
              <a:t>₱0</a:t>
            </a:r>
          </a:p>
        </p:txBody>
      </p:sp>
      <p:sp>
        <p:nvSpPr>
          <p:cNvPr id="17" name="Rectangle 16"/>
          <p:cNvSpPr/>
          <p:nvPr/>
        </p:nvSpPr>
        <p:spPr>
          <a:xfrm>
            <a:off x="2950083" y="153619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520004" y="1618488"/>
            <a:ext cx="2141524"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₱0</a:t>
            </a:r>
          </a:p>
        </p:txBody>
      </p:sp>
      <p:sp>
        <p:nvSpPr>
          <p:cNvPr id="19" name="Rectangle 18"/>
          <p:cNvSpPr/>
          <p:nvPr/>
        </p:nvSpPr>
        <p:spPr>
          <a:xfrm>
            <a:off x="5428564" y="153619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807832" y="1618488"/>
            <a:ext cx="1760220"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₱1.2 M+</a:t>
            </a:r>
          </a:p>
        </p:txBody>
      </p:sp>
      <p:sp>
        <p:nvSpPr>
          <p:cNvPr id="21" name="Rectangle 20"/>
          <p:cNvSpPr/>
          <p:nvPr/>
        </p:nvSpPr>
        <p:spPr>
          <a:xfrm>
            <a:off x="7716392" y="153619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714357" y="1618488"/>
            <a:ext cx="1855546"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Per-trip minimum</a:t>
            </a:r>
          </a:p>
        </p:txBody>
      </p:sp>
      <p:sp>
        <p:nvSpPr>
          <p:cNvPr id="23" name="Rectangle 22"/>
          <p:cNvSpPr/>
          <p:nvPr/>
        </p:nvSpPr>
        <p:spPr>
          <a:xfrm>
            <a:off x="9622917" y="153619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1890979"/>
            <a:ext cx="11057839" cy="10972"/>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8368" y="1984248"/>
            <a:ext cx="2236851" cy="365760"/>
          </a:xfrm>
          <a:prstGeom prst="rect">
            <a:avLst/>
          </a:prstGeom>
          <a:noFill/>
        </p:spPr>
        <p:txBody>
          <a:bodyPr wrap="square" anchor="t" lIns="0" rIns="0" tIns="0" bIns="0">
            <a:noAutofit/>
          </a:bodyPr>
          <a:lstStyle/>
          <a:p>
            <a:pPr algn="l">
              <a:lnSpc>
                <a:spcPct val="100000"/>
              </a:lnSpc>
              <a:spcAft>
                <a:spcPts val="0"/>
              </a:spcAft>
            </a:pPr>
            <a:r>
              <a:rPr sz="950" b="1" i="0">
                <a:solidFill>
                  <a:srgbClr val="FFFFFF"/>
                </a:solidFill>
                <a:latin typeface="Calibri"/>
              </a:rPr>
              <a:t>Post-harvest loss</a:t>
            </a:r>
          </a:p>
        </p:txBody>
      </p:sp>
      <p:sp>
        <p:nvSpPr>
          <p:cNvPr id="26" name="Rounded Rectangle 25"/>
          <p:cNvSpPr/>
          <p:nvPr/>
        </p:nvSpPr>
        <p:spPr>
          <a:xfrm>
            <a:off x="2950083" y="1901952"/>
            <a:ext cx="2478481" cy="365760"/>
          </a:xfrm>
          <a:prstGeom prst="roundRect">
            <a:avLst>
              <a:gd name="adj" fmla="val 6000"/>
            </a:avLst>
          </a:prstGeom>
          <a:solidFill>
            <a:srgbClr val="103A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041523" y="1984248"/>
            <a:ext cx="2332177" cy="365760"/>
          </a:xfrm>
          <a:prstGeom prst="rect">
            <a:avLst/>
          </a:prstGeom>
          <a:noFill/>
        </p:spPr>
        <p:txBody>
          <a:bodyPr wrap="square" anchor="t" lIns="0" rIns="0" tIns="0" bIns="0">
            <a:noAutofit/>
          </a:bodyPr>
          <a:lstStyle/>
          <a:p>
            <a:pPr algn="l">
              <a:lnSpc>
                <a:spcPct val="100000"/>
              </a:lnSpc>
              <a:spcAft>
                <a:spcPts val="0"/>
              </a:spcAft>
            </a:pPr>
            <a:r>
              <a:rPr sz="950" b="0" i="0">
                <a:solidFill>
                  <a:srgbClr val="FFFFFF"/>
                </a:solidFill>
                <a:latin typeface="Calibri"/>
              </a:rPr>
              <a:t>~15%</a:t>
            </a:r>
          </a:p>
        </p:txBody>
      </p:sp>
      <p:sp>
        <p:nvSpPr>
          <p:cNvPr id="28" name="Rectangle 27"/>
          <p:cNvSpPr/>
          <p:nvPr/>
        </p:nvSpPr>
        <p:spPr>
          <a:xfrm>
            <a:off x="2950083" y="190195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520004" y="1984248"/>
            <a:ext cx="2141524"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35%</a:t>
            </a:r>
          </a:p>
        </p:txBody>
      </p:sp>
      <p:sp>
        <p:nvSpPr>
          <p:cNvPr id="30" name="Rectangle 29"/>
          <p:cNvSpPr/>
          <p:nvPr/>
        </p:nvSpPr>
        <p:spPr>
          <a:xfrm>
            <a:off x="5428564" y="190195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807832" y="1984248"/>
            <a:ext cx="1760220"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8–12%</a:t>
            </a:r>
          </a:p>
        </p:txBody>
      </p:sp>
      <p:sp>
        <p:nvSpPr>
          <p:cNvPr id="32" name="Rectangle 31"/>
          <p:cNvSpPr/>
          <p:nvPr/>
        </p:nvSpPr>
        <p:spPr>
          <a:xfrm>
            <a:off x="7716392" y="190195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714357" y="1984248"/>
            <a:ext cx="1855546"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~10%</a:t>
            </a:r>
          </a:p>
        </p:txBody>
      </p:sp>
      <p:sp>
        <p:nvSpPr>
          <p:cNvPr id="34" name="Rectangle 33"/>
          <p:cNvSpPr/>
          <p:nvPr/>
        </p:nvSpPr>
        <p:spPr>
          <a:xfrm>
            <a:off x="9622917" y="190195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566928" y="2256739"/>
            <a:ext cx="11057839" cy="10972"/>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58368" y="2350008"/>
            <a:ext cx="2236851" cy="365760"/>
          </a:xfrm>
          <a:prstGeom prst="rect">
            <a:avLst/>
          </a:prstGeom>
          <a:noFill/>
        </p:spPr>
        <p:txBody>
          <a:bodyPr wrap="square" anchor="t" lIns="0" rIns="0" tIns="0" bIns="0">
            <a:noAutofit/>
          </a:bodyPr>
          <a:lstStyle/>
          <a:p>
            <a:pPr algn="l">
              <a:lnSpc>
                <a:spcPct val="100000"/>
              </a:lnSpc>
              <a:spcAft>
                <a:spcPts val="0"/>
              </a:spcAft>
            </a:pPr>
            <a:r>
              <a:rPr sz="950" b="1" i="0">
                <a:solidFill>
                  <a:srgbClr val="FFFFFF"/>
                </a:solidFill>
                <a:latin typeface="Calibri"/>
              </a:rPr>
              <a:t>Payment terms</a:t>
            </a:r>
          </a:p>
        </p:txBody>
      </p:sp>
      <p:sp>
        <p:nvSpPr>
          <p:cNvPr id="37" name="Rounded Rectangle 36"/>
          <p:cNvSpPr/>
          <p:nvPr/>
        </p:nvSpPr>
        <p:spPr>
          <a:xfrm>
            <a:off x="2950083" y="2267712"/>
            <a:ext cx="2478481" cy="365760"/>
          </a:xfrm>
          <a:prstGeom prst="roundRect">
            <a:avLst>
              <a:gd name="adj" fmla="val 6000"/>
            </a:avLst>
          </a:prstGeom>
          <a:solidFill>
            <a:srgbClr val="103A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041523" y="2350008"/>
            <a:ext cx="2332177" cy="365760"/>
          </a:xfrm>
          <a:prstGeom prst="rect">
            <a:avLst/>
          </a:prstGeom>
          <a:noFill/>
        </p:spPr>
        <p:txBody>
          <a:bodyPr wrap="square" anchor="t" lIns="0" rIns="0" tIns="0" bIns="0">
            <a:noAutofit/>
          </a:bodyPr>
          <a:lstStyle/>
          <a:p>
            <a:pPr algn="l">
              <a:lnSpc>
                <a:spcPct val="100000"/>
              </a:lnSpc>
              <a:spcAft>
                <a:spcPts val="0"/>
              </a:spcAft>
            </a:pPr>
            <a:r>
              <a:rPr sz="950" b="0" i="0">
                <a:solidFill>
                  <a:srgbClr val="FFFFFF"/>
                </a:solidFill>
                <a:latin typeface="Calibri"/>
              </a:rPr>
              <a:t>24 hours</a:t>
            </a:r>
          </a:p>
        </p:txBody>
      </p:sp>
      <p:sp>
        <p:nvSpPr>
          <p:cNvPr id="39" name="Rectangle 38"/>
          <p:cNvSpPr/>
          <p:nvPr/>
        </p:nvSpPr>
        <p:spPr>
          <a:xfrm>
            <a:off x="2950083" y="226771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520004" y="2350008"/>
            <a:ext cx="2141524"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7–30 days</a:t>
            </a:r>
          </a:p>
        </p:txBody>
      </p:sp>
      <p:sp>
        <p:nvSpPr>
          <p:cNvPr id="41" name="Rectangle 40"/>
          <p:cNvSpPr/>
          <p:nvPr/>
        </p:nvSpPr>
        <p:spPr>
          <a:xfrm>
            <a:off x="5428564" y="226771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07832" y="2350008"/>
            <a:ext cx="1760220"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a:t>
            </a:r>
          </a:p>
        </p:txBody>
      </p:sp>
      <p:sp>
        <p:nvSpPr>
          <p:cNvPr id="43" name="Rectangle 42"/>
          <p:cNvSpPr/>
          <p:nvPr/>
        </p:nvSpPr>
        <p:spPr>
          <a:xfrm>
            <a:off x="7716392" y="226771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714357" y="2350008"/>
            <a:ext cx="1855546"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30 days</a:t>
            </a:r>
          </a:p>
        </p:txBody>
      </p:sp>
      <p:sp>
        <p:nvSpPr>
          <p:cNvPr id="45" name="Rectangle 44"/>
          <p:cNvSpPr/>
          <p:nvPr/>
        </p:nvSpPr>
        <p:spPr>
          <a:xfrm>
            <a:off x="9622917" y="226771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566928" y="2622499"/>
            <a:ext cx="11057839" cy="10972"/>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58368" y="2715768"/>
            <a:ext cx="2236851" cy="365760"/>
          </a:xfrm>
          <a:prstGeom prst="rect">
            <a:avLst/>
          </a:prstGeom>
          <a:noFill/>
        </p:spPr>
        <p:txBody>
          <a:bodyPr wrap="square" anchor="t" lIns="0" rIns="0" tIns="0" bIns="0">
            <a:noAutofit/>
          </a:bodyPr>
          <a:lstStyle/>
          <a:p>
            <a:pPr algn="l">
              <a:lnSpc>
                <a:spcPct val="100000"/>
              </a:lnSpc>
              <a:spcAft>
                <a:spcPts val="0"/>
              </a:spcAft>
            </a:pPr>
            <a:r>
              <a:rPr sz="950" b="1" i="0">
                <a:solidFill>
                  <a:srgbClr val="FFFFFF"/>
                </a:solidFill>
                <a:latin typeface="Calibri"/>
              </a:rPr>
              <a:t>Market access &amp; grading</a:t>
            </a:r>
          </a:p>
        </p:txBody>
      </p:sp>
      <p:sp>
        <p:nvSpPr>
          <p:cNvPr id="48" name="Rounded Rectangle 47"/>
          <p:cNvSpPr/>
          <p:nvPr/>
        </p:nvSpPr>
        <p:spPr>
          <a:xfrm>
            <a:off x="2950083" y="2633472"/>
            <a:ext cx="2478481" cy="365760"/>
          </a:xfrm>
          <a:prstGeom prst="roundRect">
            <a:avLst>
              <a:gd name="adj" fmla="val 6000"/>
            </a:avLst>
          </a:prstGeom>
          <a:solidFill>
            <a:srgbClr val="103A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3041523" y="2715768"/>
            <a:ext cx="2332177" cy="365760"/>
          </a:xfrm>
          <a:prstGeom prst="rect">
            <a:avLst/>
          </a:prstGeom>
          <a:noFill/>
        </p:spPr>
        <p:txBody>
          <a:bodyPr wrap="square" anchor="t" lIns="0" rIns="0" tIns="0" bIns="0">
            <a:noAutofit/>
          </a:bodyPr>
          <a:lstStyle/>
          <a:p>
            <a:pPr algn="l">
              <a:lnSpc>
                <a:spcPct val="100000"/>
              </a:lnSpc>
              <a:spcAft>
                <a:spcPts val="0"/>
              </a:spcAft>
            </a:pPr>
            <a:r>
              <a:rPr sz="950" b="0" i="0">
                <a:solidFill>
                  <a:srgbClr val="FFFFFF"/>
                </a:solidFill>
                <a:latin typeface="Calibri"/>
              </a:rPr>
              <a:t>AI grade + matched buyer</a:t>
            </a:r>
          </a:p>
        </p:txBody>
      </p:sp>
      <p:sp>
        <p:nvSpPr>
          <p:cNvPr id="50" name="Rectangle 49"/>
          <p:cNvSpPr/>
          <p:nvPr/>
        </p:nvSpPr>
        <p:spPr>
          <a:xfrm>
            <a:off x="2950083" y="263347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5520004" y="2715768"/>
            <a:ext cx="2141524"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Blind, price-taker</a:t>
            </a:r>
          </a:p>
        </p:txBody>
      </p:sp>
      <p:sp>
        <p:nvSpPr>
          <p:cNvPr id="52" name="Rectangle 51"/>
          <p:cNvSpPr/>
          <p:nvPr/>
        </p:nvSpPr>
        <p:spPr>
          <a:xfrm>
            <a:off x="5428564" y="263347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7807832" y="2715768"/>
            <a:ext cx="1760220"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None</a:t>
            </a:r>
          </a:p>
        </p:txBody>
      </p:sp>
      <p:sp>
        <p:nvSpPr>
          <p:cNvPr id="54" name="Rectangle 53"/>
          <p:cNvSpPr/>
          <p:nvPr/>
        </p:nvSpPr>
        <p:spPr>
          <a:xfrm>
            <a:off x="7716392" y="263347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9714357" y="2715768"/>
            <a:ext cx="1855546"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None</a:t>
            </a:r>
          </a:p>
        </p:txBody>
      </p:sp>
      <p:sp>
        <p:nvSpPr>
          <p:cNvPr id="56" name="Rectangle 55"/>
          <p:cNvSpPr/>
          <p:nvPr/>
        </p:nvSpPr>
        <p:spPr>
          <a:xfrm>
            <a:off x="9622917" y="263347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566928" y="2988259"/>
            <a:ext cx="11057839" cy="10972"/>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658368" y="3081527"/>
            <a:ext cx="2236851" cy="365760"/>
          </a:xfrm>
          <a:prstGeom prst="rect">
            <a:avLst/>
          </a:prstGeom>
          <a:noFill/>
        </p:spPr>
        <p:txBody>
          <a:bodyPr wrap="square" anchor="t" lIns="0" rIns="0" tIns="0" bIns="0">
            <a:noAutofit/>
          </a:bodyPr>
          <a:lstStyle/>
          <a:p>
            <a:pPr algn="l">
              <a:lnSpc>
                <a:spcPct val="100000"/>
              </a:lnSpc>
              <a:spcAft>
                <a:spcPts val="0"/>
              </a:spcAft>
            </a:pPr>
            <a:r>
              <a:rPr sz="950" b="1" i="0">
                <a:solidFill>
                  <a:srgbClr val="FFFFFF"/>
                </a:solidFill>
                <a:latin typeface="Calibri"/>
              </a:rPr>
              <a:t>Traceability / cold proof</a:t>
            </a:r>
          </a:p>
        </p:txBody>
      </p:sp>
      <p:sp>
        <p:nvSpPr>
          <p:cNvPr id="59" name="Rounded Rectangle 58"/>
          <p:cNvSpPr/>
          <p:nvPr/>
        </p:nvSpPr>
        <p:spPr>
          <a:xfrm>
            <a:off x="2950083" y="2999232"/>
            <a:ext cx="2478481" cy="365760"/>
          </a:xfrm>
          <a:prstGeom prst="roundRect">
            <a:avLst>
              <a:gd name="adj" fmla="val 6000"/>
            </a:avLst>
          </a:prstGeom>
          <a:solidFill>
            <a:srgbClr val="103A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3041523" y="3081527"/>
            <a:ext cx="2332177" cy="365760"/>
          </a:xfrm>
          <a:prstGeom prst="rect">
            <a:avLst/>
          </a:prstGeom>
          <a:noFill/>
        </p:spPr>
        <p:txBody>
          <a:bodyPr wrap="square" anchor="t" lIns="0" rIns="0" tIns="0" bIns="0">
            <a:noAutofit/>
          </a:bodyPr>
          <a:lstStyle/>
          <a:p>
            <a:pPr algn="l">
              <a:lnSpc>
                <a:spcPct val="100000"/>
              </a:lnSpc>
              <a:spcAft>
                <a:spcPts val="0"/>
              </a:spcAft>
            </a:pPr>
            <a:r>
              <a:rPr sz="950" b="0" i="0">
                <a:solidFill>
                  <a:srgbClr val="FFFFFF"/>
                </a:solidFill>
                <a:latin typeface="Calibri"/>
              </a:rPr>
              <a:t>Per-batch log</a:t>
            </a:r>
          </a:p>
        </p:txBody>
      </p:sp>
      <p:sp>
        <p:nvSpPr>
          <p:cNvPr id="61" name="Rectangle 60"/>
          <p:cNvSpPr/>
          <p:nvPr/>
        </p:nvSpPr>
        <p:spPr>
          <a:xfrm>
            <a:off x="2950083" y="299923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5520004" y="3081527"/>
            <a:ext cx="2141524"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None</a:t>
            </a:r>
          </a:p>
        </p:txBody>
      </p:sp>
      <p:sp>
        <p:nvSpPr>
          <p:cNvPr id="63" name="Rectangle 62"/>
          <p:cNvSpPr/>
          <p:nvPr/>
        </p:nvSpPr>
        <p:spPr>
          <a:xfrm>
            <a:off x="5428564" y="299923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7807832" y="3081527"/>
            <a:ext cx="1760220"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Partial</a:t>
            </a:r>
          </a:p>
        </p:txBody>
      </p:sp>
      <p:sp>
        <p:nvSpPr>
          <p:cNvPr id="65" name="Rectangle 64"/>
          <p:cNvSpPr/>
          <p:nvPr/>
        </p:nvSpPr>
        <p:spPr>
          <a:xfrm>
            <a:off x="7716392" y="299923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9714357" y="3081527"/>
            <a:ext cx="1855546"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Partial</a:t>
            </a:r>
          </a:p>
        </p:txBody>
      </p:sp>
      <p:sp>
        <p:nvSpPr>
          <p:cNvPr id="67" name="Rectangle 66"/>
          <p:cNvSpPr/>
          <p:nvPr/>
        </p:nvSpPr>
        <p:spPr>
          <a:xfrm>
            <a:off x="9622917" y="299923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ectangle 67"/>
          <p:cNvSpPr/>
          <p:nvPr/>
        </p:nvSpPr>
        <p:spPr>
          <a:xfrm>
            <a:off x="566928" y="3354019"/>
            <a:ext cx="11057839" cy="10972"/>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658368" y="3447287"/>
            <a:ext cx="2236851" cy="365760"/>
          </a:xfrm>
          <a:prstGeom prst="rect">
            <a:avLst/>
          </a:prstGeom>
          <a:noFill/>
        </p:spPr>
        <p:txBody>
          <a:bodyPr wrap="square" anchor="t" lIns="0" rIns="0" tIns="0" bIns="0">
            <a:noAutofit/>
          </a:bodyPr>
          <a:lstStyle/>
          <a:p>
            <a:pPr algn="l">
              <a:lnSpc>
                <a:spcPct val="100000"/>
              </a:lnSpc>
              <a:spcAft>
                <a:spcPts val="0"/>
              </a:spcAft>
            </a:pPr>
            <a:r>
              <a:rPr sz="950" b="1" i="0">
                <a:solidFill>
                  <a:srgbClr val="FFFFFF"/>
                </a:solidFill>
                <a:latin typeface="Calibri"/>
              </a:rPr>
              <a:t>Who runs it</a:t>
            </a:r>
          </a:p>
        </p:txBody>
      </p:sp>
      <p:sp>
        <p:nvSpPr>
          <p:cNvPr id="70" name="Rounded Rectangle 69"/>
          <p:cNvSpPr/>
          <p:nvPr/>
        </p:nvSpPr>
        <p:spPr>
          <a:xfrm>
            <a:off x="2950083" y="3364991"/>
            <a:ext cx="2478481" cy="365760"/>
          </a:xfrm>
          <a:prstGeom prst="roundRect">
            <a:avLst>
              <a:gd name="adj" fmla="val 6000"/>
            </a:avLst>
          </a:prstGeom>
          <a:solidFill>
            <a:srgbClr val="103A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3041523" y="3447287"/>
            <a:ext cx="2332177" cy="365760"/>
          </a:xfrm>
          <a:prstGeom prst="rect">
            <a:avLst/>
          </a:prstGeom>
          <a:noFill/>
        </p:spPr>
        <p:txBody>
          <a:bodyPr wrap="square" anchor="t" lIns="0" rIns="0" tIns="0" bIns="0">
            <a:noAutofit/>
          </a:bodyPr>
          <a:lstStyle/>
          <a:p>
            <a:pPr algn="l">
              <a:lnSpc>
                <a:spcPct val="100000"/>
              </a:lnSpc>
              <a:spcAft>
                <a:spcPts val="0"/>
              </a:spcAft>
            </a:pPr>
            <a:r>
              <a:rPr sz="950" b="0" i="0">
                <a:solidFill>
                  <a:srgbClr val="FFFFFF"/>
                </a:solidFill>
                <a:latin typeface="Calibri"/>
              </a:rPr>
              <a:t>Co-op + Fresko</a:t>
            </a:r>
          </a:p>
        </p:txBody>
      </p:sp>
      <p:sp>
        <p:nvSpPr>
          <p:cNvPr id="72" name="Rectangle 71"/>
          <p:cNvSpPr/>
          <p:nvPr/>
        </p:nvSpPr>
        <p:spPr>
          <a:xfrm>
            <a:off x="2950083" y="3364991"/>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5520004" y="3447287"/>
            <a:ext cx="2141524"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Trader</a:t>
            </a:r>
          </a:p>
        </p:txBody>
      </p:sp>
      <p:sp>
        <p:nvSpPr>
          <p:cNvPr id="74" name="Rectangle 73"/>
          <p:cNvSpPr/>
          <p:nvPr/>
        </p:nvSpPr>
        <p:spPr>
          <a:xfrm>
            <a:off x="5428564" y="3364991"/>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7807832" y="3447287"/>
            <a:ext cx="1760220"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Farmer alone</a:t>
            </a:r>
          </a:p>
        </p:txBody>
      </p:sp>
      <p:sp>
        <p:nvSpPr>
          <p:cNvPr id="76" name="Rectangle 75"/>
          <p:cNvSpPr/>
          <p:nvPr/>
        </p:nvSpPr>
        <p:spPr>
          <a:xfrm>
            <a:off x="7716392" y="3364991"/>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TextBox 76"/>
          <p:cNvSpPr txBox="1"/>
          <p:nvPr/>
        </p:nvSpPr>
        <p:spPr>
          <a:xfrm>
            <a:off x="9714357" y="3447287"/>
            <a:ext cx="1855546"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Logistics firm</a:t>
            </a:r>
          </a:p>
        </p:txBody>
      </p:sp>
      <p:sp>
        <p:nvSpPr>
          <p:cNvPr id="78" name="Rectangle 77"/>
          <p:cNvSpPr/>
          <p:nvPr/>
        </p:nvSpPr>
        <p:spPr>
          <a:xfrm>
            <a:off x="9622917" y="3364991"/>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Rectangle 78"/>
          <p:cNvSpPr/>
          <p:nvPr/>
        </p:nvSpPr>
        <p:spPr>
          <a:xfrm>
            <a:off x="566928" y="3719779"/>
            <a:ext cx="11057839" cy="10972"/>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Rounded Rectangle 79"/>
          <p:cNvSpPr/>
          <p:nvPr/>
        </p:nvSpPr>
        <p:spPr>
          <a:xfrm>
            <a:off x="566928" y="3931920"/>
            <a:ext cx="3551834" cy="1115568"/>
          </a:xfrm>
          <a:prstGeom prst="roundRect">
            <a:avLst>
              <a:gd name="adj" fmla="val 6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F2A33C"/>
                </a:solidFill>
                <a:latin typeface="Calibri"/>
              </a:rPr>
              <a:t>↑  </a:t>
            </a:r>
            <a:r>
              <a:rPr sz="1150" b="1" i="0">
                <a:solidFill>
                  <a:srgbClr val="FFFFFF"/>
                </a:solidFill>
                <a:latin typeface="Calibri"/>
              </a:rPr>
              <a:t>The promise, per 1,000 kg</a:t>
            </a:r>
          </a:p>
          <a:p>
            <a:pPr>
              <a:lnSpc>
                <a:spcPct val="102000"/>
              </a:lnSpc>
              <a:spcAft>
                <a:spcPts val="400"/>
              </a:spcAft>
            </a:pPr>
            <a:r>
              <a:rPr sz="950" b="0" i="0">
                <a:solidFill>
                  <a:srgbClr val="CBE2D7"/>
                </a:solidFill>
                <a:latin typeface="Calibri"/>
              </a:rPr>
              <a:t>+200 kg sold instead of dumped — about ₱6,000 more income at conservative grade-2 prices.</a:t>
            </a:r>
          </a:p>
        </p:txBody>
      </p:sp>
      <p:sp>
        <p:nvSpPr>
          <p:cNvPr id="81" name="Rounded Rectangle 80"/>
          <p:cNvSpPr/>
          <p:nvPr/>
        </p:nvSpPr>
        <p:spPr>
          <a:xfrm>
            <a:off x="4319930" y="3931920"/>
            <a:ext cx="3551834" cy="1115568"/>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  </a:t>
            </a:r>
            <a:r>
              <a:rPr sz="1150" b="1" i="0">
                <a:solidFill>
                  <a:srgbClr val="FFFFFF"/>
                </a:solidFill>
                <a:latin typeface="Calibri"/>
              </a:rPr>
              <a:t>Why farmers stay</a:t>
            </a:r>
          </a:p>
          <a:p>
            <a:pPr>
              <a:lnSpc>
                <a:spcPct val="102000"/>
              </a:lnSpc>
              <a:spcAft>
                <a:spcPts val="400"/>
              </a:spcAft>
            </a:pPr>
            <a:r>
              <a:rPr sz="950" b="0" i="0">
                <a:solidFill>
                  <a:srgbClr val="CBE2D7"/>
                </a:solidFill>
                <a:latin typeface="Calibri"/>
              </a:rPr>
              <a:t>Payout in 24 hours, plus data they never had: what grade they grew and what buyers will pay.</a:t>
            </a:r>
          </a:p>
        </p:txBody>
      </p:sp>
      <p:sp>
        <p:nvSpPr>
          <p:cNvPr id="82" name="Rounded Rectangle 81"/>
          <p:cNvSpPr/>
          <p:nvPr/>
        </p:nvSpPr>
        <p:spPr>
          <a:xfrm>
            <a:off x="8072932" y="3931920"/>
            <a:ext cx="3551834" cy="1115568"/>
          </a:xfrm>
          <a:prstGeom prst="roundRect">
            <a:avLst>
              <a:gd name="adj" fmla="val 6000"/>
            </a:avLst>
          </a:prstGeom>
          <a:solidFill>
            <a:srgbClr val="0C2E22"/>
          </a:solidFill>
          <a:ln w="11430">
            <a:solidFill>
              <a:srgbClr val="8FD4E8"/>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8FD4E8"/>
                </a:solidFill>
                <a:latin typeface="Calibri"/>
              </a:rPr>
              <a:t>⛨  </a:t>
            </a:r>
            <a:r>
              <a:rPr sz="1150" b="1" i="0">
                <a:solidFill>
                  <a:srgbClr val="FFFFFF"/>
                </a:solidFill>
                <a:latin typeface="Calibri"/>
              </a:rPr>
              <a:t>Why it is defensible</a:t>
            </a:r>
          </a:p>
          <a:p>
            <a:pPr>
              <a:lnSpc>
                <a:spcPct val="102000"/>
              </a:lnSpc>
              <a:spcAft>
                <a:spcPts val="400"/>
              </a:spcAft>
            </a:pPr>
            <a:r>
              <a:rPr sz="950" b="0" i="0">
                <a:solidFill>
                  <a:srgbClr val="CBE2D7"/>
                </a:solidFill>
                <a:latin typeface="Calibri"/>
              </a:rPr>
              <a:t>Farm-side assets in barangays are slow to replicate, and our loss-reduction dataset compounds with every hub.</a:t>
            </a:r>
          </a:p>
        </p:txBody>
      </p:sp>
      <p:sp>
        <p:nvSpPr>
          <p:cNvPr id="83" name="TextBox 82"/>
          <p:cNvSpPr txBox="1"/>
          <p:nvPr/>
        </p:nvSpPr>
        <p:spPr>
          <a:xfrm>
            <a:off x="566928" y="6382512"/>
            <a:ext cx="11057839" cy="274320"/>
          </a:xfrm>
          <a:prstGeom prst="rect">
            <a:avLst/>
          </a:prstGeom>
          <a:noFill/>
        </p:spPr>
        <p:txBody>
          <a:bodyPr wrap="square" anchor="t" lIns="0" rIns="0" tIns="0" bIns="0">
            <a:noAutofit/>
          </a:bodyPr>
          <a:lstStyle/>
          <a:p>
            <a:pPr algn="l">
              <a:lnSpc>
                <a:spcPct val="105000"/>
              </a:lnSpc>
              <a:spcAft>
                <a:spcPts val="0"/>
              </a:spcAft>
            </a:pPr>
            <a:r>
              <a:rPr sz="720" b="0" i="0">
                <a:solidFill>
                  <a:srgbClr val="7E9D8F"/>
                </a:solidFill>
                <a:latin typeface="Calibri"/>
              </a:rPr>
              <a:t>Value-per-kilo assumptions audited with the partner cooperative; grade-2 pricing used to stay conservative.</a:t>
            </a:r>
          </a:p>
        </p:txBody>
      </p:sp>
    </p:spTree>
  </p:cSld>
  <p:clrMapOvr>
    <a:masterClrMapping/>
  </p:clrMapOvr>
  <mc:AlternateContent xmlns:mc="http://schemas.openxmlformats.org/markup-compatibility/2006">
    <mc:Choice xmlns:p14="http://schemas.microsoft.com/office/powerpoint/2010/main" Requires="p14">
      <p:transition advTm="16000" p14:dur="1100">
        <p14:cube dir="l"/>
      </p:transition>
    </mc:Choice>
    <mc:Fallback>
      <p:transition spd="slow" advTm="16000">
        <p:push dir="l"/>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1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168335" y="-1371600"/>
            <a:ext cx="5120640" cy="51206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828800" y="4114800"/>
            <a:ext cx="4206240" cy="42062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66928" y="384048"/>
            <a:ext cx="676656" cy="676656"/>
          </a:xfrm>
          <a:prstGeom prst="roundRect">
            <a:avLst>
              <a:gd name="adj" fmla="val 22000"/>
            </a:avLst>
          </a:prstGeom>
          <a:solidFill>
            <a:srgbClr val="7FD1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04120C"/>
                </a:solidFill>
                <a:latin typeface="Calibri"/>
              </a:rPr>
              <a:t>VII</a:t>
            </a:r>
          </a:p>
        </p:txBody>
      </p:sp>
      <p:sp>
        <p:nvSpPr>
          <p:cNvPr id="6" name="TextBox 5"/>
          <p:cNvSpPr txBox="1"/>
          <p:nvPr/>
        </p:nvSpPr>
        <p:spPr>
          <a:xfrm>
            <a:off x="1481328" y="402336"/>
            <a:ext cx="10143439" cy="201168"/>
          </a:xfrm>
          <a:prstGeom prst="rect">
            <a:avLst/>
          </a:prstGeom>
          <a:noFill/>
        </p:spPr>
        <p:txBody>
          <a:bodyPr wrap="square" anchor="t" lIns="0" rIns="0" tIns="0" bIns="0">
            <a:noAutofit/>
          </a:bodyPr>
          <a:lstStyle/>
          <a:p>
            <a:pPr algn="l">
              <a:lnSpc>
                <a:spcPct val="100000"/>
              </a:lnSpc>
              <a:spcAft>
                <a:spcPts val="0"/>
              </a:spcAft>
            </a:pPr>
            <a:r>
              <a:rPr sz="900" b="1" i="0">
                <a:solidFill>
                  <a:srgbClr val="7FD1AE"/>
                </a:solidFill>
                <a:latin typeface="Calibri"/>
              </a:rPr>
              <a:t>BUSINESS MODEL</a:t>
            </a:r>
          </a:p>
        </p:txBody>
      </p:sp>
      <p:sp>
        <p:nvSpPr>
          <p:cNvPr id="7" name="TextBox 6"/>
          <p:cNvSpPr txBox="1"/>
          <p:nvPr/>
        </p:nvSpPr>
        <p:spPr>
          <a:xfrm>
            <a:off x="1481328" y="621792"/>
            <a:ext cx="10143439" cy="457200"/>
          </a:xfrm>
          <a:prstGeom prst="rect">
            <a:avLst/>
          </a:prstGeom>
          <a:noFill/>
        </p:spPr>
        <p:txBody>
          <a:bodyPr wrap="square" anchor="t" lIns="0" rIns="0" tIns="0" bIns="0">
            <a:noAutofit/>
          </a:bodyPr>
          <a:lstStyle/>
          <a:p>
            <a:pPr algn="l">
              <a:lnSpc>
                <a:spcPct val="98000"/>
              </a:lnSpc>
              <a:spcAft>
                <a:spcPts val="0"/>
              </a:spcAft>
            </a:pPr>
            <a:r>
              <a:rPr sz="2400" b="1" i="0">
                <a:solidFill>
                  <a:srgbClr val="FFFFFF"/>
                </a:solidFill>
                <a:latin typeface="Calibri"/>
              </a:rPr>
              <a:t>Create value, deliver it, and capture a slice</a:t>
            </a:r>
          </a:p>
        </p:txBody>
      </p:sp>
      <p:sp>
        <p:nvSpPr>
          <p:cNvPr id="8" name="Rounded Rectangle 7"/>
          <p:cNvSpPr/>
          <p:nvPr/>
        </p:nvSpPr>
        <p:spPr>
          <a:xfrm>
            <a:off x="566928" y="1170432"/>
            <a:ext cx="3551834" cy="1298448"/>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  </a:t>
            </a:r>
            <a:r>
              <a:rPr sz="1150" b="1" i="0">
                <a:solidFill>
                  <a:srgbClr val="FFFFFF"/>
                </a:solidFill>
                <a:latin typeface="Calibri"/>
              </a:rPr>
              <a:t>1 · Create</a:t>
            </a:r>
          </a:p>
          <a:p>
            <a:pPr>
              <a:lnSpc>
                <a:spcPct val="102000"/>
              </a:lnSpc>
              <a:spcAft>
                <a:spcPts val="400"/>
              </a:spcAft>
            </a:pPr>
            <a:r>
              <a:rPr sz="950" b="0" i="0">
                <a:solidFill>
                  <a:srgbClr val="CBE2D7"/>
                </a:solidFill>
                <a:latin typeface="Calibri"/>
              </a:rPr>
              <a:t>The cooperative provides land and an operator; Fresko provides the solar cold room, sensors, app and buyer network. Capex stays on our books, so farmer cost stays at zero.</a:t>
            </a:r>
          </a:p>
        </p:txBody>
      </p:sp>
      <p:sp>
        <p:nvSpPr>
          <p:cNvPr id="9" name="Rounded Rectangle 8"/>
          <p:cNvSpPr/>
          <p:nvPr/>
        </p:nvSpPr>
        <p:spPr>
          <a:xfrm>
            <a:off x="4319930" y="1170432"/>
            <a:ext cx="3551834" cy="1298448"/>
          </a:xfrm>
          <a:prstGeom prst="roundRect">
            <a:avLst>
              <a:gd name="adj" fmla="val 6000"/>
            </a:avLst>
          </a:prstGeom>
          <a:solidFill>
            <a:srgbClr val="0C2E22"/>
          </a:solidFill>
          <a:ln w="11430">
            <a:solidFill>
              <a:srgbClr val="8FD4E8"/>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8FD4E8"/>
                </a:solidFill>
                <a:latin typeface="Calibri"/>
              </a:rPr>
              <a:t>⇉  </a:t>
            </a:r>
            <a:r>
              <a:rPr sz="1150" b="1" i="0">
                <a:solidFill>
                  <a:srgbClr val="FFFFFF"/>
                </a:solidFill>
                <a:latin typeface="Calibri"/>
              </a:rPr>
              <a:t>2 · Deliver</a:t>
            </a:r>
          </a:p>
          <a:p>
            <a:pPr>
              <a:lnSpc>
                <a:spcPct val="102000"/>
              </a:lnSpc>
              <a:spcAft>
                <a:spcPts val="400"/>
              </a:spcAft>
            </a:pPr>
            <a:r>
              <a:rPr sz="950" b="0" i="0">
                <a:solidFill>
                  <a:srgbClr val="CBE2D7"/>
                </a:solidFill>
                <a:latin typeface="Calibri"/>
              </a:rPr>
              <a:t>Shared capacity instead of ownership, consolidated refrigerated dispatch, digital settlement, and monthly loss reports for the cooperative.</a:t>
            </a:r>
          </a:p>
        </p:txBody>
      </p:sp>
      <p:sp>
        <p:nvSpPr>
          <p:cNvPr id="10" name="Rounded Rectangle 9"/>
          <p:cNvSpPr/>
          <p:nvPr/>
        </p:nvSpPr>
        <p:spPr>
          <a:xfrm>
            <a:off x="8072932" y="1170432"/>
            <a:ext cx="3551834" cy="1298448"/>
          </a:xfrm>
          <a:prstGeom prst="roundRect">
            <a:avLst>
              <a:gd name="adj" fmla="val 6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F2A33C"/>
                </a:solidFill>
                <a:latin typeface="Calibri"/>
              </a:rPr>
              <a:t>₱  </a:t>
            </a:r>
            <a:r>
              <a:rPr sz="1150" b="1" i="0">
                <a:solidFill>
                  <a:srgbClr val="FFFFFF"/>
                </a:solidFill>
                <a:latin typeface="Calibri"/>
              </a:rPr>
              <a:t>3 · Capture</a:t>
            </a:r>
          </a:p>
          <a:p>
            <a:pPr>
              <a:lnSpc>
                <a:spcPct val="102000"/>
              </a:lnSpc>
              <a:spcAft>
                <a:spcPts val="400"/>
              </a:spcAft>
            </a:pPr>
            <a:r>
              <a:rPr sz="950" b="0" i="0">
                <a:solidFill>
                  <a:srgbClr val="CBE2D7"/>
                </a:solidFill>
                <a:latin typeface="Calibri"/>
              </a:rPr>
              <a:t>Four recurring revenue lines, all tied to produce actually saved — our income grows only when farmers earn.</a:t>
            </a:r>
          </a:p>
        </p:txBody>
      </p:sp>
      <p:sp>
        <p:nvSpPr>
          <p:cNvPr id="11" name="Rounded Rectangle 10"/>
          <p:cNvSpPr/>
          <p:nvPr/>
        </p:nvSpPr>
        <p:spPr>
          <a:xfrm>
            <a:off x="566928" y="2651760"/>
            <a:ext cx="3216767" cy="1115568"/>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
            </a:r>
            <a:r>
              <a:rPr sz="1150" b="1" i="0">
                <a:solidFill>
                  <a:srgbClr val="FFFFFF"/>
                </a:solidFill>
                <a:latin typeface="Calibri"/>
              </a:rPr>
              <a:t>1 · Storage fee</a:t>
            </a:r>
          </a:p>
          <a:p>
            <a:pPr>
              <a:lnSpc>
                <a:spcPct val="102000"/>
              </a:lnSpc>
              <a:spcAft>
                <a:spcPts val="400"/>
              </a:spcAft>
            </a:pPr>
            <a:r>
              <a:rPr sz="950" b="0" i="0">
                <a:solidFill>
                  <a:srgbClr val="CBE2D7"/>
                </a:solidFill>
                <a:latin typeface="Calibri"/>
              </a:rPr>
              <a:t>₱1.20 / kg / day — billed to the buyer at dispatch and deducted from the farmer's settlement.</a:t>
            </a:r>
          </a:p>
        </p:txBody>
      </p:sp>
      <p:sp>
        <p:nvSpPr>
          <p:cNvPr id="12" name="Rounded Rectangle 11"/>
          <p:cNvSpPr/>
          <p:nvPr/>
        </p:nvSpPr>
        <p:spPr>
          <a:xfrm>
            <a:off x="3984863" y="2651760"/>
            <a:ext cx="3216767" cy="1115568"/>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
            </a:r>
            <a:r>
              <a:rPr sz="1150" b="1" i="0">
                <a:solidFill>
                  <a:srgbClr val="FFFFFF"/>
                </a:solidFill>
                <a:latin typeface="Calibri"/>
              </a:rPr>
              <a:t>2 · Offtake commission</a:t>
            </a:r>
          </a:p>
          <a:p>
            <a:pPr>
              <a:lnSpc>
                <a:spcPct val="102000"/>
              </a:lnSpc>
              <a:spcAft>
                <a:spcPts val="400"/>
              </a:spcAft>
            </a:pPr>
            <a:r>
              <a:rPr sz="950" b="0" i="0">
                <a:solidFill>
                  <a:srgbClr val="CBE2D7"/>
                </a:solidFill>
                <a:latin typeface="Calibri"/>
              </a:rPr>
              <a:t>6% of matched GMV — charged only when we find the buyer and clear payment.</a:t>
            </a:r>
          </a:p>
        </p:txBody>
      </p:sp>
      <p:sp>
        <p:nvSpPr>
          <p:cNvPr id="13" name="Rounded Rectangle 12"/>
          <p:cNvSpPr/>
          <p:nvPr/>
        </p:nvSpPr>
        <p:spPr>
          <a:xfrm>
            <a:off x="566928" y="3877056"/>
            <a:ext cx="3216767" cy="1115568"/>
          </a:xfrm>
          <a:prstGeom prst="roundRect">
            <a:avLst>
              <a:gd name="adj" fmla="val 6000"/>
            </a:avLst>
          </a:prstGeom>
          <a:solidFill>
            <a:srgbClr val="0C2E22"/>
          </a:solidFill>
          <a:ln w="11430">
            <a:solidFill>
              <a:srgbClr val="8FD4E8"/>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8FD4E8"/>
                </a:solidFill>
                <a:latin typeface="Calibri"/>
              </a:rPr>
              <a:t/>
            </a:r>
            <a:r>
              <a:rPr sz="1150" b="1" i="0">
                <a:solidFill>
                  <a:srgbClr val="FFFFFF"/>
                </a:solidFill>
                <a:latin typeface="Calibri"/>
              </a:rPr>
              <a:t>3 · Co-op analytics</a:t>
            </a:r>
          </a:p>
          <a:p>
            <a:pPr>
              <a:lnSpc>
                <a:spcPct val="102000"/>
              </a:lnSpc>
              <a:spcAft>
                <a:spcPts val="400"/>
              </a:spcAft>
            </a:pPr>
            <a:r>
              <a:rPr sz="950" b="0" i="0">
                <a:solidFill>
                  <a:srgbClr val="CBE2D7"/>
                </a:solidFill>
                <a:latin typeface="Calibri"/>
              </a:rPr>
              <a:t>₱499 / month — grade mix, loss trends, buyer price benchmarks, traceability.</a:t>
            </a:r>
          </a:p>
        </p:txBody>
      </p:sp>
      <p:sp>
        <p:nvSpPr>
          <p:cNvPr id="14" name="Rounded Rectangle 13"/>
          <p:cNvSpPr/>
          <p:nvPr/>
        </p:nvSpPr>
        <p:spPr>
          <a:xfrm>
            <a:off x="3984863" y="3877056"/>
            <a:ext cx="3216767" cy="1115568"/>
          </a:xfrm>
          <a:prstGeom prst="roundRect">
            <a:avLst>
              <a:gd name="adj" fmla="val 6000"/>
            </a:avLst>
          </a:prstGeom>
          <a:solidFill>
            <a:srgbClr val="0C2E22"/>
          </a:solidFill>
          <a:ln w="11430">
            <a:solidFill>
              <a:srgbClr val="8FD4E8"/>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8FD4E8"/>
                </a:solidFill>
                <a:latin typeface="Calibri"/>
              </a:rPr>
              <a:t/>
            </a:r>
            <a:r>
              <a:rPr sz="1150" b="1" i="0">
                <a:solidFill>
                  <a:srgbClr val="FFFFFF"/>
                </a:solidFill>
                <a:latin typeface="Calibri"/>
              </a:rPr>
              <a:t>4 · Impact reporting</a:t>
            </a:r>
          </a:p>
          <a:p>
            <a:pPr>
              <a:lnSpc>
                <a:spcPct val="102000"/>
              </a:lnSpc>
              <a:spcAft>
                <a:spcPts val="400"/>
              </a:spcAft>
            </a:pPr>
            <a:r>
              <a:rPr sz="950" b="0" i="0">
                <a:solidFill>
                  <a:srgbClr val="CBE2D7"/>
                </a:solidFill>
                <a:latin typeface="Calibri"/>
              </a:rPr>
              <a:t>₱25k–60k / contract — verified loss-reduction and CO₂e reports for LGUs and corporates.</a:t>
            </a:r>
          </a:p>
        </p:txBody>
      </p:sp>
      <p:sp>
        <p:nvSpPr>
          <p:cNvPr id="15" name="Rounded Rectangle 14"/>
          <p:cNvSpPr/>
          <p:nvPr/>
        </p:nvSpPr>
        <p:spPr>
          <a:xfrm>
            <a:off x="7421087" y="2651760"/>
            <a:ext cx="4203679" cy="2340864"/>
          </a:xfrm>
          <a:prstGeom prst="roundRect">
            <a:avLst>
              <a:gd name="adj" fmla="val 6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F2A33C"/>
                </a:solidFill>
                <a:latin typeface="Calibri"/>
              </a:rPr>
              <a:t>▤  </a:t>
            </a:r>
            <a:r>
              <a:rPr sz="1150" b="1" i="0">
                <a:solidFill>
                  <a:srgbClr val="FFFFFF"/>
                </a:solidFill>
                <a:latin typeface="Calibri"/>
              </a:rPr>
              <a:t>Unit economics · one 2-tonne hub</a:t>
            </a:r>
          </a:p>
        </p:txBody>
      </p:sp>
      <p:sp>
        <p:nvSpPr>
          <p:cNvPr id="16" name="TextBox 15"/>
          <p:cNvSpPr txBox="1"/>
          <p:nvPr/>
        </p:nvSpPr>
        <p:spPr>
          <a:xfrm>
            <a:off x="7603967" y="3218688"/>
            <a:ext cx="2379510" cy="237744"/>
          </a:xfrm>
          <a:prstGeom prst="rect">
            <a:avLst/>
          </a:prstGeom>
          <a:noFill/>
        </p:spPr>
        <p:txBody>
          <a:bodyPr wrap="square" anchor="t" lIns="0" rIns="0" tIns="0" bIns="0">
            <a:noAutofit/>
          </a:bodyPr>
          <a:lstStyle/>
          <a:p>
            <a:pPr algn="l">
              <a:lnSpc>
                <a:spcPct val="100000"/>
              </a:lnSpc>
              <a:spcAft>
                <a:spcPts val="0"/>
              </a:spcAft>
            </a:pPr>
            <a:r>
              <a:rPr sz="930" b="0" i="0">
                <a:solidFill>
                  <a:srgbClr val="CBE2D7"/>
                </a:solidFill>
                <a:latin typeface="Calibri"/>
              </a:rPr>
              <a:t>Capex per hub (grant-funded)</a:t>
            </a:r>
          </a:p>
        </p:txBody>
      </p:sp>
      <p:sp>
        <p:nvSpPr>
          <p:cNvPr id="17" name="TextBox 16"/>
          <p:cNvSpPr txBox="1"/>
          <p:nvPr/>
        </p:nvSpPr>
        <p:spPr>
          <a:xfrm>
            <a:off x="9906719" y="3218688"/>
            <a:ext cx="1535167" cy="237744"/>
          </a:xfrm>
          <a:prstGeom prst="rect">
            <a:avLst/>
          </a:prstGeom>
          <a:noFill/>
        </p:spPr>
        <p:txBody>
          <a:bodyPr wrap="square" anchor="t" lIns="0" rIns="0" tIns="0" bIns="0">
            <a:noAutofit/>
          </a:bodyPr>
          <a:lstStyle/>
          <a:p>
            <a:pPr algn="r">
              <a:lnSpc>
                <a:spcPct val="100000"/>
              </a:lnSpc>
              <a:spcAft>
                <a:spcPts val="0"/>
              </a:spcAft>
            </a:pPr>
            <a:r>
              <a:rPr sz="960" b="1" i="0">
                <a:solidFill>
                  <a:srgbClr val="FFFFFF"/>
                </a:solidFill>
                <a:latin typeface="Calibri"/>
              </a:rPr>
              <a:t>₱480,000</a:t>
            </a:r>
          </a:p>
        </p:txBody>
      </p:sp>
      <p:sp>
        <p:nvSpPr>
          <p:cNvPr id="18" name="Rectangle 17"/>
          <p:cNvSpPr/>
          <p:nvPr/>
        </p:nvSpPr>
        <p:spPr>
          <a:xfrm>
            <a:off x="7603967" y="3451860"/>
            <a:ext cx="3837919" cy="9144"/>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603967" y="3493008"/>
            <a:ext cx="2379510" cy="237744"/>
          </a:xfrm>
          <a:prstGeom prst="rect">
            <a:avLst/>
          </a:prstGeom>
          <a:noFill/>
        </p:spPr>
        <p:txBody>
          <a:bodyPr wrap="square" anchor="t" lIns="0" rIns="0" tIns="0" bIns="0">
            <a:noAutofit/>
          </a:bodyPr>
          <a:lstStyle/>
          <a:p>
            <a:pPr algn="l">
              <a:lnSpc>
                <a:spcPct val="100000"/>
              </a:lnSpc>
              <a:spcAft>
                <a:spcPts val="0"/>
              </a:spcAft>
            </a:pPr>
            <a:r>
              <a:rPr sz="930" b="0" i="0">
                <a:solidFill>
                  <a:srgbClr val="CBE2D7"/>
                </a:solidFill>
                <a:latin typeface="Calibri"/>
              </a:rPr>
              <a:t>Monthly opex</a:t>
            </a:r>
          </a:p>
        </p:txBody>
      </p:sp>
      <p:sp>
        <p:nvSpPr>
          <p:cNvPr id="20" name="TextBox 19"/>
          <p:cNvSpPr txBox="1"/>
          <p:nvPr/>
        </p:nvSpPr>
        <p:spPr>
          <a:xfrm>
            <a:off x="9906719" y="3493008"/>
            <a:ext cx="1535167" cy="237744"/>
          </a:xfrm>
          <a:prstGeom prst="rect">
            <a:avLst/>
          </a:prstGeom>
          <a:noFill/>
        </p:spPr>
        <p:txBody>
          <a:bodyPr wrap="square" anchor="t" lIns="0" rIns="0" tIns="0" bIns="0">
            <a:noAutofit/>
          </a:bodyPr>
          <a:lstStyle/>
          <a:p>
            <a:pPr algn="r">
              <a:lnSpc>
                <a:spcPct val="100000"/>
              </a:lnSpc>
              <a:spcAft>
                <a:spcPts val="0"/>
              </a:spcAft>
            </a:pPr>
            <a:r>
              <a:rPr sz="960" b="1" i="0">
                <a:solidFill>
                  <a:srgbClr val="FFFFFF"/>
                </a:solidFill>
                <a:latin typeface="Calibri"/>
              </a:rPr>
              <a:t>₱28,000</a:t>
            </a:r>
          </a:p>
        </p:txBody>
      </p:sp>
      <p:sp>
        <p:nvSpPr>
          <p:cNvPr id="21" name="Rectangle 20"/>
          <p:cNvSpPr/>
          <p:nvPr/>
        </p:nvSpPr>
        <p:spPr>
          <a:xfrm>
            <a:off x="7603967" y="3726180"/>
            <a:ext cx="3837919" cy="9144"/>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603967" y="3767328"/>
            <a:ext cx="2379510" cy="237744"/>
          </a:xfrm>
          <a:prstGeom prst="rect">
            <a:avLst/>
          </a:prstGeom>
          <a:noFill/>
        </p:spPr>
        <p:txBody>
          <a:bodyPr wrap="square" anchor="t" lIns="0" rIns="0" tIns="0" bIns="0">
            <a:noAutofit/>
          </a:bodyPr>
          <a:lstStyle/>
          <a:p>
            <a:pPr algn="l">
              <a:lnSpc>
                <a:spcPct val="100000"/>
              </a:lnSpc>
              <a:spcAft>
                <a:spcPts val="0"/>
              </a:spcAft>
            </a:pPr>
            <a:r>
              <a:rPr sz="930" b="0" i="0">
                <a:solidFill>
                  <a:srgbClr val="CBE2D7"/>
                </a:solidFill>
                <a:latin typeface="Calibri"/>
              </a:rPr>
              <a:t>Monthly revenue at 55% utilisation</a:t>
            </a:r>
          </a:p>
        </p:txBody>
      </p:sp>
      <p:sp>
        <p:nvSpPr>
          <p:cNvPr id="23" name="TextBox 22"/>
          <p:cNvSpPr txBox="1"/>
          <p:nvPr/>
        </p:nvSpPr>
        <p:spPr>
          <a:xfrm>
            <a:off x="9906719" y="3767328"/>
            <a:ext cx="1535167" cy="237744"/>
          </a:xfrm>
          <a:prstGeom prst="rect">
            <a:avLst/>
          </a:prstGeom>
          <a:noFill/>
        </p:spPr>
        <p:txBody>
          <a:bodyPr wrap="square" anchor="t" lIns="0" rIns="0" tIns="0" bIns="0">
            <a:noAutofit/>
          </a:bodyPr>
          <a:lstStyle/>
          <a:p>
            <a:pPr algn="r">
              <a:lnSpc>
                <a:spcPct val="100000"/>
              </a:lnSpc>
              <a:spcAft>
                <a:spcPts val="0"/>
              </a:spcAft>
            </a:pPr>
            <a:r>
              <a:rPr sz="960" b="1" i="0">
                <a:solidFill>
                  <a:srgbClr val="FFFFFF"/>
                </a:solidFill>
                <a:latin typeface="Calibri"/>
              </a:rPr>
              <a:t>₱61,000</a:t>
            </a:r>
          </a:p>
        </p:txBody>
      </p:sp>
      <p:sp>
        <p:nvSpPr>
          <p:cNvPr id="24" name="Rectangle 23"/>
          <p:cNvSpPr/>
          <p:nvPr/>
        </p:nvSpPr>
        <p:spPr>
          <a:xfrm>
            <a:off x="7603967" y="4000500"/>
            <a:ext cx="3837919" cy="9144"/>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603967" y="4041648"/>
            <a:ext cx="2379510" cy="237744"/>
          </a:xfrm>
          <a:prstGeom prst="rect">
            <a:avLst/>
          </a:prstGeom>
          <a:noFill/>
        </p:spPr>
        <p:txBody>
          <a:bodyPr wrap="square" anchor="t" lIns="0" rIns="0" tIns="0" bIns="0">
            <a:noAutofit/>
          </a:bodyPr>
          <a:lstStyle/>
          <a:p>
            <a:pPr algn="l">
              <a:lnSpc>
                <a:spcPct val="100000"/>
              </a:lnSpc>
              <a:spcAft>
                <a:spcPts val="0"/>
              </a:spcAft>
            </a:pPr>
            <a:r>
              <a:rPr sz="930" b="0" i="0">
                <a:solidFill>
                  <a:srgbClr val="CBE2D7"/>
                </a:solidFill>
                <a:latin typeface="Calibri"/>
              </a:rPr>
              <a:t>Contribution margin</a:t>
            </a:r>
          </a:p>
        </p:txBody>
      </p:sp>
      <p:sp>
        <p:nvSpPr>
          <p:cNvPr id="26" name="TextBox 25"/>
          <p:cNvSpPr txBox="1"/>
          <p:nvPr/>
        </p:nvSpPr>
        <p:spPr>
          <a:xfrm>
            <a:off x="9906719" y="4041648"/>
            <a:ext cx="1535167" cy="237744"/>
          </a:xfrm>
          <a:prstGeom prst="rect">
            <a:avLst/>
          </a:prstGeom>
          <a:noFill/>
        </p:spPr>
        <p:txBody>
          <a:bodyPr wrap="square" anchor="t" lIns="0" rIns="0" tIns="0" bIns="0">
            <a:noAutofit/>
          </a:bodyPr>
          <a:lstStyle/>
          <a:p>
            <a:pPr algn="r">
              <a:lnSpc>
                <a:spcPct val="100000"/>
              </a:lnSpc>
              <a:spcAft>
                <a:spcPts val="0"/>
              </a:spcAft>
            </a:pPr>
            <a:r>
              <a:rPr sz="960" b="1" i="0">
                <a:solidFill>
                  <a:srgbClr val="FFFFFF"/>
                </a:solidFill>
                <a:latin typeface="Calibri"/>
              </a:rPr>
              <a:t>₱33,000 / mo</a:t>
            </a:r>
          </a:p>
        </p:txBody>
      </p:sp>
      <p:sp>
        <p:nvSpPr>
          <p:cNvPr id="27" name="Rectangle 26"/>
          <p:cNvSpPr/>
          <p:nvPr/>
        </p:nvSpPr>
        <p:spPr>
          <a:xfrm>
            <a:off x="7603967" y="4274820"/>
            <a:ext cx="3837919" cy="9144"/>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603967" y="4315968"/>
            <a:ext cx="2379510" cy="237744"/>
          </a:xfrm>
          <a:prstGeom prst="rect">
            <a:avLst/>
          </a:prstGeom>
          <a:noFill/>
        </p:spPr>
        <p:txBody>
          <a:bodyPr wrap="square" anchor="t" lIns="0" rIns="0" tIns="0" bIns="0">
            <a:noAutofit/>
          </a:bodyPr>
          <a:lstStyle/>
          <a:p>
            <a:pPr algn="l">
              <a:lnSpc>
                <a:spcPct val="100000"/>
              </a:lnSpc>
              <a:spcAft>
                <a:spcPts val="0"/>
              </a:spcAft>
            </a:pPr>
            <a:r>
              <a:rPr sz="930" b="0" i="0">
                <a:solidFill>
                  <a:srgbClr val="CBE2D7"/>
                </a:solidFill>
                <a:latin typeface="Calibri"/>
              </a:rPr>
              <a:t>Gross margin</a:t>
            </a:r>
          </a:p>
        </p:txBody>
      </p:sp>
      <p:sp>
        <p:nvSpPr>
          <p:cNvPr id="29" name="TextBox 28"/>
          <p:cNvSpPr txBox="1"/>
          <p:nvPr/>
        </p:nvSpPr>
        <p:spPr>
          <a:xfrm>
            <a:off x="9906719" y="4315968"/>
            <a:ext cx="1535167" cy="237744"/>
          </a:xfrm>
          <a:prstGeom prst="rect">
            <a:avLst/>
          </a:prstGeom>
          <a:noFill/>
        </p:spPr>
        <p:txBody>
          <a:bodyPr wrap="square" anchor="t" lIns="0" rIns="0" tIns="0" bIns="0">
            <a:noAutofit/>
          </a:bodyPr>
          <a:lstStyle/>
          <a:p>
            <a:pPr algn="r">
              <a:lnSpc>
                <a:spcPct val="100000"/>
              </a:lnSpc>
              <a:spcAft>
                <a:spcPts val="0"/>
              </a:spcAft>
            </a:pPr>
            <a:r>
              <a:rPr sz="960" b="1" i="0">
                <a:solidFill>
                  <a:srgbClr val="FFFFFF"/>
                </a:solidFill>
                <a:latin typeface="Calibri"/>
              </a:rPr>
              <a:t>54%</a:t>
            </a:r>
          </a:p>
        </p:txBody>
      </p:sp>
      <p:sp>
        <p:nvSpPr>
          <p:cNvPr id="30" name="Rectangle 29"/>
          <p:cNvSpPr/>
          <p:nvPr/>
        </p:nvSpPr>
        <p:spPr>
          <a:xfrm>
            <a:off x="7603967" y="4549140"/>
            <a:ext cx="3837919" cy="9144"/>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603967" y="4590288"/>
            <a:ext cx="2379510" cy="237744"/>
          </a:xfrm>
          <a:prstGeom prst="rect">
            <a:avLst/>
          </a:prstGeom>
          <a:noFill/>
        </p:spPr>
        <p:txBody>
          <a:bodyPr wrap="square" anchor="t" lIns="0" rIns="0" tIns="0" bIns="0">
            <a:noAutofit/>
          </a:bodyPr>
          <a:lstStyle/>
          <a:p>
            <a:pPr algn="l">
              <a:lnSpc>
                <a:spcPct val="100000"/>
              </a:lnSpc>
              <a:spcAft>
                <a:spcPts val="0"/>
              </a:spcAft>
            </a:pPr>
            <a:r>
              <a:rPr sz="930" b="0" i="0">
                <a:solidFill>
                  <a:srgbClr val="CBE2D7"/>
                </a:solidFill>
                <a:latin typeface="Calibri"/>
              </a:rPr>
              <a:t>Payback per hub</a:t>
            </a:r>
          </a:p>
        </p:txBody>
      </p:sp>
      <p:sp>
        <p:nvSpPr>
          <p:cNvPr id="32" name="TextBox 31"/>
          <p:cNvSpPr txBox="1"/>
          <p:nvPr/>
        </p:nvSpPr>
        <p:spPr>
          <a:xfrm>
            <a:off x="9906719" y="4590288"/>
            <a:ext cx="1535167" cy="237744"/>
          </a:xfrm>
          <a:prstGeom prst="rect">
            <a:avLst/>
          </a:prstGeom>
          <a:noFill/>
        </p:spPr>
        <p:txBody>
          <a:bodyPr wrap="square" anchor="t" lIns="0" rIns="0" tIns="0" bIns="0">
            <a:noAutofit/>
          </a:bodyPr>
          <a:lstStyle/>
          <a:p>
            <a:pPr algn="r">
              <a:lnSpc>
                <a:spcPct val="100000"/>
              </a:lnSpc>
              <a:spcAft>
                <a:spcPts val="0"/>
              </a:spcAft>
            </a:pPr>
            <a:r>
              <a:rPr sz="960" b="1" i="0">
                <a:solidFill>
                  <a:srgbClr val="FFD9A2"/>
                </a:solidFill>
                <a:latin typeface="Calibri"/>
              </a:rPr>
              <a:t>≈ 14.5 months</a:t>
            </a:r>
          </a:p>
        </p:txBody>
      </p:sp>
      <p:sp>
        <p:nvSpPr>
          <p:cNvPr id="33" name="Rectangle 32"/>
          <p:cNvSpPr/>
          <p:nvPr/>
        </p:nvSpPr>
        <p:spPr>
          <a:xfrm>
            <a:off x="7603967" y="4823460"/>
            <a:ext cx="3837919" cy="9144"/>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66928" y="6382512"/>
            <a:ext cx="11057839" cy="274320"/>
          </a:xfrm>
          <a:prstGeom prst="rect">
            <a:avLst/>
          </a:prstGeom>
          <a:noFill/>
        </p:spPr>
        <p:txBody>
          <a:bodyPr wrap="square" anchor="t" lIns="0" rIns="0" tIns="0" bIns="0">
            <a:noAutofit/>
          </a:bodyPr>
          <a:lstStyle/>
          <a:p>
            <a:pPr algn="l">
              <a:lnSpc>
                <a:spcPct val="105000"/>
              </a:lnSpc>
              <a:spcAft>
                <a:spcPts val="0"/>
              </a:spcAft>
            </a:pPr>
            <a:r>
              <a:rPr sz="720" b="0" i="0">
                <a:solidFill>
                  <a:srgbClr val="7E9D8F"/>
                </a:solidFill>
                <a:latin typeface="Calibri"/>
              </a:rPr>
              <a:t>Utilisation ramp assumed: 35% (M1–M3) → 55% (M4–M12) → 70% (Year 2). 80/20 revenue share with the cooperative. Concept-level projections for a 12-month pilot.</a:t>
            </a:r>
          </a:p>
        </p:txBody>
      </p:sp>
    </p:spTree>
  </p:cSld>
  <p:clrMapOvr>
    <a:masterClrMapping/>
  </p:clrMapOvr>
  <mc:AlternateContent xmlns:mc="http://schemas.openxmlformats.org/markup-compatibility/2006">
    <mc:Choice xmlns:p14="http://schemas.microsoft.com/office/powerpoint/2010/main" Requires="p14">
      <p:transition advTm="18000" p14:dur="1100">
        <p14:cube dir="l"/>
      </p:transition>
    </mc:Choice>
    <mc:Fallback>
      <p:transition spd="slow" advTm="18000">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1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168335" y="-1371600"/>
            <a:ext cx="5120640" cy="51206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828800" y="4114800"/>
            <a:ext cx="4206240" cy="42062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66928" y="384048"/>
            <a:ext cx="676656" cy="676656"/>
          </a:xfrm>
          <a:prstGeom prst="roundRect">
            <a:avLst>
              <a:gd name="adj" fmla="val 22000"/>
            </a:avLst>
          </a:prstGeom>
          <a:solidFill>
            <a:srgbClr val="7FD1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04120C"/>
                </a:solidFill>
                <a:latin typeface="Calibri"/>
              </a:rPr>
              <a:t>VIII</a:t>
            </a:r>
          </a:p>
        </p:txBody>
      </p:sp>
      <p:sp>
        <p:nvSpPr>
          <p:cNvPr id="6" name="TextBox 5"/>
          <p:cNvSpPr txBox="1"/>
          <p:nvPr/>
        </p:nvSpPr>
        <p:spPr>
          <a:xfrm>
            <a:off x="1481328" y="402336"/>
            <a:ext cx="10143439" cy="201168"/>
          </a:xfrm>
          <a:prstGeom prst="rect">
            <a:avLst/>
          </a:prstGeom>
          <a:noFill/>
        </p:spPr>
        <p:txBody>
          <a:bodyPr wrap="square" anchor="t" lIns="0" rIns="0" tIns="0" bIns="0">
            <a:noAutofit/>
          </a:bodyPr>
          <a:lstStyle/>
          <a:p>
            <a:pPr algn="l">
              <a:lnSpc>
                <a:spcPct val="100000"/>
              </a:lnSpc>
              <a:spcAft>
                <a:spcPts val="0"/>
              </a:spcAft>
            </a:pPr>
            <a:r>
              <a:rPr sz="900" b="1" i="0">
                <a:solidFill>
                  <a:srgbClr val="7FD1AE"/>
                </a:solidFill>
                <a:latin typeface="Calibri"/>
              </a:rPr>
              <a:t>MARKET ANALYSIS</a:t>
            </a:r>
          </a:p>
        </p:txBody>
      </p:sp>
      <p:sp>
        <p:nvSpPr>
          <p:cNvPr id="7" name="TextBox 6"/>
          <p:cNvSpPr txBox="1"/>
          <p:nvPr/>
        </p:nvSpPr>
        <p:spPr>
          <a:xfrm>
            <a:off x="1481328" y="621792"/>
            <a:ext cx="10143439" cy="457200"/>
          </a:xfrm>
          <a:prstGeom prst="rect">
            <a:avLst/>
          </a:prstGeom>
          <a:noFill/>
        </p:spPr>
        <p:txBody>
          <a:bodyPr wrap="square" anchor="t" lIns="0" rIns="0" tIns="0" bIns="0">
            <a:noAutofit/>
          </a:bodyPr>
          <a:lstStyle/>
          <a:p>
            <a:pPr algn="l">
              <a:lnSpc>
                <a:spcPct val="98000"/>
              </a:lnSpc>
              <a:spcAft>
                <a:spcPts val="0"/>
              </a:spcAft>
            </a:pPr>
            <a:r>
              <a:rPr sz="2400" b="1" i="0">
                <a:solidFill>
                  <a:srgbClr val="FFFFFF"/>
                </a:solidFill>
                <a:latin typeface="Calibri"/>
              </a:rPr>
              <a:t>A ₱4.6 B market — 1% capture is already a real business</a:t>
            </a:r>
          </a:p>
        </p:txBody>
      </p:sp>
      <p:sp>
        <p:nvSpPr>
          <p:cNvPr id="8" name="Rounded Rectangle 7"/>
          <p:cNvSpPr/>
          <p:nvPr/>
        </p:nvSpPr>
        <p:spPr>
          <a:xfrm>
            <a:off x="566928" y="1170432"/>
            <a:ext cx="3551834" cy="118872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400" b="1" i="0">
                <a:solidFill>
                  <a:srgbClr val="7FD1AE"/>
                </a:solidFill>
                <a:latin typeface="Calibri"/>
              </a:rPr>
              <a:t>₱4.6 B</a:t>
            </a:r>
          </a:p>
          <a:p>
            <a:pPr>
              <a:lnSpc>
                <a:spcPct val="100000"/>
              </a:lnSpc>
              <a:spcAft>
                <a:spcPts val="300"/>
              </a:spcAft>
            </a:pPr>
            <a:r>
              <a:rPr sz="800" b="1" i="0">
                <a:solidFill>
                  <a:srgbClr val="9FBBAE"/>
                </a:solidFill>
                <a:latin typeface="Calibri"/>
              </a:rPr>
              <a:t>TAM · NATIONAL</a:t>
            </a:r>
          </a:p>
          <a:p>
            <a:pPr>
              <a:lnSpc>
                <a:spcPct val="100000"/>
              </a:lnSpc>
              <a:spcAft>
                <a:spcPts val="300"/>
              </a:spcAft>
            </a:pPr>
            <a:r>
              <a:rPr sz="780" b="0" i="0">
                <a:solidFill>
                  <a:srgbClr val="7E9D8F"/>
                </a:solidFill>
                <a:latin typeface="Calibri"/>
              </a:rPr>
              <a:t>Cold storage + post-harvest services for highland vegetables and fruits.</a:t>
            </a:r>
          </a:p>
        </p:txBody>
      </p:sp>
      <p:sp>
        <p:nvSpPr>
          <p:cNvPr id="9" name="Rounded Rectangle 8"/>
          <p:cNvSpPr/>
          <p:nvPr/>
        </p:nvSpPr>
        <p:spPr>
          <a:xfrm>
            <a:off x="4319930" y="1170432"/>
            <a:ext cx="3551834" cy="118872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400" b="1" i="0">
                <a:solidFill>
                  <a:srgbClr val="F2A33C"/>
                </a:solidFill>
                <a:latin typeface="Calibri"/>
              </a:rPr>
              <a:t>₱1.1 B</a:t>
            </a:r>
          </a:p>
          <a:p>
            <a:pPr>
              <a:lnSpc>
                <a:spcPct val="100000"/>
              </a:lnSpc>
              <a:spcAft>
                <a:spcPts val="300"/>
              </a:spcAft>
            </a:pPr>
            <a:r>
              <a:rPr sz="800" b="1" i="0">
                <a:solidFill>
                  <a:srgbClr val="9FBBAE"/>
                </a:solidFill>
                <a:latin typeface="Calibri"/>
              </a:rPr>
              <a:t>SAM · SERVICEABLE</a:t>
            </a:r>
          </a:p>
          <a:p>
            <a:pPr>
              <a:lnSpc>
                <a:spcPct val="100000"/>
              </a:lnSpc>
              <a:spcAft>
                <a:spcPts val="300"/>
              </a:spcAft>
            </a:pPr>
            <a:r>
              <a:rPr sz="780" b="0" i="0">
                <a:solidFill>
                  <a:srgbClr val="7E9D8F"/>
                </a:solidFill>
                <a:latin typeface="Calibri"/>
              </a:rPr>
              <a:t>Cordillera + Northern Luzon corridors — ~1,200 t/day moving to Manila.</a:t>
            </a:r>
          </a:p>
        </p:txBody>
      </p:sp>
      <p:sp>
        <p:nvSpPr>
          <p:cNvPr id="10" name="Rounded Rectangle 9"/>
          <p:cNvSpPr/>
          <p:nvPr/>
        </p:nvSpPr>
        <p:spPr>
          <a:xfrm>
            <a:off x="8072932" y="1170432"/>
            <a:ext cx="3551834" cy="118872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400" b="1" i="0">
                <a:solidFill>
                  <a:srgbClr val="7FD1AE"/>
                </a:solidFill>
                <a:latin typeface="Calibri"/>
              </a:rPr>
              <a:t>₱12 M</a:t>
            </a:r>
          </a:p>
          <a:p>
            <a:pPr>
              <a:lnSpc>
                <a:spcPct val="100000"/>
              </a:lnSpc>
              <a:spcAft>
                <a:spcPts val="300"/>
              </a:spcAft>
            </a:pPr>
            <a:r>
              <a:rPr sz="800" b="1" i="0">
                <a:solidFill>
                  <a:srgbClr val="9FBBAE"/>
                </a:solidFill>
                <a:latin typeface="Calibri"/>
              </a:rPr>
              <a:t>SOM · YEAR 3</a:t>
            </a:r>
          </a:p>
          <a:p>
            <a:pPr>
              <a:lnSpc>
                <a:spcPct val="100000"/>
              </a:lnSpc>
              <a:spcAft>
                <a:spcPts val="300"/>
              </a:spcAft>
            </a:pPr>
            <a:r>
              <a:rPr sz="780" b="0" i="0">
                <a:solidFill>
                  <a:srgbClr val="7E9D8F"/>
                </a:solidFill>
                <a:latin typeface="Calibri"/>
              </a:rPr>
              <a:t>30 hubs × ₱735k — roughly 1% of SAM.</a:t>
            </a:r>
          </a:p>
        </p:txBody>
      </p:sp>
      <p:sp>
        <p:nvSpPr>
          <p:cNvPr id="11" name="Rounded Rectangle 10"/>
          <p:cNvSpPr/>
          <p:nvPr/>
        </p:nvSpPr>
        <p:spPr>
          <a:xfrm>
            <a:off x="566928" y="2560320"/>
            <a:ext cx="4114800" cy="2788920"/>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  </a:t>
            </a:r>
            <a:r>
              <a:rPr sz="1150" b="1" i="0">
                <a:solidFill>
                  <a:srgbClr val="FFFFFF"/>
                </a:solidFill>
                <a:latin typeface="Calibri"/>
              </a:rPr>
              <a:t>Positioning: farm-side assets vs demand intelligence</a:t>
            </a:r>
          </a:p>
        </p:txBody>
      </p:sp>
      <p:sp>
        <p:nvSpPr>
          <p:cNvPr id="12" name="Rectangle 11"/>
          <p:cNvSpPr/>
          <p:nvPr/>
        </p:nvSpPr>
        <p:spPr>
          <a:xfrm>
            <a:off x="1069848" y="3273552"/>
            <a:ext cx="3154680" cy="9144"/>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069848" y="3273552"/>
            <a:ext cx="3154680" cy="164591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069848" y="4919472"/>
            <a:ext cx="3154680" cy="9144"/>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069848" y="3273552"/>
            <a:ext cx="9144" cy="1645919"/>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385316" y="3536899"/>
            <a:ext cx="128016" cy="128016"/>
          </a:xfrm>
          <a:prstGeom prst="ellipse">
            <a:avLst/>
          </a:prstGeom>
          <a:solidFill>
            <a:srgbClr val="8FD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568195" y="3527755"/>
            <a:ext cx="1554480" cy="182880"/>
          </a:xfrm>
          <a:prstGeom prst="rect">
            <a:avLst/>
          </a:prstGeom>
          <a:noFill/>
        </p:spPr>
        <p:txBody>
          <a:bodyPr wrap="square" anchor="t" lIns="0" rIns="0" tIns="0" bIns="0">
            <a:noAutofit/>
          </a:bodyPr>
          <a:lstStyle/>
          <a:p>
            <a:pPr algn="l">
              <a:lnSpc>
                <a:spcPct val="100000"/>
              </a:lnSpc>
              <a:spcAft>
                <a:spcPts val="0"/>
              </a:spcAft>
            </a:pPr>
            <a:r>
              <a:rPr sz="800" b="0" i="0">
                <a:solidFill>
                  <a:srgbClr val="CBE2D7"/>
                </a:solidFill>
                <a:latin typeface="Calibri"/>
              </a:rPr>
              <a:t>Urban cold storage</a:t>
            </a:r>
          </a:p>
        </p:txBody>
      </p:sp>
      <p:sp>
        <p:nvSpPr>
          <p:cNvPr id="18" name="Oval 17"/>
          <p:cNvSpPr/>
          <p:nvPr/>
        </p:nvSpPr>
        <p:spPr>
          <a:xfrm>
            <a:off x="2016252" y="4294022"/>
            <a:ext cx="128016" cy="128016"/>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199132" y="4284878"/>
            <a:ext cx="1554480" cy="182880"/>
          </a:xfrm>
          <a:prstGeom prst="rect">
            <a:avLst/>
          </a:prstGeom>
          <a:noFill/>
        </p:spPr>
        <p:txBody>
          <a:bodyPr wrap="square" anchor="t" lIns="0" rIns="0" tIns="0" bIns="0">
            <a:noAutofit/>
          </a:bodyPr>
          <a:lstStyle/>
          <a:p>
            <a:pPr algn="l">
              <a:lnSpc>
                <a:spcPct val="100000"/>
              </a:lnSpc>
              <a:spcAft>
                <a:spcPts val="0"/>
              </a:spcAft>
            </a:pPr>
            <a:r>
              <a:rPr sz="800" b="0" i="0">
                <a:solidFill>
                  <a:srgbClr val="CBE2D7"/>
                </a:solidFill>
                <a:latin typeface="Calibri"/>
              </a:rPr>
              <a:t>Digital agri marketplaces</a:t>
            </a:r>
          </a:p>
        </p:txBody>
      </p:sp>
      <p:sp>
        <p:nvSpPr>
          <p:cNvPr id="20" name="Oval 19"/>
          <p:cNvSpPr/>
          <p:nvPr/>
        </p:nvSpPr>
        <p:spPr>
          <a:xfrm>
            <a:off x="3341217" y="3734409"/>
            <a:ext cx="128016" cy="128016"/>
          </a:xfrm>
          <a:prstGeom prst="ellipse">
            <a:avLst/>
          </a:prstGeom>
          <a:solidFill>
            <a:srgbClr val="9FBB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24097" y="3725265"/>
            <a:ext cx="1554480" cy="182880"/>
          </a:xfrm>
          <a:prstGeom prst="rect">
            <a:avLst/>
          </a:prstGeom>
          <a:noFill/>
        </p:spPr>
        <p:txBody>
          <a:bodyPr wrap="square" anchor="t" lIns="0" rIns="0" tIns="0" bIns="0">
            <a:noAutofit/>
          </a:bodyPr>
          <a:lstStyle/>
          <a:p>
            <a:pPr algn="l">
              <a:lnSpc>
                <a:spcPct val="100000"/>
              </a:lnSpc>
              <a:spcAft>
                <a:spcPts val="0"/>
              </a:spcAft>
            </a:pPr>
            <a:r>
              <a:rPr sz="800" b="0" i="0">
                <a:solidFill>
                  <a:srgbClr val="CBE2D7"/>
                </a:solidFill>
                <a:latin typeface="Calibri"/>
              </a:rPr>
              <a:t>Cold-chain suppliers</a:t>
            </a:r>
          </a:p>
        </p:txBody>
      </p:sp>
      <p:sp>
        <p:nvSpPr>
          <p:cNvPr id="22" name="Oval 21"/>
          <p:cNvSpPr/>
          <p:nvPr/>
        </p:nvSpPr>
        <p:spPr>
          <a:xfrm>
            <a:off x="3467404" y="3767328"/>
            <a:ext cx="219456" cy="219456"/>
          </a:xfrm>
          <a:prstGeom prst="ellipse">
            <a:avLst/>
          </a:prstGeom>
          <a:solidFill>
            <a:srgbClr val="F2A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804922" y="3339388"/>
            <a:ext cx="1737360" cy="182880"/>
          </a:xfrm>
          <a:prstGeom prst="rect">
            <a:avLst/>
          </a:prstGeom>
          <a:noFill/>
        </p:spPr>
        <p:txBody>
          <a:bodyPr wrap="square" anchor="t" lIns="0" rIns="0" tIns="0" bIns="0">
            <a:noAutofit/>
          </a:bodyPr>
          <a:lstStyle/>
          <a:p>
            <a:pPr algn="ctr">
              <a:lnSpc>
                <a:spcPct val="100000"/>
              </a:lnSpc>
              <a:spcAft>
                <a:spcPts val="0"/>
              </a:spcAft>
            </a:pPr>
            <a:r>
              <a:rPr sz="900" b="1" i="0">
                <a:solidFill>
                  <a:srgbClr val="FFD9A2"/>
                </a:solidFill>
                <a:latin typeface="Calibri"/>
              </a:rPr>
              <a:t>FRESKO</a:t>
            </a:r>
          </a:p>
        </p:txBody>
      </p:sp>
      <p:sp>
        <p:nvSpPr>
          <p:cNvPr id="24" name="TextBox 23"/>
          <p:cNvSpPr txBox="1"/>
          <p:nvPr/>
        </p:nvSpPr>
        <p:spPr>
          <a:xfrm>
            <a:off x="1069848" y="5029200"/>
            <a:ext cx="3154680" cy="182880"/>
          </a:xfrm>
          <a:prstGeom prst="rect">
            <a:avLst/>
          </a:prstGeom>
          <a:noFill/>
        </p:spPr>
        <p:txBody>
          <a:bodyPr wrap="square" anchor="t" lIns="0" rIns="0" tIns="0" bIns="0">
            <a:noAutofit/>
          </a:bodyPr>
          <a:lstStyle/>
          <a:p>
            <a:pPr algn="ctr">
              <a:lnSpc>
                <a:spcPct val="100000"/>
              </a:lnSpc>
              <a:spcAft>
                <a:spcPts val="0"/>
              </a:spcAft>
            </a:pPr>
            <a:r>
              <a:rPr sz="750" b="0" i="0">
                <a:solidFill>
                  <a:srgbClr val="7E9D8F"/>
                </a:solidFill>
                <a:latin typeface="Calibri"/>
              </a:rPr>
              <a:t>Farm-side infrastructure →</a:t>
            </a:r>
          </a:p>
        </p:txBody>
      </p:sp>
      <p:sp>
        <p:nvSpPr>
          <p:cNvPr id="25" name="Rounded Rectangle 24"/>
          <p:cNvSpPr/>
          <p:nvPr/>
        </p:nvSpPr>
        <p:spPr>
          <a:xfrm>
            <a:off x="4882896" y="2560320"/>
            <a:ext cx="3270351" cy="2788920"/>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  </a:t>
            </a:r>
            <a:r>
              <a:rPr sz="1150" b="1" i="0">
                <a:solidFill>
                  <a:srgbClr val="FFFFFF"/>
                </a:solidFill>
                <a:latin typeface="Calibri"/>
              </a:rPr>
              <a:t>Trends we ride</a:t>
            </a:r>
          </a:p>
          <a:p>
            <a:pPr>
              <a:lnSpc>
                <a:spcPct val="100000"/>
              </a:lnSpc>
              <a:spcAft>
                <a:spcPts val="300"/>
              </a:spcAft>
            </a:pPr>
            <a:r>
              <a:rPr sz="930" b="1">
                <a:solidFill>
                  <a:srgbClr val="7FD1AE"/>
                </a:solidFill>
                <a:latin typeface="Calibri"/>
              </a:rPr>
              <a:t>▪  </a:t>
            </a:r>
            <a:r>
              <a:rPr sz="930" b="0" i="0">
                <a:solidFill>
                  <a:srgbClr val="CBE2D7"/>
                </a:solidFill>
                <a:latin typeface="Calibri"/>
              </a:rPr>
              <a:t>~540,000 pallet-position cold-chain gap; DA/PRDP grants for farm-side facilities.</a:t>
            </a:r>
          </a:p>
          <a:p>
            <a:pPr>
              <a:lnSpc>
                <a:spcPct val="100000"/>
              </a:lnSpc>
              <a:spcAft>
                <a:spcPts val="300"/>
              </a:spcAft>
            </a:pPr>
            <a:r>
              <a:rPr sz="930" b="1">
                <a:solidFill>
                  <a:srgbClr val="7FD1AE"/>
                </a:solidFill>
                <a:latin typeface="Calibri"/>
              </a:rPr>
              <a:t>▪  </a:t>
            </a:r>
            <a:r>
              <a:rPr sz="930" b="0" i="0">
                <a:solidFill>
                  <a:srgbClr val="CBE2D7"/>
                </a:solidFill>
                <a:latin typeface="Calibri"/>
              </a:rPr>
              <a:t>Food inflation keeps loss reduction high on LGU agendas.</a:t>
            </a:r>
          </a:p>
          <a:p>
            <a:pPr>
              <a:lnSpc>
                <a:spcPct val="100000"/>
              </a:lnSpc>
              <a:spcAft>
                <a:spcPts val="300"/>
              </a:spcAft>
            </a:pPr>
            <a:r>
              <a:rPr sz="930" b="1">
                <a:solidFill>
                  <a:srgbClr val="7FD1AE"/>
                </a:solidFill>
                <a:latin typeface="Calibri"/>
              </a:rPr>
              <a:t>▪  </a:t>
            </a:r>
            <a:r>
              <a:rPr sz="930" b="0" i="0">
                <a:solidFill>
                  <a:srgbClr val="CBE2D7"/>
                </a:solidFill>
                <a:latin typeface="Calibri"/>
              </a:rPr>
              <a:t>E-grocery and food service want traceable, graded local produce.</a:t>
            </a:r>
          </a:p>
          <a:p>
            <a:pPr>
              <a:lnSpc>
                <a:spcPct val="100000"/>
              </a:lnSpc>
              <a:spcAft>
                <a:spcPts val="300"/>
              </a:spcAft>
            </a:pPr>
            <a:r>
              <a:rPr sz="930" b="1">
                <a:solidFill>
                  <a:srgbClr val="7FD1AE"/>
                </a:solidFill>
                <a:latin typeface="Calibri"/>
              </a:rPr>
              <a:t>▪  </a:t>
            </a:r>
            <a:r>
              <a:rPr sz="930" b="0" i="0">
                <a:solidFill>
                  <a:srgbClr val="CBE2D7"/>
                </a:solidFill>
                <a:latin typeface="Calibri"/>
              </a:rPr>
              <a:t>Rising demand for verified food-loss and emissions reporting.</a:t>
            </a:r>
          </a:p>
        </p:txBody>
      </p:sp>
      <p:sp>
        <p:nvSpPr>
          <p:cNvPr id="26" name="Rounded Rectangle 25"/>
          <p:cNvSpPr/>
          <p:nvPr/>
        </p:nvSpPr>
        <p:spPr>
          <a:xfrm>
            <a:off x="8354415" y="2560320"/>
            <a:ext cx="3270351" cy="2788920"/>
          </a:xfrm>
          <a:prstGeom prst="roundRect">
            <a:avLst>
              <a:gd name="adj" fmla="val 6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F2A33C"/>
                </a:solidFill>
                <a:latin typeface="Calibri"/>
              </a:rPr>
              <a:t>⚔  </a:t>
            </a:r>
            <a:r>
              <a:rPr sz="1150" b="1" i="0">
                <a:solidFill>
                  <a:srgbClr val="FFFFFF"/>
                </a:solidFill>
                <a:latin typeface="Calibri"/>
              </a:rPr>
              <a:t>Competitors &amp; our edge</a:t>
            </a:r>
          </a:p>
          <a:p>
            <a:pPr>
              <a:lnSpc>
                <a:spcPct val="100000"/>
              </a:lnSpc>
              <a:spcAft>
                <a:spcPts val="300"/>
              </a:spcAft>
            </a:pPr>
            <a:r>
              <a:rPr sz="930" b="1">
                <a:solidFill>
                  <a:srgbClr val="F2A33C"/>
                </a:solidFill>
                <a:latin typeface="Calibri"/>
              </a:rPr>
              <a:t>▪  </a:t>
            </a:r>
            <a:r>
              <a:rPr sz="930" b="0" i="0">
                <a:solidFill>
                  <a:srgbClr val="CBE2D7"/>
                </a:solidFill>
                <a:latin typeface="Calibri"/>
              </a:rPr>
              <a:t>Trading posts — no cooling; we plug in as buyers instead of replacing them.</a:t>
            </a:r>
          </a:p>
          <a:p>
            <a:pPr>
              <a:lnSpc>
                <a:spcPct val="100000"/>
              </a:lnSpc>
              <a:spcAft>
                <a:spcPts val="300"/>
              </a:spcAft>
            </a:pPr>
            <a:r>
              <a:rPr sz="930" b="1">
                <a:solidFill>
                  <a:srgbClr val="F2A33C"/>
                </a:solidFill>
                <a:latin typeface="Calibri"/>
              </a:rPr>
              <a:t>▪  </a:t>
            </a:r>
            <a:r>
              <a:rPr sz="930" b="0" i="0">
                <a:solidFill>
                  <a:srgbClr val="CBE2D7"/>
                </a:solidFill>
                <a:latin typeface="Calibri"/>
              </a:rPr>
              <a:t>Urban cold storage — too late in the chain to recover lost shelf life.</a:t>
            </a:r>
          </a:p>
          <a:p>
            <a:pPr>
              <a:lnSpc>
                <a:spcPct val="100000"/>
              </a:lnSpc>
              <a:spcAft>
                <a:spcPts val="300"/>
              </a:spcAft>
            </a:pPr>
            <a:r>
              <a:rPr sz="930" b="1">
                <a:solidFill>
                  <a:srgbClr val="F2A33C"/>
                </a:solidFill>
                <a:latin typeface="Calibri"/>
              </a:rPr>
              <a:t>▪  </a:t>
            </a:r>
            <a:r>
              <a:rPr sz="930" b="0" i="0">
                <a:solidFill>
                  <a:srgbClr val="CBE2D7"/>
                </a:solidFill>
                <a:latin typeface="Calibri"/>
              </a:rPr>
              <a:t>Cold-chain 3PLs — urban, per-trip; we make small volumes shareable.</a:t>
            </a:r>
          </a:p>
          <a:p>
            <a:pPr>
              <a:lnSpc>
                <a:spcPct val="100000"/>
              </a:lnSpc>
              <a:spcAft>
                <a:spcPts val="300"/>
              </a:spcAft>
            </a:pPr>
            <a:r>
              <a:rPr sz="930" b="1">
                <a:solidFill>
                  <a:srgbClr val="F2A33C"/>
                </a:solidFill>
                <a:latin typeface="Calibri"/>
              </a:rPr>
              <a:t>▪  </a:t>
            </a:r>
            <a:r>
              <a:rPr sz="930" b="0" i="0">
                <a:solidFill>
                  <a:srgbClr val="CBE2D7"/>
                </a:solidFill>
                <a:latin typeface="Calibri"/>
              </a:rPr>
              <a:t>Solar cold-room suppliers — hardware only; we bundle demand and payment.</a:t>
            </a:r>
          </a:p>
          <a:p>
            <a:pPr>
              <a:lnSpc>
                <a:spcPct val="100000"/>
              </a:lnSpc>
              <a:spcAft>
                <a:spcPts val="300"/>
              </a:spcAft>
            </a:pPr>
            <a:r>
              <a:rPr sz="930" b="1">
                <a:solidFill>
                  <a:srgbClr val="F2A33C"/>
                </a:solidFill>
                <a:latin typeface="Calibri"/>
              </a:rPr>
              <a:t>▪  </a:t>
            </a:r>
            <a:r>
              <a:rPr sz="930" b="0" i="0">
                <a:solidFill>
                  <a:srgbClr val="CBE2D7"/>
                </a:solidFill>
                <a:latin typeface="Calibri"/>
              </a:rPr>
              <a:t>B2B agri platforms — listings without cold assurance; we guarantee freshness.</a:t>
            </a:r>
          </a:p>
        </p:txBody>
      </p:sp>
      <p:sp>
        <p:nvSpPr>
          <p:cNvPr id="27" name="TextBox 26"/>
          <p:cNvSpPr txBox="1"/>
          <p:nvPr/>
        </p:nvSpPr>
        <p:spPr>
          <a:xfrm>
            <a:off x="566928" y="6382512"/>
            <a:ext cx="11057839" cy="274320"/>
          </a:xfrm>
          <a:prstGeom prst="rect">
            <a:avLst/>
          </a:prstGeom>
          <a:noFill/>
        </p:spPr>
        <p:txBody>
          <a:bodyPr wrap="square" anchor="t" lIns="0" rIns="0" tIns="0" bIns="0">
            <a:noAutofit/>
          </a:bodyPr>
          <a:lstStyle/>
          <a:p>
            <a:pPr algn="l">
              <a:lnSpc>
                <a:spcPct val="105000"/>
              </a:lnSpc>
              <a:spcAft>
                <a:spcPts val="0"/>
              </a:spcAft>
            </a:pPr>
            <a:r>
              <a:rPr sz="720" b="0" i="0">
                <a:solidFill>
                  <a:srgbClr val="7E9D8F"/>
                </a:solidFill>
                <a:latin typeface="Calibri"/>
              </a:rPr>
              <a:t>Assumptions: TAM = national highland-vegetable value × ~10% addressable service wallet; SAM = Cordillera/Northern Luzon share; SOM = Year-3 installed hubs. Model inputs are the team's, ready for judge Q&amp;A.</a:t>
            </a:r>
          </a:p>
        </p:txBody>
      </p:sp>
    </p:spTree>
  </p:cSld>
  <p:clrMapOvr>
    <a:masterClrMapping/>
  </p:clrMapOvr>
  <mc:AlternateContent xmlns:mc="http://schemas.openxmlformats.org/markup-compatibility/2006">
    <mc:Choice xmlns:p14="http://schemas.microsoft.com/office/powerpoint/2010/main" Requires="p14">
      <p:transition advTm="18000" p14:dur="1100">
        <p14:cube dir="l"/>
      </p:transition>
    </mc:Choice>
    <mc:Fallback>
      <p:transition spd="slow" advTm="18000">
        <p:push dir="l"/>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1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168335" y="-1371600"/>
            <a:ext cx="5120640" cy="51206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828800" y="4114800"/>
            <a:ext cx="4206240" cy="42062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66928" y="384048"/>
            <a:ext cx="676656" cy="676656"/>
          </a:xfrm>
          <a:prstGeom prst="roundRect">
            <a:avLst>
              <a:gd name="adj" fmla="val 22000"/>
            </a:avLst>
          </a:prstGeom>
          <a:solidFill>
            <a:srgbClr val="7FD1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04120C"/>
                </a:solidFill>
                <a:latin typeface="Calibri"/>
              </a:rPr>
              <a:t>IX</a:t>
            </a:r>
          </a:p>
        </p:txBody>
      </p:sp>
      <p:sp>
        <p:nvSpPr>
          <p:cNvPr id="6" name="TextBox 5"/>
          <p:cNvSpPr txBox="1"/>
          <p:nvPr/>
        </p:nvSpPr>
        <p:spPr>
          <a:xfrm>
            <a:off x="1481328" y="402336"/>
            <a:ext cx="10143439" cy="201168"/>
          </a:xfrm>
          <a:prstGeom prst="rect">
            <a:avLst/>
          </a:prstGeom>
          <a:noFill/>
        </p:spPr>
        <p:txBody>
          <a:bodyPr wrap="square" anchor="t" lIns="0" rIns="0" tIns="0" bIns="0">
            <a:noAutofit/>
          </a:bodyPr>
          <a:lstStyle/>
          <a:p>
            <a:pPr algn="l">
              <a:lnSpc>
                <a:spcPct val="100000"/>
              </a:lnSpc>
              <a:spcAft>
                <a:spcPts val="0"/>
              </a:spcAft>
            </a:pPr>
            <a:r>
              <a:rPr sz="900" b="1" i="0">
                <a:solidFill>
                  <a:srgbClr val="7FD1AE"/>
                </a:solidFill>
                <a:latin typeface="Calibri"/>
              </a:rPr>
              <a:t>OPERATIONS PLAN</a:t>
            </a:r>
          </a:p>
        </p:txBody>
      </p:sp>
      <p:sp>
        <p:nvSpPr>
          <p:cNvPr id="7" name="TextBox 6"/>
          <p:cNvSpPr txBox="1"/>
          <p:nvPr/>
        </p:nvSpPr>
        <p:spPr>
          <a:xfrm>
            <a:off x="1481328" y="621792"/>
            <a:ext cx="10143439" cy="457200"/>
          </a:xfrm>
          <a:prstGeom prst="rect">
            <a:avLst/>
          </a:prstGeom>
          <a:noFill/>
        </p:spPr>
        <p:txBody>
          <a:bodyPr wrap="square" anchor="t" lIns="0" rIns="0" tIns="0" bIns="0">
            <a:noAutofit/>
          </a:bodyPr>
          <a:lstStyle/>
          <a:p>
            <a:pPr algn="l">
              <a:lnSpc>
                <a:spcPct val="98000"/>
              </a:lnSpc>
              <a:spcAft>
                <a:spcPts val="0"/>
              </a:spcAft>
            </a:pPr>
            <a:r>
              <a:rPr sz="2400" b="1" i="0">
                <a:solidFill>
                  <a:srgbClr val="FFFFFF"/>
                </a:solidFill>
                <a:latin typeface="Calibri"/>
              </a:rPr>
              <a:t>Install in 21 days · operate in one barangay · clone it</a:t>
            </a:r>
          </a:p>
        </p:txBody>
      </p:sp>
      <p:sp>
        <p:nvSpPr>
          <p:cNvPr id="8" name="Rounded Rectangle 7"/>
          <p:cNvSpPr/>
          <p:nvPr/>
        </p:nvSpPr>
        <p:spPr>
          <a:xfrm>
            <a:off x="566928" y="1170432"/>
            <a:ext cx="2613583" cy="1920240"/>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  </a:t>
            </a:r>
            <a:r>
              <a:rPr sz="1150" b="1" i="0">
                <a:solidFill>
                  <a:srgbClr val="FFFFFF"/>
                </a:solidFill>
                <a:latin typeface="Calibri"/>
              </a:rPr>
              <a:t>Phase 0 · Partnership &amp; site readiness</a:t>
            </a:r>
          </a:p>
        </p:txBody>
      </p:sp>
      <p:sp>
        <p:nvSpPr>
          <p:cNvPr id="9" name="TextBox 8"/>
          <p:cNvSpPr txBox="1"/>
          <p:nvPr/>
        </p:nvSpPr>
        <p:spPr>
          <a:xfrm>
            <a:off x="731520" y="2194560"/>
            <a:ext cx="2284399" cy="859536"/>
          </a:xfrm>
          <a:prstGeom prst="rect">
            <a:avLst/>
          </a:prstGeom>
          <a:noFill/>
        </p:spPr>
        <p:txBody>
          <a:bodyPr wrap="square" anchor="t" lIns="0" rIns="0" tIns="0" bIns="0">
            <a:noAutofit/>
          </a:bodyPr>
          <a:lstStyle/>
          <a:p>
            <a:pPr algn="l">
              <a:lnSpc>
                <a:spcPct val="112000"/>
              </a:lnSpc>
              <a:spcAft>
                <a:spcPts val="0"/>
              </a:spcAft>
            </a:pPr>
            <a:r>
              <a:rPr sz="850" b="1" i="0">
                <a:solidFill>
                  <a:srgbClr val="7FD1AE"/>
                </a:solidFill>
                <a:latin typeface="Calibri"/>
              </a:rPr>
              <a:t>M1–M3</a:t>
            </a:r>
          </a:p>
          <a:p>
            <a:pPr algn="l">
              <a:lnSpc>
                <a:spcPct val="112000"/>
              </a:lnSpc>
              <a:spcAft>
                <a:spcPts val="0"/>
              </a:spcAft>
            </a:pPr>
            <a:r>
              <a:rPr sz="880" b="0" i="0">
                <a:solidFill>
                  <a:srgbClr val="CBE2D7"/>
                </a:solidFill>
                <a:latin typeface="Calibri"/>
              </a:rPr>
              <a:t>MOA with the partner cooperative (land + operator), LGU permits, DA endorsement, baseline loss audit on 3 farms, hub technician hired.</a:t>
            </a:r>
          </a:p>
        </p:txBody>
      </p:sp>
      <p:sp>
        <p:nvSpPr>
          <p:cNvPr id="10" name="Rounded Rectangle 9"/>
          <p:cNvSpPr/>
          <p:nvPr/>
        </p:nvSpPr>
        <p:spPr>
          <a:xfrm>
            <a:off x="3381679" y="1170432"/>
            <a:ext cx="2613583" cy="1920240"/>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  </a:t>
            </a:r>
            <a:r>
              <a:rPr sz="1150" b="1" i="0">
                <a:solidFill>
                  <a:srgbClr val="FFFFFF"/>
                </a:solidFill>
                <a:latin typeface="Calibri"/>
              </a:rPr>
              <a:t>Phase 1 · Hub 1 live + 40-farmer pilot</a:t>
            </a:r>
          </a:p>
        </p:txBody>
      </p:sp>
      <p:sp>
        <p:nvSpPr>
          <p:cNvPr id="11" name="TextBox 10"/>
          <p:cNvSpPr txBox="1"/>
          <p:nvPr/>
        </p:nvSpPr>
        <p:spPr>
          <a:xfrm>
            <a:off x="3546271" y="2194560"/>
            <a:ext cx="2284399" cy="859536"/>
          </a:xfrm>
          <a:prstGeom prst="rect">
            <a:avLst/>
          </a:prstGeom>
          <a:noFill/>
        </p:spPr>
        <p:txBody>
          <a:bodyPr wrap="square" anchor="t" lIns="0" rIns="0" tIns="0" bIns="0">
            <a:noAutofit/>
          </a:bodyPr>
          <a:lstStyle/>
          <a:p>
            <a:pPr algn="l">
              <a:lnSpc>
                <a:spcPct val="112000"/>
              </a:lnSpc>
              <a:spcAft>
                <a:spcPts val="0"/>
              </a:spcAft>
            </a:pPr>
            <a:r>
              <a:rPr sz="850" b="1" i="0">
                <a:solidFill>
                  <a:srgbClr val="7FD1AE"/>
                </a:solidFill>
                <a:latin typeface="Calibri"/>
              </a:rPr>
              <a:t>M4–M6</a:t>
            </a:r>
          </a:p>
          <a:p>
            <a:pPr algn="l">
              <a:lnSpc>
                <a:spcPct val="112000"/>
              </a:lnSpc>
              <a:spcAft>
                <a:spcPts val="0"/>
              </a:spcAft>
            </a:pPr>
            <a:r>
              <a:rPr sz="880" b="0" i="0">
                <a:solidFill>
                  <a:srgbClr val="CBE2D7"/>
                </a:solidFill>
                <a:latin typeface="Calibri"/>
              </a:rPr>
              <a:t>Install and commission hub #1 (21 days), onboard 40 farmers in under 15 minutes each, launch app v1 offline-first, first matched offtake cycles.</a:t>
            </a:r>
          </a:p>
        </p:txBody>
      </p:sp>
      <p:sp>
        <p:nvSpPr>
          <p:cNvPr id="12" name="Rounded Rectangle 11"/>
          <p:cNvSpPr/>
          <p:nvPr/>
        </p:nvSpPr>
        <p:spPr>
          <a:xfrm>
            <a:off x="6196431" y="1170432"/>
            <a:ext cx="2613583" cy="1920240"/>
          </a:xfrm>
          <a:prstGeom prst="roundRect">
            <a:avLst>
              <a:gd name="adj" fmla="val 6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F2A33C"/>
                </a:solidFill>
                <a:latin typeface="Calibri"/>
              </a:rPr>
              <a:t>→  </a:t>
            </a:r>
            <a:r>
              <a:rPr sz="1150" b="1" i="0">
                <a:solidFill>
                  <a:srgbClr val="FFFFFF"/>
                </a:solidFill>
                <a:latin typeface="Calibri"/>
              </a:rPr>
              <a:t>Phase 2 · 3 hubs, app GA, route partner</a:t>
            </a:r>
          </a:p>
        </p:txBody>
      </p:sp>
      <p:sp>
        <p:nvSpPr>
          <p:cNvPr id="13" name="TextBox 12"/>
          <p:cNvSpPr txBox="1"/>
          <p:nvPr/>
        </p:nvSpPr>
        <p:spPr>
          <a:xfrm>
            <a:off x="6361023" y="2194560"/>
            <a:ext cx="2284399" cy="859536"/>
          </a:xfrm>
          <a:prstGeom prst="rect">
            <a:avLst/>
          </a:prstGeom>
          <a:noFill/>
        </p:spPr>
        <p:txBody>
          <a:bodyPr wrap="square" anchor="t" lIns="0" rIns="0" tIns="0" bIns="0">
            <a:noAutofit/>
          </a:bodyPr>
          <a:lstStyle/>
          <a:p>
            <a:pPr algn="l">
              <a:lnSpc>
                <a:spcPct val="112000"/>
              </a:lnSpc>
              <a:spcAft>
                <a:spcPts val="0"/>
              </a:spcAft>
            </a:pPr>
            <a:r>
              <a:rPr sz="850" b="1" i="0">
                <a:solidFill>
                  <a:srgbClr val="F2A33C"/>
                </a:solidFill>
                <a:latin typeface="Calibri"/>
              </a:rPr>
              <a:t>M7–M12</a:t>
            </a:r>
          </a:p>
          <a:p>
            <a:pPr algn="l">
              <a:lnSpc>
                <a:spcPct val="112000"/>
              </a:lnSpc>
              <a:spcAft>
                <a:spcPts val="0"/>
              </a:spcAft>
            </a:pPr>
            <a:r>
              <a:rPr sz="880" b="0" i="0">
                <a:solidFill>
                  <a:srgbClr val="CBE2D7"/>
                </a:solidFill>
                <a:latin typeface="Calibri"/>
              </a:rPr>
              <a:t>Clone the playbook to Atok and La Trinidad, integrate e-wallet escrow payouts, contract refrigerated dispatch, publish the first impact report.</a:t>
            </a:r>
          </a:p>
        </p:txBody>
      </p:sp>
      <p:sp>
        <p:nvSpPr>
          <p:cNvPr id="14" name="Rounded Rectangle 13"/>
          <p:cNvSpPr/>
          <p:nvPr/>
        </p:nvSpPr>
        <p:spPr>
          <a:xfrm>
            <a:off x="9011183" y="1170432"/>
            <a:ext cx="2613583" cy="1920240"/>
          </a:xfrm>
          <a:prstGeom prst="roundRect">
            <a:avLst>
              <a:gd name="adj" fmla="val 6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F2A33C"/>
                </a:solidFill>
                <a:latin typeface="Calibri"/>
              </a:rPr>
              <a:t>→  </a:t>
            </a:r>
            <a:r>
              <a:rPr sz="1150" b="1" i="0">
                <a:solidFill>
                  <a:srgbClr val="FFFFFF"/>
                </a:solidFill>
                <a:latin typeface="Calibri"/>
              </a:rPr>
              <a:t>Scale · co-op-operated franchise</a:t>
            </a:r>
          </a:p>
        </p:txBody>
      </p:sp>
      <p:sp>
        <p:nvSpPr>
          <p:cNvPr id="15" name="TextBox 14"/>
          <p:cNvSpPr txBox="1"/>
          <p:nvPr/>
        </p:nvSpPr>
        <p:spPr>
          <a:xfrm>
            <a:off x="9175775" y="2194560"/>
            <a:ext cx="2284399" cy="859536"/>
          </a:xfrm>
          <a:prstGeom prst="rect">
            <a:avLst/>
          </a:prstGeom>
          <a:noFill/>
        </p:spPr>
        <p:txBody>
          <a:bodyPr wrap="square" anchor="t" lIns="0" rIns="0" tIns="0" bIns="0">
            <a:noAutofit/>
          </a:bodyPr>
          <a:lstStyle/>
          <a:p>
            <a:pPr algn="l">
              <a:lnSpc>
                <a:spcPct val="112000"/>
              </a:lnSpc>
              <a:spcAft>
                <a:spcPts val="0"/>
              </a:spcAft>
            </a:pPr>
            <a:r>
              <a:rPr sz="850" b="1" i="0">
                <a:solidFill>
                  <a:srgbClr val="F2A33C"/>
                </a:solidFill>
                <a:latin typeface="Calibri"/>
              </a:rPr>
              <a:t>Y2</a:t>
            </a:r>
          </a:p>
          <a:p>
            <a:pPr algn="l">
              <a:lnSpc>
                <a:spcPct val="112000"/>
              </a:lnSpc>
              <a:spcAft>
                <a:spcPts val="0"/>
              </a:spcAft>
            </a:pPr>
            <a:r>
              <a:rPr sz="880" b="0" i="0">
                <a:solidFill>
                  <a:srgbClr val="CBE2D7"/>
                </a:solidFill>
                <a:latin typeface="Calibri"/>
              </a:rPr>
              <a:t>12 hubs on an 80/20 revenue share: the co-op runs day-to-day while Fresko supplies technology, training and demand.</a:t>
            </a:r>
          </a:p>
        </p:txBody>
      </p:sp>
      <p:sp>
        <p:nvSpPr>
          <p:cNvPr id="16" name="Rounded Rectangle 15"/>
          <p:cNvSpPr/>
          <p:nvPr/>
        </p:nvSpPr>
        <p:spPr>
          <a:xfrm>
            <a:off x="566928" y="3291839"/>
            <a:ext cx="3551834" cy="1783080"/>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  </a:t>
            </a:r>
            <a:r>
              <a:rPr sz="1150" b="1" i="0">
                <a:solidFill>
                  <a:srgbClr val="FFFFFF"/>
                </a:solidFill>
                <a:latin typeface="Calibri"/>
              </a:rPr>
              <a:t>Standard operating procedure</a:t>
            </a:r>
          </a:p>
          <a:p>
            <a:pPr>
              <a:lnSpc>
                <a:spcPct val="100000"/>
              </a:lnSpc>
              <a:spcAft>
                <a:spcPts val="300"/>
              </a:spcAft>
            </a:pPr>
            <a:r>
              <a:rPr sz="930" b="1">
                <a:solidFill>
                  <a:srgbClr val="7FD1AE"/>
                </a:solidFill>
                <a:latin typeface="Calibri"/>
              </a:rPr>
              <a:t>▪  </a:t>
            </a:r>
            <a:r>
              <a:rPr sz="930" b="0" i="0">
                <a:solidFill>
                  <a:srgbClr val="CBE2D7"/>
                </a:solidFill>
                <a:latin typeface="Calibri"/>
              </a:rPr>
              <a:t>Pre-cool within 2 hours of harvest; hourly temperature logs with alerts above 9 °C.</a:t>
            </a:r>
          </a:p>
          <a:p>
            <a:pPr>
              <a:lnSpc>
                <a:spcPct val="100000"/>
              </a:lnSpc>
              <a:spcAft>
                <a:spcPts val="300"/>
              </a:spcAft>
            </a:pPr>
            <a:r>
              <a:rPr sz="930" b="1">
                <a:solidFill>
                  <a:srgbClr val="7FD1AE"/>
                </a:solidFill>
                <a:latin typeface="Calibri"/>
              </a:rPr>
              <a:t>▪  </a:t>
            </a:r>
            <a:r>
              <a:rPr sz="930" b="0" i="0">
                <a:solidFill>
                  <a:srgbClr val="CBE2D7"/>
                </a:solidFill>
                <a:latin typeface="Calibri"/>
              </a:rPr>
              <a:t>HACCP-aligned handling and crate hygiene; FEFO dispatch rotation.</a:t>
            </a:r>
          </a:p>
          <a:p>
            <a:pPr>
              <a:lnSpc>
                <a:spcPct val="100000"/>
              </a:lnSpc>
              <a:spcAft>
                <a:spcPts val="300"/>
              </a:spcAft>
            </a:pPr>
            <a:r>
              <a:rPr sz="930" b="1">
                <a:solidFill>
                  <a:srgbClr val="7FD1AE"/>
                </a:solidFill>
                <a:latin typeface="Calibri"/>
              </a:rPr>
              <a:t>▪  </a:t>
            </a:r>
            <a:r>
              <a:rPr sz="930" b="0" i="0">
                <a:solidFill>
                  <a:srgbClr val="CBE2D7"/>
                </a:solidFill>
                <a:latin typeface="Calibri"/>
              </a:rPr>
              <a:t>Weekly preventive maintenance, monthly audits, zero mixing of spoiled stock.</a:t>
            </a:r>
          </a:p>
        </p:txBody>
      </p:sp>
      <p:sp>
        <p:nvSpPr>
          <p:cNvPr id="17" name="Rounded Rectangle 16"/>
          <p:cNvSpPr/>
          <p:nvPr/>
        </p:nvSpPr>
        <p:spPr>
          <a:xfrm>
            <a:off x="4319930" y="3291839"/>
            <a:ext cx="3551834" cy="1783080"/>
          </a:xfrm>
          <a:prstGeom prst="roundRect">
            <a:avLst>
              <a:gd name="adj" fmla="val 6000"/>
            </a:avLst>
          </a:prstGeom>
          <a:solidFill>
            <a:srgbClr val="0C2E22"/>
          </a:solidFill>
          <a:ln w="11430">
            <a:solidFill>
              <a:srgbClr val="8FD4E8"/>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8FD4E8"/>
                </a:solidFill>
                <a:latin typeface="Calibri"/>
              </a:rPr>
              <a:t>⌗  </a:t>
            </a:r>
            <a:r>
              <a:rPr sz="1150" b="1" i="0">
                <a:solidFill>
                  <a:srgbClr val="FFFFFF"/>
                </a:solidFill>
                <a:latin typeface="Calibri"/>
              </a:rPr>
              <a:t>Tech architecture</a:t>
            </a:r>
          </a:p>
          <a:p>
            <a:pPr>
              <a:lnSpc>
                <a:spcPct val="100000"/>
              </a:lnSpc>
              <a:spcAft>
                <a:spcPts val="300"/>
              </a:spcAft>
            </a:pPr>
            <a:r>
              <a:rPr sz="930" b="1">
                <a:solidFill>
                  <a:srgbClr val="8FD4E8"/>
                </a:solidFill>
                <a:latin typeface="Calibri"/>
              </a:rPr>
              <a:t>▪  </a:t>
            </a:r>
            <a:r>
              <a:rPr sz="930" b="0" i="0">
                <a:solidFill>
                  <a:srgbClr val="CBE2D7"/>
                </a:solidFill>
                <a:latin typeface="Calibri"/>
              </a:rPr>
              <a:t>LoRaWAN/GSM sensors → cloud time-series store, logged every 15 minutes.</a:t>
            </a:r>
          </a:p>
          <a:p>
            <a:pPr>
              <a:lnSpc>
                <a:spcPct val="100000"/>
              </a:lnSpc>
              <a:spcAft>
                <a:spcPts val="300"/>
              </a:spcAft>
            </a:pPr>
            <a:r>
              <a:rPr sz="930" b="1">
                <a:solidFill>
                  <a:srgbClr val="8FD4E8"/>
                </a:solidFill>
                <a:latin typeface="Calibri"/>
              </a:rPr>
              <a:t>▪  </a:t>
            </a:r>
            <a:r>
              <a:rPr sz="930" b="0" i="0">
                <a:solidFill>
                  <a:srgbClr val="CBE2D7"/>
                </a:solidFill>
                <a:latin typeface="Calibri"/>
              </a:rPr>
              <a:t>Shelf-life model + rule engine for grading and routing.</a:t>
            </a:r>
          </a:p>
          <a:p>
            <a:pPr>
              <a:lnSpc>
                <a:spcPct val="100000"/>
              </a:lnSpc>
              <a:spcAft>
                <a:spcPts val="300"/>
              </a:spcAft>
            </a:pPr>
            <a:r>
              <a:rPr sz="930" b="1">
                <a:solidFill>
                  <a:srgbClr val="8FD4E8"/>
                </a:solidFill>
                <a:latin typeface="Calibri"/>
              </a:rPr>
              <a:t>▪  </a:t>
            </a:r>
            <a:r>
              <a:rPr sz="930" b="0" i="0">
                <a:solidFill>
                  <a:srgbClr val="CBE2D7"/>
                </a:solidFill>
                <a:latin typeface="Calibri"/>
              </a:rPr>
              <a:t>Offline-first app (Filipino/Ilocano, SMS fallback); GCash/Maya escrow API.</a:t>
            </a:r>
          </a:p>
        </p:txBody>
      </p:sp>
      <p:sp>
        <p:nvSpPr>
          <p:cNvPr id="18" name="Rounded Rectangle 17"/>
          <p:cNvSpPr/>
          <p:nvPr/>
        </p:nvSpPr>
        <p:spPr>
          <a:xfrm>
            <a:off x="8072932" y="3291839"/>
            <a:ext cx="3551834" cy="1783080"/>
          </a:xfrm>
          <a:prstGeom prst="roundRect">
            <a:avLst>
              <a:gd name="adj" fmla="val 6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F2A33C"/>
                </a:solidFill>
                <a:latin typeface="Calibri"/>
              </a:rPr>
              <a:t>⚠  </a:t>
            </a:r>
            <a:r>
              <a:rPr sz="1150" b="1" i="0">
                <a:solidFill>
                  <a:srgbClr val="FFFFFF"/>
                </a:solidFill>
                <a:latin typeface="Calibri"/>
              </a:rPr>
              <a:t>Risks &amp; mitigation</a:t>
            </a:r>
          </a:p>
          <a:p>
            <a:pPr>
              <a:lnSpc>
                <a:spcPct val="100000"/>
              </a:lnSpc>
              <a:spcAft>
                <a:spcPts val="300"/>
              </a:spcAft>
            </a:pPr>
            <a:r>
              <a:rPr sz="930" b="1">
                <a:solidFill>
                  <a:srgbClr val="F2A33C"/>
                </a:solidFill>
                <a:latin typeface="Calibri"/>
              </a:rPr>
              <a:t>▪  </a:t>
            </a:r>
            <a:r>
              <a:rPr sz="930" b="0" i="0">
                <a:solidFill>
                  <a:srgbClr val="CBE2D7"/>
                </a:solidFill>
                <a:latin typeface="Calibri"/>
              </a:rPr>
              <a:t>Power interruptions → solar + 5 kWh battery + genset hook-up.</a:t>
            </a:r>
          </a:p>
          <a:p>
            <a:pPr>
              <a:lnSpc>
                <a:spcPct val="100000"/>
              </a:lnSpc>
              <a:spcAft>
                <a:spcPts val="300"/>
              </a:spcAft>
            </a:pPr>
            <a:r>
              <a:rPr sz="930" b="1">
                <a:solidFill>
                  <a:srgbClr val="F2A33C"/>
                </a:solidFill>
                <a:latin typeface="Calibri"/>
              </a:rPr>
              <a:t>▪  </a:t>
            </a:r>
            <a:r>
              <a:rPr sz="930" b="0" i="0">
                <a:solidFill>
                  <a:srgbClr val="CBE2D7"/>
                </a:solidFill>
                <a:latin typeface="Calibri"/>
              </a:rPr>
              <a:t>Low initial utilisation → anchor offtake contracts before install.</a:t>
            </a:r>
          </a:p>
          <a:p>
            <a:pPr>
              <a:lnSpc>
                <a:spcPct val="100000"/>
              </a:lnSpc>
              <a:spcAft>
                <a:spcPts val="300"/>
              </a:spcAft>
            </a:pPr>
            <a:r>
              <a:rPr sz="930" b="1">
                <a:solidFill>
                  <a:srgbClr val="F2A33C"/>
                </a:solidFill>
                <a:latin typeface="Calibri"/>
              </a:rPr>
              <a:t>▪  </a:t>
            </a:r>
            <a:r>
              <a:rPr sz="930" b="0" i="0">
                <a:solidFill>
                  <a:srgbClr val="CBE2D7"/>
                </a:solidFill>
                <a:latin typeface="Calibri"/>
              </a:rPr>
              <a:t>Trust and adoption → co-op-led onboarding, free first month.</a:t>
            </a:r>
          </a:p>
        </p:txBody>
      </p:sp>
      <p:sp>
        <p:nvSpPr>
          <p:cNvPr id="19" name="TextBox 18"/>
          <p:cNvSpPr txBox="1"/>
          <p:nvPr/>
        </p:nvSpPr>
        <p:spPr>
          <a:xfrm>
            <a:off x="566928" y="6382512"/>
            <a:ext cx="11057839" cy="274320"/>
          </a:xfrm>
          <a:prstGeom prst="rect">
            <a:avLst/>
          </a:prstGeom>
          <a:noFill/>
        </p:spPr>
        <p:txBody>
          <a:bodyPr wrap="square" anchor="t" lIns="0" rIns="0" tIns="0" bIns="0">
            <a:noAutofit/>
          </a:bodyPr>
          <a:lstStyle/>
          <a:p>
            <a:pPr algn="l">
              <a:lnSpc>
                <a:spcPct val="105000"/>
              </a:lnSpc>
              <a:spcAft>
                <a:spcPts val="0"/>
              </a:spcAft>
            </a:pPr>
            <a:r>
              <a:rPr sz="720" b="0" i="0">
                <a:solidFill>
                  <a:srgbClr val="7E9D8F"/>
                </a:solidFill>
                <a:latin typeface="Calibri"/>
              </a:rPr>
              <a:t>Team: [Member 1] CEO / farmer partnerships · [Member 2] CTO / IoT &amp; app · [Member 3] COO / hub operations &amp; logistics · [MENTOR NAME] mentor, agribusiness &amp; cold chain.</a:t>
            </a:r>
          </a:p>
        </p:txBody>
      </p:sp>
    </p:spTree>
  </p:cSld>
  <p:clrMapOvr>
    <a:masterClrMapping/>
  </p:clrMapOvr>
  <mc:AlternateContent xmlns:mc="http://schemas.openxmlformats.org/markup-compatibility/2006">
    <mc:Choice xmlns:p14="http://schemas.microsoft.com/office/powerpoint/2010/main" Requires="p14">
      <p:transition advTm="18000" p14:dur="1100">
        <p14:cube dir="l"/>
      </p:transition>
    </mc:Choice>
    <mc:Fallback>
      <p:transition spd="slow" advTm="18000">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1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168335" y="-1371600"/>
            <a:ext cx="5120640" cy="51206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828800" y="4114800"/>
            <a:ext cx="4206240" cy="42062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66928" y="384048"/>
            <a:ext cx="676656" cy="676656"/>
          </a:xfrm>
          <a:prstGeom prst="roundRect">
            <a:avLst>
              <a:gd name="adj" fmla="val 22000"/>
            </a:avLst>
          </a:prstGeom>
          <a:solidFill>
            <a:srgbClr val="F2A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04120C"/>
                </a:solidFill>
                <a:latin typeface="Calibri"/>
              </a:rPr>
              <a:t>X</a:t>
            </a:r>
          </a:p>
        </p:txBody>
      </p:sp>
      <p:sp>
        <p:nvSpPr>
          <p:cNvPr id="6" name="TextBox 5"/>
          <p:cNvSpPr txBox="1"/>
          <p:nvPr/>
        </p:nvSpPr>
        <p:spPr>
          <a:xfrm>
            <a:off x="1481328" y="402336"/>
            <a:ext cx="10143439" cy="201168"/>
          </a:xfrm>
          <a:prstGeom prst="rect">
            <a:avLst/>
          </a:prstGeom>
          <a:noFill/>
        </p:spPr>
        <p:txBody>
          <a:bodyPr wrap="square" anchor="t" lIns="0" rIns="0" tIns="0" bIns="0">
            <a:noAutofit/>
          </a:bodyPr>
          <a:lstStyle/>
          <a:p>
            <a:pPr algn="l">
              <a:lnSpc>
                <a:spcPct val="100000"/>
              </a:lnSpc>
              <a:spcAft>
                <a:spcPts val="0"/>
              </a:spcAft>
            </a:pPr>
            <a:r>
              <a:rPr sz="900" b="1" i="0">
                <a:solidFill>
                  <a:srgbClr val="F2A33C"/>
                </a:solidFill>
                <a:latin typeface="Calibri"/>
              </a:rPr>
              <a:t>FINANCIAL REQUIREMENT</a:t>
            </a:r>
          </a:p>
        </p:txBody>
      </p:sp>
      <p:sp>
        <p:nvSpPr>
          <p:cNvPr id="7" name="TextBox 6"/>
          <p:cNvSpPr txBox="1"/>
          <p:nvPr/>
        </p:nvSpPr>
        <p:spPr>
          <a:xfrm>
            <a:off x="1481328" y="621792"/>
            <a:ext cx="10143439" cy="457200"/>
          </a:xfrm>
          <a:prstGeom prst="rect">
            <a:avLst/>
          </a:prstGeom>
          <a:noFill/>
        </p:spPr>
        <p:txBody>
          <a:bodyPr wrap="square" anchor="t" lIns="0" rIns="0" tIns="0" bIns="0">
            <a:noAutofit/>
          </a:bodyPr>
          <a:lstStyle/>
          <a:p>
            <a:pPr algn="l">
              <a:lnSpc>
                <a:spcPct val="98000"/>
              </a:lnSpc>
              <a:spcAft>
                <a:spcPts val="0"/>
              </a:spcAft>
            </a:pPr>
            <a:r>
              <a:rPr sz="2400" b="1" i="0">
                <a:solidFill>
                  <a:srgbClr val="FFFFFF"/>
                </a:solidFill>
                <a:latin typeface="Calibri"/>
              </a:rPr>
              <a:t>₱2,400,000 seed → breakeven in month 19</a:t>
            </a:r>
          </a:p>
        </p:txBody>
      </p:sp>
      <p:sp>
        <p:nvSpPr>
          <p:cNvPr id="8" name="Rounded Rectangle 7"/>
          <p:cNvSpPr/>
          <p:nvPr/>
        </p:nvSpPr>
        <p:spPr>
          <a:xfrm>
            <a:off x="566928" y="1170432"/>
            <a:ext cx="6081811" cy="3017520"/>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  </a:t>
            </a:r>
            <a:r>
              <a:rPr sz="1150" b="1" i="0">
                <a:solidFill>
                  <a:srgbClr val="FFFFFF"/>
                </a:solidFill>
                <a:latin typeface="Calibri"/>
              </a:rPr>
              <a:t>Use of funds</a:t>
            </a:r>
          </a:p>
        </p:txBody>
      </p:sp>
      <p:sp>
        <p:nvSpPr>
          <p:cNvPr id="9" name="Rounded Rectangle 8"/>
          <p:cNvSpPr/>
          <p:nvPr/>
        </p:nvSpPr>
        <p:spPr>
          <a:xfrm>
            <a:off x="749808" y="1719072"/>
            <a:ext cx="3429630" cy="310896"/>
          </a:xfrm>
          <a:prstGeom prst="roundRect">
            <a:avLst>
              <a:gd name="adj" fmla="val 35000"/>
            </a:avLst>
          </a:prstGeom>
          <a:solidFill>
            <a:srgbClr val="7FD1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4179438" y="1719072"/>
            <a:ext cx="857407" cy="310896"/>
          </a:xfrm>
          <a:prstGeom prst="roundRect">
            <a:avLst>
              <a:gd name="adj" fmla="val 35000"/>
            </a:avLst>
          </a:prstGeom>
          <a:solidFill>
            <a:srgbClr val="F2A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5036846" y="1719072"/>
            <a:ext cx="714506" cy="310896"/>
          </a:xfrm>
          <a:prstGeom prst="roundRect">
            <a:avLst>
              <a:gd name="adj" fmla="val 35000"/>
            </a:avLst>
          </a:prstGeom>
          <a:solidFill>
            <a:srgbClr val="8FD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751353" y="1719072"/>
            <a:ext cx="428703" cy="310896"/>
          </a:xfrm>
          <a:prstGeom prst="roundRect">
            <a:avLst>
              <a:gd name="adj" fmla="val 35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180056" y="1719072"/>
            <a:ext cx="285802" cy="310896"/>
          </a:xfrm>
          <a:prstGeom prst="roundRect">
            <a:avLst>
              <a:gd name="adj" fmla="val 35000"/>
            </a:avLst>
          </a:prstGeom>
          <a:solidFill>
            <a:srgbClr val="9FBB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49808" y="2240280"/>
            <a:ext cx="128016" cy="128016"/>
          </a:xfrm>
          <a:prstGeom prst="rect">
            <a:avLst/>
          </a:prstGeom>
          <a:solidFill>
            <a:srgbClr val="7FD1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9264" y="2194560"/>
            <a:ext cx="3344996" cy="237744"/>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Cold-room units (3 × ₱480,000)</a:t>
            </a:r>
          </a:p>
        </p:txBody>
      </p:sp>
      <p:sp>
        <p:nvSpPr>
          <p:cNvPr id="16" name="TextBox 15"/>
          <p:cNvSpPr txBox="1"/>
          <p:nvPr/>
        </p:nvSpPr>
        <p:spPr>
          <a:xfrm>
            <a:off x="3607833" y="2194560"/>
            <a:ext cx="1702907" cy="237744"/>
          </a:xfrm>
          <a:prstGeom prst="rect">
            <a:avLst/>
          </a:prstGeom>
          <a:noFill/>
        </p:spPr>
        <p:txBody>
          <a:bodyPr wrap="square" anchor="t" lIns="0" rIns="0" tIns="0" bIns="0">
            <a:noAutofit/>
          </a:bodyPr>
          <a:lstStyle/>
          <a:p>
            <a:pPr algn="r">
              <a:lnSpc>
                <a:spcPct val="100000"/>
              </a:lnSpc>
              <a:spcAft>
                <a:spcPts val="0"/>
              </a:spcAft>
            </a:pPr>
            <a:r>
              <a:rPr sz="980" b="1" i="0">
                <a:solidFill>
                  <a:srgbClr val="FFFFFF"/>
                </a:solidFill>
                <a:latin typeface="Calibri"/>
              </a:rPr>
              <a:t>₱1,440,000</a:t>
            </a:r>
          </a:p>
        </p:txBody>
      </p:sp>
      <p:sp>
        <p:nvSpPr>
          <p:cNvPr id="17" name="TextBox 16"/>
          <p:cNvSpPr txBox="1"/>
          <p:nvPr/>
        </p:nvSpPr>
        <p:spPr>
          <a:xfrm>
            <a:off x="5432377" y="2194560"/>
            <a:ext cx="851453" cy="237744"/>
          </a:xfrm>
          <a:prstGeom prst="rect">
            <a:avLst/>
          </a:prstGeom>
          <a:noFill/>
        </p:spPr>
        <p:txBody>
          <a:bodyPr wrap="square" anchor="t" lIns="0" rIns="0" tIns="0" bIns="0">
            <a:noAutofit/>
          </a:bodyPr>
          <a:lstStyle/>
          <a:p>
            <a:pPr algn="r">
              <a:lnSpc>
                <a:spcPct val="100000"/>
              </a:lnSpc>
              <a:spcAft>
                <a:spcPts val="0"/>
              </a:spcAft>
            </a:pPr>
            <a:r>
              <a:rPr sz="950" b="1" i="0">
                <a:solidFill>
                  <a:srgbClr val="7FD1AE"/>
                </a:solidFill>
                <a:latin typeface="Calibri"/>
              </a:rPr>
              <a:t>60.0%</a:t>
            </a:r>
          </a:p>
        </p:txBody>
      </p:sp>
      <p:sp>
        <p:nvSpPr>
          <p:cNvPr id="18" name="Rectangle 17"/>
          <p:cNvSpPr/>
          <p:nvPr/>
        </p:nvSpPr>
        <p:spPr>
          <a:xfrm>
            <a:off x="749808" y="2606040"/>
            <a:ext cx="128016" cy="128016"/>
          </a:xfrm>
          <a:prstGeom prst="rect">
            <a:avLst/>
          </a:prstGeom>
          <a:solidFill>
            <a:srgbClr val="F2A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69264" y="2560320"/>
            <a:ext cx="3344996" cy="237744"/>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App &amp; IoT stack</a:t>
            </a:r>
          </a:p>
        </p:txBody>
      </p:sp>
      <p:sp>
        <p:nvSpPr>
          <p:cNvPr id="20" name="TextBox 19"/>
          <p:cNvSpPr txBox="1"/>
          <p:nvPr/>
        </p:nvSpPr>
        <p:spPr>
          <a:xfrm>
            <a:off x="3607833" y="2560320"/>
            <a:ext cx="1702907" cy="237744"/>
          </a:xfrm>
          <a:prstGeom prst="rect">
            <a:avLst/>
          </a:prstGeom>
          <a:noFill/>
        </p:spPr>
        <p:txBody>
          <a:bodyPr wrap="square" anchor="t" lIns="0" rIns="0" tIns="0" bIns="0">
            <a:noAutofit/>
          </a:bodyPr>
          <a:lstStyle/>
          <a:p>
            <a:pPr algn="r">
              <a:lnSpc>
                <a:spcPct val="100000"/>
              </a:lnSpc>
              <a:spcAft>
                <a:spcPts val="0"/>
              </a:spcAft>
            </a:pPr>
            <a:r>
              <a:rPr sz="980" b="1" i="0">
                <a:solidFill>
                  <a:srgbClr val="FFFFFF"/>
                </a:solidFill>
                <a:latin typeface="Calibri"/>
              </a:rPr>
              <a:t>₱360,000</a:t>
            </a:r>
          </a:p>
        </p:txBody>
      </p:sp>
      <p:sp>
        <p:nvSpPr>
          <p:cNvPr id="21" name="TextBox 20"/>
          <p:cNvSpPr txBox="1"/>
          <p:nvPr/>
        </p:nvSpPr>
        <p:spPr>
          <a:xfrm>
            <a:off x="5432377" y="2560320"/>
            <a:ext cx="851453" cy="237744"/>
          </a:xfrm>
          <a:prstGeom prst="rect">
            <a:avLst/>
          </a:prstGeom>
          <a:noFill/>
        </p:spPr>
        <p:txBody>
          <a:bodyPr wrap="square" anchor="t" lIns="0" rIns="0" tIns="0" bIns="0">
            <a:noAutofit/>
          </a:bodyPr>
          <a:lstStyle/>
          <a:p>
            <a:pPr algn="r">
              <a:lnSpc>
                <a:spcPct val="100000"/>
              </a:lnSpc>
              <a:spcAft>
                <a:spcPts val="0"/>
              </a:spcAft>
            </a:pPr>
            <a:r>
              <a:rPr sz="950" b="1" i="0">
                <a:solidFill>
                  <a:srgbClr val="F2A33C"/>
                </a:solidFill>
                <a:latin typeface="Calibri"/>
              </a:rPr>
              <a:t>15.0%</a:t>
            </a:r>
          </a:p>
        </p:txBody>
      </p:sp>
      <p:sp>
        <p:nvSpPr>
          <p:cNvPr id="22" name="Rectangle 21"/>
          <p:cNvSpPr/>
          <p:nvPr/>
        </p:nvSpPr>
        <p:spPr>
          <a:xfrm>
            <a:off x="749808" y="2971800"/>
            <a:ext cx="128016" cy="128016"/>
          </a:xfrm>
          <a:prstGeom prst="rect">
            <a:avLst/>
          </a:prstGeom>
          <a:solidFill>
            <a:srgbClr val="8FD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69264" y="2926080"/>
            <a:ext cx="3344996" cy="237744"/>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Pilot operations &amp; logistics</a:t>
            </a:r>
          </a:p>
        </p:txBody>
      </p:sp>
      <p:sp>
        <p:nvSpPr>
          <p:cNvPr id="24" name="TextBox 23"/>
          <p:cNvSpPr txBox="1"/>
          <p:nvPr/>
        </p:nvSpPr>
        <p:spPr>
          <a:xfrm>
            <a:off x="3607833" y="2926080"/>
            <a:ext cx="1702907" cy="237744"/>
          </a:xfrm>
          <a:prstGeom prst="rect">
            <a:avLst/>
          </a:prstGeom>
          <a:noFill/>
        </p:spPr>
        <p:txBody>
          <a:bodyPr wrap="square" anchor="t" lIns="0" rIns="0" tIns="0" bIns="0">
            <a:noAutofit/>
          </a:bodyPr>
          <a:lstStyle/>
          <a:p>
            <a:pPr algn="r">
              <a:lnSpc>
                <a:spcPct val="100000"/>
              </a:lnSpc>
              <a:spcAft>
                <a:spcPts val="0"/>
              </a:spcAft>
            </a:pPr>
            <a:r>
              <a:rPr sz="980" b="1" i="0">
                <a:solidFill>
                  <a:srgbClr val="FFFFFF"/>
                </a:solidFill>
                <a:latin typeface="Calibri"/>
              </a:rPr>
              <a:t>₱300,000</a:t>
            </a:r>
          </a:p>
        </p:txBody>
      </p:sp>
      <p:sp>
        <p:nvSpPr>
          <p:cNvPr id="25" name="TextBox 24"/>
          <p:cNvSpPr txBox="1"/>
          <p:nvPr/>
        </p:nvSpPr>
        <p:spPr>
          <a:xfrm>
            <a:off x="5432377" y="2926080"/>
            <a:ext cx="851453" cy="237744"/>
          </a:xfrm>
          <a:prstGeom prst="rect">
            <a:avLst/>
          </a:prstGeom>
          <a:noFill/>
        </p:spPr>
        <p:txBody>
          <a:bodyPr wrap="square" anchor="t" lIns="0" rIns="0" tIns="0" bIns="0">
            <a:noAutofit/>
          </a:bodyPr>
          <a:lstStyle/>
          <a:p>
            <a:pPr algn="r">
              <a:lnSpc>
                <a:spcPct val="100000"/>
              </a:lnSpc>
              <a:spcAft>
                <a:spcPts val="0"/>
              </a:spcAft>
            </a:pPr>
            <a:r>
              <a:rPr sz="950" b="1" i="0">
                <a:solidFill>
                  <a:srgbClr val="8FD4E8"/>
                </a:solidFill>
                <a:latin typeface="Calibri"/>
              </a:rPr>
              <a:t>12.5%</a:t>
            </a:r>
          </a:p>
        </p:txBody>
      </p:sp>
      <p:sp>
        <p:nvSpPr>
          <p:cNvPr id="26" name="Rectangle 25"/>
          <p:cNvSpPr/>
          <p:nvPr/>
        </p:nvSpPr>
        <p:spPr>
          <a:xfrm>
            <a:off x="749808" y="3337560"/>
            <a:ext cx="128016" cy="128016"/>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69264" y="3291840"/>
            <a:ext cx="3344996" cy="237744"/>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Training &amp; cooperative onboarding</a:t>
            </a:r>
          </a:p>
        </p:txBody>
      </p:sp>
      <p:sp>
        <p:nvSpPr>
          <p:cNvPr id="28" name="TextBox 27"/>
          <p:cNvSpPr txBox="1"/>
          <p:nvPr/>
        </p:nvSpPr>
        <p:spPr>
          <a:xfrm>
            <a:off x="3607833" y="3291840"/>
            <a:ext cx="1702907" cy="237744"/>
          </a:xfrm>
          <a:prstGeom prst="rect">
            <a:avLst/>
          </a:prstGeom>
          <a:noFill/>
        </p:spPr>
        <p:txBody>
          <a:bodyPr wrap="square" anchor="t" lIns="0" rIns="0" tIns="0" bIns="0">
            <a:noAutofit/>
          </a:bodyPr>
          <a:lstStyle/>
          <a:p>
            <a:pPr algn="r">
              <a:lnSpc>
                <a:spcPct val="100000"/>
              </a:lnSpc>
              <a:spcAft>
                <a:spcPts val="0"/>
              </a:spcAft>
            </a:pPr>
            <a:r>
              <a:rPr sz="980" b="1" i="0">
                <a:solidFill>
                  <a:srgbClr val="FFFFFF"/>
                </a:solidFill>
                <a:latin typeface="Calibri"/>
              </a:rPr>
              <a:t>₱180,000</a:t>
            </a:r>
          </a:p>
        </p:txBody>
      </p:sp>
      <p:sp>
        <p:nvSpPr>
          <p:cNvPr id="29" name="TextBox 28"/>
          <p:cNvSpPr txBox="1"/>
          <p:nvPr/>
        </p:nvSpPr>
        <p:spPr>
          <a:xfrm>
            <a:off x="5432377" y="3291840"/>
            <a:ext cx="851453" cy="237744"/>
          </a:xfrm>
          <a:prstGeom prst="rect">
            <a:avLst/>
          </a:prstGeom>
          <a:noFill/>
        </p:spPr>
        <p:txBody>
          <a:bodyPr wrap="square" anchor="t" lIns="0" rIns="0" tIns="0" bIns="0">
            <a:noAutofit/>
          </a:bodyPr>
          <a:lstStyle/>
          <a:p>
            <a:pPr algn="r">
              <a:lnSpc>
                <a:spcPct val="100000"/>
              </a:lnSpc>
              <a:spcAft>
                <a:spcPts val="0"/>
              </a:spcAft>
            </a:pPr>
            <a:r>
              <a:rPr sz="950" b="1" i="0">
                <a:solidFill>
                  <a:srgbClr val="E4572E"/>
                </a:solidFill>
                <a:latin typeface="Calibri"/>
              </a:rPr>
              <a:t>7.5%</a:t>
            </a:r>
          </a:p>
        </p:txBody>
      </p:sp>
      <p:sp>
        <p:nvSpPr>
          <p:cNvPr id="30" name="Rectangle 29"/>
          <p:cNvSpPr/>
          <p:nvPr/>
        </p:nvSpPr>
        <p:spPr>
          <a:xfrm>
            <a:off x="749808" y="3703320"/>
            <a:ext cx="128016" cy="128016"/>
          </a:xfrm>
          <a:prstGeom prst="rect">
            <a:avLst/>
          </a:prstGeom>
          <a:solidFill>
            <a:srgbClr val="9FBB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69264" y="3657600"/>
            <a:ext cx="3344996" cy="237744"/>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Contingency</a:t>
            </a:r>
          </a:p>
        </p:txBody>
      </p:sp>
      <p:sp>
        <p:nvSpPr>
          <p:cNvPr id="32" name="TextBox 31"/>
          <p:cNvSpPr txBox="1"/>
          <p:nvPr/>
        </p:nvSpPr>
        <p:spPr>
          <a:xfrm>
            <a:off x="3607833" y="3657600"/>
            <a:ext cx="1702907" cy="237744"/>
          </a:xfrm>
          <a:prstGeom prst="rect">
            <a:avLst/>
          </a:prstGeom>
          <a:noFill/>
        </p:spPr>
        <p:txBody>
          <a:bodyPr wrap="square" anchor="t" lIns="0" rIns="0" tIns="0" bIns="0">
            <a:noAutofit/>
          </a:bodyPr>
          <a:lstStyle/>
          <a:p>
            <a:pPr algn="r">
              <a:lnSpc>
                <a:spcPct val="100000"/>
              </a:lnSpc>
              <a:spcAft>
                <a:spcPts val="0"/>
              </a:spcAft>
            </a:pPr>
            <a:r>
              <a:rPr sz="980" b="1" i="0">
                <a:solidFill>
                  <a:srgbClr val="FFFFFF"/>
                </a:solidFill>
                <a:latin typeface="Calibri"/>
              </a:rPr>
              <a:t>₱120,000</a:t>
            </a:r>
          </a:p>
        </p:txBody>
      </p:sp>
      <p:sp>
        <p:nvSpPr>
          <p:cNvPr id="33" name="TextBox 32"/>
          <p:cNvSpPr txBox="1"/>
          <p:nvPr/>
        </p:nvSpPr>
        <p:spPr>
          <a:xfrm>
            <a:off x="5432377" y="3657600"/>
            <a:ext cx="851453" cy="237744"/>
          </a:xfrm>
          <a:prstGeom prst="rect">
            <a:avLst/>
          </a:prstGeom>
          <a:noFill/>
        </p:spPr>
        <p:txBody>
          <a:bodyPr wrap="square" anchor="t" lIns="0" rIns="0" tIns="0" bIns="0">
            <a:noAutofit/>
          </a:bodyPr>
          <a:lstStyle/>
          <a:p>
            <a:pPr algn="r">
              <a:lnSpc>
                <a:spcPct val="100000"/>
              </a:lnSpc>
              <a:spcAft>
                <a:spcPts val="0"/>
              </a:spcAft>
            </a:pPr>
            <a:r>
              <a:rPr sz="950" b="1" i="0">
                <a:solidFill>
                  <a:srgbClr val="9FBBAE"/>
                </a:solidFill>
                <a:latin typeface="Calibri"/>
              </a:rPr>
              <a:t>5.0%</a:t>
            </a:r>
          </a:p>
        </p:txBody>
      </p:sp>
      <p:sp>
        <p:nvSpPr>
          <p:cNvPr id="34" name="TextBox 33"/>
          <p:cNvSpPr txBox="1"/>
          <p:nvPr/>
        </p:nvSpPr>
        <p:spPr>
          <a:xfrm>
            <a:off x="6959635" y="1344168"/>
            <a:ext cx="1866091" cy="365760"/>
          </a:xfrm>
          <a:prstGeom prst="rect">
            <a:avLst/>
          </a:prstGeom>
          <a:noFill/>
        </p:spPr>
        <p:txBody>
          <a:bodyPr wrap="square" anchor="t" lIns="0" rIns="0" tIns="0" bIns="0">
            <a:noAutofit/>
          </a:bodyPr>
          <a:lstStyle/>
          <a:p>
            <a:pPr algn="l">
              <a:lnSpc>
                <a:spcPct val="100000"/>
              </a:lnSpc>
              <a:spcAft>
                <a:spcPts val="0"/>
              </a:spcAft>
            </a:pPr>
            <a:r>
              <a:rPr sz="950" b="1" i="0">
                <a:solidFill>
                  <a:srgbClr val="9FBBAE"/>
                </a:solidFill>
                <a:latin typeface="Calibri"/>
              </a:rPr>
              <a:t>3-year projection</a:t>
            </a:r>
          </a:p>
        </p:txBody>
      </p:sp>
      <p:sp>
        <p:nvSpPr>
          <p:cNvPr id="35" name="TextBox 34"/>
          <p:cNvSpPr txBox="1"/>
          <p:nvPr/>
        </p:nvSpPr>
        <p:spPr>
          <a:xfrm>
            <a:off x="8972031" y="1344168"/>
            <a:ext cx="768421" cy="365760"/>
          </a:xfrm>
          <a:prstGeom prst="rect">
            <a:avLst/>
          </a:prstGeom>
          <a:noFill/>
        </p:spPr>
        <p:txBody>
          <a:bodyPr wrap="square" anchor="t" lIns="0" rIns="0" tIns="0" bIns="0">
            <a:noAutofit/>
          </a:bodyPr>
          <a:lstStyle/>
          <a:p>
            <a:pPr algn="l">
              <a:lnSpc>
                <a:spcPct val="100000"/>
              </a:lnSpc>
              <a:spcAft>
                <a:spcPts val="0"/>
              </a:spcAft>
            </a:pPr>
            <a:r>
              <a:rPr sz="950" b="1" i="0">
                <a:solidFill>
                  <a:srgbClr val="9FBBAE"/>
                </a:solidFill>
                <a:latin typeface="Calibri"/>
              </a:rPr>
              <a:t>Year 1</a:t>
            </a:r>
          </a:p>
        </p:txBody>
      </p:sp>
      <p:sp>
        <p:nvSpPr>
          <p:cNvPr id="36" name="TextBox 35"/>
          <p:cNvSpPr txBox="1"/>
          <p:nvPr/>
        </p:nvSpPr>
        <p:spPr>
          <a:xfrm>
            <a:off x="9886756" y="1344168"/>
            <a:ext cx="768421" cy="365760"/>
          </a:xfrm>
          <a:prstGeom prst="rect">
            <a:avLst/>
          </a:prstGeom>
          <a:noFill/>
        </p:spPr>
        <p:txBody>
          <a:bodyPr wrap="square" anchor="t" lIns="0" rIns="0" tIns="0" bIns="0">
            <a:noAutofit/>
          </a:bodyPr>
          <a:lstStyle/>
          <a:p>
            <a:pPr algn="l">
              <a:lnSpc>
                <a:spcPct val="100000"/>
              </a:lnSpc>
              <a:spcAft>
                <a:spcPts val="0"/>
              </a:spcAft>
            </a:pPr>
            <a:r>
              <a:rPr sz="950" b="1" i="0">
                <a:solidFill>
                  <a:srgbClr val="9FBBAE"/>
                </a:solidFill>
                <a:latin typeface="Calibri"/>
              </a:rPr>
              <a:t>Year 2</a:t>
            </a:r>
          </a:p>
        </p:txBody>
      </p:sp>
      <p:sp>
        <p:nvSpPr>
          <p:cNvPr id="37" name="TextBox 36"/>
          <p:cNvSpPr txBox="1"/>
          <p:nvPr/>
        </p:nvSpPr>
        <p:spPr>
          <a:xfrm>
            <a:off x="10801481" y="1344168"/>
            <a:ext cx="768421" cy="365760"/>
          </a:xfrm>
          <a:prstGeom prst="rect">
            <a:avLst/>
          </a:prstGeom>
          <a:noFill/>
        </p:spPr>
        <p:txBody>
          <a:bodyPr wrap="square" anchor="t" lIns="0" rIns="0" tIns="0" bIns="0">
            <a:noAutofit/>
          </a:bodyPr>
          <a:lstStyle/>
          <a:p>
            <a:pPr algn="l">
              <a:lnSpc>
                <a:spcPct val="100000"/>
              </a:lnSpc>
              <a:spcAft>
                <a:spcPts val="0"/>
              </a:spcAft>
            </a:pPr>
            <a:r>
              <a:rPr sz="950" b="1" i="0">
                <a:solidFill>
                  <a:srgbClr val="9FBBAE"/>
                </a:solidFill>
                <a:latin typeface="Calibri"/>
              </a:rPr>
              <a:t>Year 3</a:t>
            </a:r>
          </a:p>
        </p:txBody>
      </p:sp>
      <p:sp>
        <p:nvSpPr>
          <p:cNvPr id="38" name="TextBox 37"/>
          <p:cNvSpPr txBox="1"/>
          <p:nvPr/>
        </p:nvSpPr>
        <p:spPr>
          <a:xfrm>
            <a:off x="6959635" y="1709928"/>
            <a:ext cx="1866091" cy="365760"/>
          </a:xfrm>
          <a:prstGeom prst="rect">
            <a:avLst/>
          </a:prstGeom>
          <a:noFill/>
        </p:spPr>
        <p:txBody>
          <a:bodyPr wrap="square" anchor="t" lIns="0" rIns="0" tIns="0" bIns="0">
            <a:noAutofit/>
          </a:bodyPr>
          <a:lstStyle/>
          <a:p>
            <a:pPr algn="l">
              <a:lnSpc>
                <a:spcPct val="100000"/>
              </a:lnSpc>
              <a:spcAft>
                <a:spcPts val="0"/>
              </a:spcAft>
            </a:pPr>
            <a:r>
              <a:rPr sz="950" b="1" i="0">
                <a:solidFill>
                  <a:srgbClr val="FFFFFF"/>
                </a:solidFill>
                <a:latin typeface="Calibri"/>
              </a:rPr>
              <a:t>Hubs live</a:t>
            </a:r>
          </a:p>
        </p:txBody>
      </p:sp>
      <p:sp>
        <p:nvSpPr>
          <p:cNvPr id="39" name="TextBox 38"/>
          <p:cNvSpPr txBox="1"/>
          <p:nvPr/>
        </p:nvSpPr>
        <p:spPr>
          <a:xfrm>
            <a:off x="8972031" y="1709928"/>
            <a:ext cx="768421"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3</a:t>
            </a:r>
          </a:p>
        </p:txBody>
      </p:sp>
      <p:sp>
        <p:nvSpPr>
          <p:cNvPr id="40" name="Rectangle 39"/>
          <p:cNvSpPr/>
          <p:nvPr/>
        </p:nvSpPr>
        <p:spPr>
          <a:xfrm>
            <a:off x="8880591" y="162763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886756" y="1709928"/>
            <a:ext cx="768421"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12</a:t>
            </a:r>
          </a:p>
        </p:txBody>
      </p:sp>
      <p:sp>
        <p:nvSpPr>
          <p:cNvPr id="42" name="Rectangle 41"/>
          <p:cNvSpPr/>
          <p:nvPr/>
        </p:nvSpPr>
        <p:spPr>
          <a:xfrm>
            <a:off x="9795316" y="162763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0801481" y="1709928"/>
            <a:ext cx="768421"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30</a:t>
            </a:r>
          </a:p>
        </p:txBody>
      </p:sp>
      <p:sp>
        <p:nvSpPr>
          <p:cNvPr id="44" name="Rectangle 43"/>
          <p:cNvSpPr/>
          <p:nvPr/>
        </p:nvSpPr>
        <p:spPr>
          <a:xfrm>
            <a:off x="10710041" y="162763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6868195" y="1982419"/>
            <a:ext cx="4756571" cy="10972"/>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959635" y="2075688"/>
            <a:ext cx="1866091" cy="365760"/>
          </a:xfrm>
          <a:prstGeom prst="rect">
            <a:avLst/>
          </a:prstGeom>
          <a:noFill/>
        </p:spPr>
        <p:txBody>
          <a:bodyPr wrap="square" anchor="t" lIns="0" rIns="0" tIns="0" bIns="0">
            <a:noAutofit/>
          </a:bodyPr>
          <a:lstStyle/>
          <a:p>
            <a:pPr algn="l">
              <a:lnSpc>
                <a:spcPct val="100000"/>
              </a:lnSpc>
              <a:spcAft>
                <a:spcPts val="0"/>
              </a:spcAft>
            </a:pPr>
            <a:r>
              <a:rPr sz="950" b="1" i="0">
                <a:solidFill>
                  <a:srgbClr val="FFFFFF"/>
                </a:solidFill>
                <a:latin typeface="Calibri"/>
              </a:rPr>
              <a:t>Revenue (₱M)</a:t>
            </a:r>
          </a:p>
        </p:txBody>
      </p:sp>
      <p:sp>
        <p:nvSpPr>
          <p:cNvPr id="47" name="TextBox 46"/>
          <p:cNvSpPr txBox="1"/>
          <p:nvPr/>
        </p:nvSpPr>
        <p:spPr>
          <a:xfrm>
            <a:off x="8972031" y="2075688"/>
            <a:ext cx="768421"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1.2</a:t>
            </a:r>
          </a:p>
        </p:txBody>
      </p:sp>
      <p:sp>
        <p:nvSpPr>
          <p:cNvPr id="48" name="Rectangle 47"/>
          <p:cNvSpPr/>
          <p:nvPr/>
        </p:nvSpPr>
        <p:spPr>
          <a:xfrm>
            <a:off x="8880591" y="199339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9886756" y="2075688"/>
            <a:ext cx="768421"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6.9</a:t>
            </a:r>
          </a:p>
        </p:txBody>
      </p:sp>
      <p:sp>
        <p:nvSpPr>
          <p:cNvPr id="50" name="Rectangle 49"/>
          <p:cNvSpPr/>
          <p:nvPr/>
        </p:nvSpPr>
        <p:spPr>
          <a:xfrm>
            <a:off x="9795316" y="199339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10801481" y="2075688"/>
            <a:ext cx="768421"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17.9</a:t>
            </a:r>
          </a:p>
        </p:txBody>
      </p:sp>
      <p:sp>
        <p:nvSpPr>
          <p:cNvPr id="52" name="Rectangle 51"/>
          <p:cNvSpPr/>
          <p:nvPr/>
        </p:nvSpPr>
        <p:spPr>
          <a:xfrm>
            <a:off x="10710041" y="199339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6868195" y="2348179"/>
            <a:ext cx="4756571" cy="10972"/>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6959635" y="2441448"/>
            <a:ext cx="1866091" cy="365760"/>
          </a:xfrm>
          <a:prstGeom prst="rect">
            <a:avLst/>
          </a:prstGeom>
          <a:noFill/>
        </p:spPr>
        <p:txBody>
          <a:bodyPr wrap="square" anchor="t" lIns="0" rIns="0" tIns="0" bIns="0">
            <a:noAutofit/>
          </a:bodyPr>
          <a:lstStyle/>
          <a:p>
            <a:pPr algn="l">
              <a:lnSpc>
                <a:spcPct val="100000"/>
              </a:lnSpc>
              <a:spcAft>
                <a:spcPts val="0"/>
              </a:spcAft>
            </a:pPr>
            <a:r>
              <a:rPr sz="950" b="1" i="0">
                <a:solidFill>
                  <a:srgbClr val="FFFFFF"/>
                </a:solidFill>
                <a:latin typeface="Calibri"/>
              </a:rPr>
              <a:t>Operating cost (₱M)</a:t>
            </a:r>
          </a:p>
        </p:txBody>
      </p:sp>
      <p:sp>
        <p:nvSpPr>
          <p:cNvPr id="55" name="TextBox 54"/>
          <p:cNvSpPr txBox="1"/>
          <p:nvPr/>
        </p:nvSpPr>
        <p:spPr>
          <a:xfrm>
            <a:off x="8972031" y="2441448"/>
            <a:ext cx="768421"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2.0</a:t>
            </a:r>
          </a:p>
        </p:txBody>
      </p:sp>
      <p:sp>
        <p:nvSpPr>
          <p:cNvPr id="56" name="Rectangle 55"/>
          <p:cNvSpPr/>
          <p:nvPr/>
        </p:nvSpPr>
        <p:spPr>
          <a:xfrm>
            <a:off x="8880591" y="235915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9886756" y="2441448"/>
            <a:ext cx="768421"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5.1</a:t>
            </a:r>
          </a:p>
        </p:txBody>
      </p:sp>
      <p:sp>
        <p:nvSpPr>
          <p:cNvPr id="58" name="Rectangle 57"/>
          <p:cNvSpPr/>
          <p:nvPr/>
        </p:nvSpPr>
        <p:spPr>
          <a:xfrm>
            <a:off x="9795316" y="235915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10801481" y="2441448"/>
            <a:ext cx="768421"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11.2</a:t>
            </a:r>
          </a:p>
        </p:txBody>
      </p:sp>
      <p:sp>
        <p:nvSpPr>
          <p:cNvPr id="60" name="Rectangle 59"/>
          <p:cNvSpPr/>
          <p:nvPr/>
        </p:nvSpPr>
        <p:spPr>
          <a:xfrm>
            <a:off x="10710041" y="235915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6868195" y="2713939"/>
            <a:ext cx="4756571" cy="10972"/>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6959635" y="2807208"/>
            <a:ext cx="1866091" cy="365760"/>
          </a:xfrm>
          <a:prstGeom prst="rect">
            <a:avLst/>
          </a:prstGeom>
          <a:noFill/>
        </p:spPr>
        <p:txBody>
          <a:bodyPr wrap="square" anchor="t" lIns="0" rIns="0" tIns="0" bIns="0">
            <a:noAutofit/>
          </a:bodyPr>
          <a:lstStyle/>
          <a:p>
            <a:pPr algn="l">
              <a:lnSpc>
                <a:spcPct val="100000"/>
              </a:lnSpc>
              <a:spcAft>
                <a:spcPts val="0"/>
              </a:spcAft>
            </a:pPr>
            <a:r>
              <a:rPr sz="950" b="1" i="0">
                <a:solidFill>
                  <a:srgbClr val="FFFFFF"/>
                </a:solidFill>
                <a:latin typeface="Calibri"/>
              </a:rPr>
              <a:t>EBITDA (₱M)</a:t>
            </a:r>
          </a:p>
        </p:txBody>
      </p:sp>
      <p:sp>
        <p:nvSpPr>
          <p:cNvPr id="63" name="TextBox 62"/>
          <p:cNvSpPr txBox="1"/>
          <p:nvPr/>
        </p:nvSpPr>
        <p:spPr>
          <a:xfrm>
            <a:off x="8972031" y="2807208"/>
            <a:ext cx="768421"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(0.8)</a:t>
            </a:r>
          </a:p>
        </p:txBody>
      </p:sp>
      <p:sp>
        <p:nvSpPr>
          <p:cNvPr id="64" name="Rectangle 63"/>
          <p:cNvSpPr/>
          <p:nvPr/>
        </p:nvSpPr>
        <p:spPr>
          <a:xfrm>
            <a:off x="8880591" y="272491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9886756" y="2807208"/>
            <a:ext cx="768421"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+1.8</a:t>
            </a:r>
          </a:p>
        </p:txBody>
      </p:sp>
      <p:sp>
        <p:nvSpPr>
          <p:cNvPr id="66" name="Rectangle 65"/>
          <p:cNvSpPr/>
          <p:nvPr/>
        </p:nvSpPr>
        <p:spPr>
          <a:xfrm>
            <a:off x="9795316" y="272491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10801481" y="2807208"/>
            <a:ext cx="768421" cy="365760"/>
          </a:xfrm>
          <a:prstGeom prst="rect">
            <a:avLst/>
          </a:prstGeom>
          <a:noFill/>
        </p:spPr>
        <p:txBody>
          <a:bodyPr wrap="square" anchor="t" lIns="0" rIns="0" tIns="0" bIns="0">
            <a:noAutofit/>
          </a:bodyPr>
          <a:lstStyle/>
          <a:p>
            <a:pPr algn="l">
              <a:lnSpc>
                <a:spcPct val="100000"/>
              </a:lnSpc>
              <a:spcAft>
                <a:spcPts val="0"/>
              </a:spcAft>
            </a:pPr>
            <a:r>
              <a:rPr sz="950" b="0" i="0">
                <a:solidFill>
                  <a:srgbClr val="CBE2D7"/>
                </a:solidFill>
                <a:latin typeface="Calibri"/>
              </a:rPr>
              <a:t>+6.7</a:t>
            </a:r>
          </a:p>
        </p:txBody>
      </p:sp>
      <p:sp>
        <p:nvSpPr>
          <p:cNvPr id="68" name="Rectangle 67"/>
          <p:cNvSpPr/>
          <p:nvPr/>
        </p:nvSpPr>
        <p:spPr>
          <a:xfrm>
            <a:off x="10710041" y="2724912"/>
            <a:ext cx="9144" cy="365760"/>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ectangle 68"/>
          <p:cNvSpPr/>
          <p:nvPr/>
        </p:nvSpPr>
        <p:spPr>
          <a:xfrm>
            <a:off x="6868195" y="3079699"/>
            <a:ext cx="4756571" cy="10972"/>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Rounded Rectangle 69"/>
          <p:cNvSpPr/>
          <p:nvPr/>
        </p:nvSpPr>
        <p:spPr>
          <a:xfrm>
            <a:off x="6868195" y="3236976"/>
            <a:ext cx="2283154" cy="1097280"/>
          </a:xfrm>
          <a:prstGeom prst="roundRect">
            <a:avLst>
              <a:gd name="adj" fmla="val 6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F2A33C"/>
                </a:solidFill>
                <a:latin typeface="Calibri"/>
              </a:rPr>
              <a:t/>
            </a:r>
            <a:r>
              <a:rPr sz="1150" b="1" i="0">
                <a:solidFill>
                  <a:srgbClr val="FFFFFF"/>
                </a:solidFill>
                <a:latin typeface="Calibri"/>
              </a:rPr>
              <a:t>Payback per hub</a:t>
            </a:r>
          </a:p>
        </p:txBody>
      </p:sp>
      <p:sp>
        <p:nvSpPr>
          <p:cNvPr id="71" name="TextBox 70"/>
          <p:cNvSpPr txBox="1"/>
          <p:nvPr/>
        </p:nvSpPr>
        <p:spPr>
          <a:xfrm>
            <a:off x="7032787" y="3694176"/>
            <a:ext cx="2092891" cy="457200"/>
          </a:xfrm>
          <a:prstGeom prst="rect">
            <a:avLst/>
          </a:prstGeom>
          <a:noFill/>
        </p:spPr>
        <p:txBody>
          <a:bodyPr wrap="square" anchor="t" lIns="0" rIns="0" tIns="0" bIns="0">
            <a:noAutofit/>
          </a:bodyPr>
          <a:lstStyle/>
          <a:p>
            <a:pPr algn="l">
              <a:lnSpc>
                <a:spcPct val="100000"/>
              </a:lnSpc>
              <a:spcAft>
                <a:spcPts val="0"/>
              </a:spcAft>
            </a:pPr>
            <a:r>
              <a:rPr sz="1700" b="1" i="0">
                <a:solidFill>
                  <a:srgbClr val="FFD9A2"/>
                </a:solidFill>
                <a:latin typeface="Calibri"/>
              </a:rPr>
              <a:t>14.5 months</a:t>
            </a:r>
          </a:p>
        </p:txBody>
      </p:sp>
      <p:sp>
        <p:nvSpPr>
          <p:cNvPr id="72" name="Rounded Rectangle 71"/>
          <p:cNvSpPr/>
          <p:nvPr/>
        </p:nvSpPr>
        <p:spPr>
          <a:xfrm>
            <a:off x="9341612" y="3236976"/>
            <a:ext cx="2283154" cy="1097280"/>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
            </a:r>
            <a:r>
              <a:rPr sz="1150" b="1" i="0">
                <a:solidFill>
                  <a:srgbClr val="FFFFFF"/>
                </a:solidFill>
                <a:latin typeface="Calibri"/>
              </a:rPr>
              <a:t>Farmer income per ₱1</a:t>
            </a:r>
          </a:p>
        </p:txBody>
      </p:sp>
      <p:sp>
        <p:nvSpPr>
          <p:cNvPr id="73" name="TextBox 72"/>
          <p:cNvSpPr txBox="1"/>
          <p:nvPr/>
        </p:nvSpPr>
        <p:spPr>
          <a:xfrm>
            <a:off x="9506204" y="3694176"/>
            <a:ext cx="2092891" cy="457200"/>
          </a:xfrm>
          <a:prstGeom prst="rect">
            <a:avLst/>
          </a:prstGeom>
          <a:noFill/>
        </p:spPr>
        <p:txBody>
          <a:bodyPr wrap="square" anchor="t" lIns="0" rIns="0" tIns="0" bIns="0">
            <a:noAutofit/>
          </a:bodyPr>
          <a:lstStyle/>
          <a:p>
            <a:pPr algn="l">
              <a:lnSpc>
                <a:spcPct val="100000"/>
              </a:lnSpc>
              <a:spcAft>
                <a:spcPts val="0"/>
              </a:spcAft>
            </a:pPr>
            <a:r>
              <a:rPr sz="1700" b="1" i="0">
                <a:solidFill>
                  <a:srgbClr val="7FD1AE"/>
                </a:solidFill>
                <a:latin typeface="Calibri"/>
              </a:rPr>
              <a:t>₱8.50 generated</a:t>
            </a:r>
          </a:p>
        </p:txBody>
      </p:sp>
      <p:sp>
        <p:nvSpPr>
          <p:cNvPr id="74" name="Rounded Rectangle 73"/>
          <p:cNvSpPr/>
          <p:nvPr/>
        </p:nvSpPr>
        <p:spPr>
          <a:xfrm>
            <a:off x="566928" y="4352544"/>
            <a:ext cx="11057839" cy="822960"/>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  </a:t>
            </a:r>
            <a:r>
              <a:rPr sz="1150" b="1" i="0">
                <a:solidFill>
                  <a:srgbClr val="FFFFFF"/>
                </a:solidFill>
                <a:latin typeface="Calibri"/>
              </a:rPr>
              <a:t>Funding structure &amp; sustainability</a:t>
            </a:r>
          </a:p>
          <a:p>
            <a:pPr>
              <a:lnSpc>
                <a:spcPct val="102000"/>
              </a:lnSpc>
              <a:spcAft>
                <a:spcPts val="400"/>
              </a:spcAft>
            </a:pPr>
            <a:r>
              <a:rPr sz="950" b="0" i="0">
                <a:solidFill>
                  <a:srgbClr val="CBE2D7"/>
                </a:solidFill>
                <a:latin typeface="Calibri"/>
              </a:rPr>
              <a:t>Grant/seed equity covers capex, and each hub becomes a revenue-generating asset from month 4. Year-2 growth can be financed from hub cash flow plus a DA/PRDP facility and cooperative in-kind equity (land and labour), keeping dilution minimal.</a:t>
            </a:r>
          </a:p>
        </p:txBody>
      </p:sp>
      <p:sp>
        <p:nvSpPr>
          <p:cNvPr id="75" name="TextBox 74"/>
          <p:cNvSpPr txBox="1"/>
          <p:nvPr/>
        </p:nvSpPr>
        <p:spPr>
          <a:xfrm>
            <a:off x="566928" y="6382512"/>
            <a:ext cx="11057839" cy="274320"/>
          </a:xfrm>
          <a:prstGeom prst="rect">
            <a:avLst/>
          </a:prstGeom>
          <a:noFill/>
        </p:spPr>
        <p:txBody>
          <a:bodyPr wrap="square" anchor="t" lIns="0" rIns="0" tIns="0" bIns="0">
            <a:noAutofit/>
          </a:bodyPr>
          <a:lstStyle/>
          <a:p>
            <a:pPr algn="l">
              <a:lnSpc>
                <a:spcPct val="105000"/>
              </a:lnSpc>
              <a:spcAft>
                <a:spcPts val="0"/>
              </a:spcAft>
            </a:pPr>
            <a:r>
              <a:rPr sz="720" b="0" i="0">
                <a:solidFill>
                  <a:srgbClr val="7E9D8F"/>
                </a:solidFill>
                <a:latin typeface="Calibri"/>
              </a:rPr>
              <a:t>Assumptions: 55–70% utilisation · ₱1.20/kg/day storage · 6% offtake commission · 80/20 co-op revenue share · ₱480k hub capex. Full model available on request.</a:t>
            </a:r>
          </a:p>
        </p:txBody>
      </p:sp>
    </p:spTree>
  </p:cSld>
  <p:clrMapOvr>
    <a:masterClrMapping/>
  </p:clrMapOvr>
  <mc:AlternateContent xmlns:mc="http://schemas.openxmlformats.org/markup-compatibility/2006">
    <mc:Choice xmlns:p14="http://schemas.microsoft.com/office/powerpoint/2010/main" Requires="p14">
      <p:transition advTm="18000" p14:dur="1100">
        <p14:cube dir="l"/>
      </p:transition>
    </mc:Choice>
    <mc:Fallback>
      <p:transition spd="slow" advTm="18000">
        <p:push dir="l"/>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1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168335" y="-1371600"/>
            <a:ext cx="5120640" cy="51206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828800" y="4114800"/>
            <a:ext cx="4206240" cy="42062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66928" y="384048"/>
            <a:ext cx="676656" cy="676656"/>
          </a:xfrm>
          <a:prstGeom prst="roundRect">
            <a:avLst>
              <a:gd name="adj" fmla="val 22000"/>
            </a:avLst>
          </a:prstGeom>
          <a:solidFill>
            <a:srgbClr val="7FD1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04120C"/>
                </a:solidFill>
                <a:latin typeface="Calibri"/>
              </a:rPr>
              <a:t>◎</a:t>
            </a:r>
          </a:p>
        </p:txBody>
      </p:sp>
      <p:sp>
        <p:nvSpPr>
          <p:cNvPr id="6" name="TextBox 5"/>
          <p:cNvSpPr txBox="1"/>
          <p:nvPr/>
        </p:nvSpPr>
        <p:spPr>
          <a:xfrm>
            <a:off x="1481328" y="402336"/>
            <a:ext cx="10143439" cy="201168"/>
          </a:xfrm>
          <a:prstGeom prst="rect">
            <a:avLst/>
          </a:prstGeom>
          <a:noFill/>
        </p:spPr>
        <p:txBody>
          <a:bodyPr wrap="square" anchor="t" lIns="0" rIns="0" tIns="0" bIns="0">
            <a:noAutofit/>
          </a:bodyPr>
          <a:lstStyle/>
          <a:p>
            <a:pPr algn="l">
              <a:lnSpc>
                <a:spcPct val="100000"/>
              </a:lnSpc>
              <a:spcAft>
                <a:spcPts val="0"/>
              </a:spcAft>
            </a:pPr>
            <a:r>
              <a:rPr sz="900" b="1" i="0">
                <a:solidFill>
                  <a:srgbClr val="7FD1AE"/>
                </a:solidFill>
                <a:latin typeface="Calibri"/>
              </a:rPr>
              <a:t>IMPACT &amp; SDG ALIGNMENT</a:t>
            </a:r>
          </a:p>
        </p:txBody>
      </p:sp>
      <p:sp>
        <p:nvSpPr>
          <p:cNvPr id="7" name="TextBox 6"/>
          <p:cNvSpPr txBox="1"/>
          <p:nvPr/>
        </p:nvSpPr>
        <p:spPr>
          <a:xfrm>
            <a:off x="1481328" y="621792"/>
            <a:ext cx="10143439" cy="457200"/>
          </a:xfrm>
          <a:prstGeom prst="rect">
            <a:avLst/>
          </a:prstGeom>
          <a:noFill/>
        </p:spPr>
        <p:txBody>
          <a:bodyPr wrap="square" anchor="t" lIns="0" rIns="0" tIns="0" bIns="0">
            <a:noAutofit/>
          </a:bodyPr>
          <a:lstStyle/>
          <a:p>
            <a:pPr algn="l">
              <a:lnSpc>
                <a:spcPct val="98000"/>
              </a:lnSpc>
              <a:spcAft>
                <a:spcPts val="0"/>
              </a:spcAft>
            </a:pPr>
            <a:r>
              <a:rPr sz="2400" b="1" i="0">
                <a:solidFill>
                  <a:srgbClr val="FFFFFF"/>
                </a:solidFill>
                <a:latin typeface="Calibri"/>
              </a:rPr>
              <a:t>Year-one impact we can audit, not just claim</a:t>
            </a:r>
          </a:p>
        </p:txBody>
      </p:sp>
      <p:sp>
        <p:nvSpPr>
          <p:cNvPr id="8" name="Rounded Rectangle 7"/>
          <p:cNvSpPr/>
          <p:nvPr/>
        </p:nvSpPr>
        <p:spPr>
          <a:xfrm>
            <a:off x="566928" y="1170432"/>
            <a:ext cx="2613583" cy="118872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200" b="1" i="0">
                <a:solidFill>
                  <a:srgbClr val="7FD1AE"/>
                </a:solidFill>
                <a:latin typeface="Calibri"/>
              </a:rPr>
              <a:t>84 t</a:t>
            </a:r>
          </a:p>
          <a:p>
            <a:pPr>
              <a:lnSpc>
                <a:spcPct val="100000"/>
              </a:lnSpc>
              <a:spcAft>
                <a:spcPts val="300"/>
              </a:spcAft>
            </a:pPr>
            <a:r>
              <a:rPr sz="800" b="1" i="0">
                <a:solidFill>
                  <a:srgbClr val="9FBBAE"/>
                </a:solidFill>
                <a:latin typeface="Calibri"/>
              </a:rPr>
              <a:t>FOOD SAVED</a:t>
            </a:r>
          </a:p>
          <a:p>
            <a:pPr>
              <a:lnSpc>
                <a:spcPct val="100000"/>
              </a:lnSpc>
              <a:spcAft>
                <a:spcPts val="300"/>
              </a:spcAft>
            </a:pPr>
            <a:r>
              <a:rPr sz="780" b="0" i="0">
                <a:solidFill>
                  <a:srgbClr val="7E9D8F"/>
                </a:solidFill>
                <a:latin typeface="Calibri"/>
              </a:rPr>
              <a:t>Edible produce not lost — about 560,000 meals.</a:t>
            </a:r>
          </a:p>
        </p:txBody>
      </p:sp>
      <p:sp>
        <p:nvSpPr>
          <p:cNvPr id="9" name="Rounded Rectangle 8"/>
          <p:cNvSpPr/>
          <p:nvPr/>
        </p:nvSpPr>
        <p:spPr>
          <a:xfrm>
            <a:off x="3381679" y="1170432"/>
            <a:ext cx="2613583" cy="118872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200" b="1" i="0">
                <a:solidFill>
                  <a:srgbClr val="7FD1AE"/>
                </a:solidFill>
                <a:latin typeface="Calibri"/>
              </a:rPr>
              <a:t>₱2.5 M</a:t>
            </a:r>
          </a:p>
          <a:p>
            <a:pPr>
              <a:lnSpc>
                <a:spcPct val="100000"/>
              </a:lnSpc>
              <a:spcAft>
                <a:spcPts val="300"/>
              </a:spcAft>
            </a:pPr>
            <a:r>
              <a:rPr sz="800" b="1" i="0">
                <a:solidFill>
                  <a:srgbClr val="9FBBAE"/>
                </a:solidFill>
                <a:latin typeface="Calibri"/>
              </a:rPr>
              <a:t>FARMER INCOME UNLOCKED</a:t>
            </a:r>
          </a:p>
          <a:p>
            <a:pPr>
              <a:lnSpc>
                <a:spcPct val="100000"/>
              </a:lnSpc>
              <a:spcAft>
                <a:spcPts val="300"/>
              </a:spcAft>
            </a:pPr>
            <a:r>
              <a:rPr sz="780" b="0" i="0">
                <a:solidFill>
                  <a:srgbClr val="7E9D8F"/>
                </a:solidFill>
                <a:latin typeface="Calibri"/>
              </a:rPr>
              <a:t>120 households, Year 1.</a:t>
            </a:r>
          </a:p>
        </p:txBody>
      </p:sp>
      <p:sp>
        <p:nvSpPr>
          <p:cNvPr id="10" name="Rounded Rectangle 9"/>
          <p:cNvSpPr/>
          <p:nvPr/>
        </p:nvSpPr>
        <p:spPr>
          <a:xfrm>
            <a:off x="6196431" y="1170432"/>
            <a:ext cx="2613583" cy="118872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200" b="1" i="0">
                <a:solidFill>
                  <a:srgbClr val="F2A33C"/>
                </a:solidFill>
                <a:latin typeface="Calibri"/>
              </a:rPr>
              <a:t>18 tCO₂e</a:t>
            </a:r>
          </a:p>
          <a:p>
            <a:pPr>
              <a:lnSpc>
                <a:spcPct val="100000"/>
              </a:lnSpc>
              <a:spcAft>
                <a:spcPts val="300"/>
              </a:spcAft>
            </a:pPr>
            <a:r>
              <a:rPr sz="800" b="1" i="0">
                <a:solidFill>
                  <a:srgbClr val="9FBBAE"/>
                </a:solidFill>
                <a:latin typeface="Calibri"/>
              </a:rPr>
              <a:t>EMISSIONS AVOIDED</a:t>
            </a:r>
          </a:p>
          <a:p>
            <a:pPr>
              <a:lnSpc>
                <a:spcPct val="100000"/>
              </a:lnSpc>
              <a:spcAft>
                <a:spcPts val="300"/>
              </a:spcAft>
            </a:pPr>
            <a:r>
              <a:rPr sz="780" b="0" i="0">
                <a:solidFill>
                  <a:srgbClr val="7E9D8F"/>
                </a:solidFill>
                <a:latin typeface="Calibri"/>
              </a:rPr>
              <a:t>Food loss + diesel reefer avoided.</a:t>
            </a:r>
          </a:p>
        </p:txBody>
      </p:sp>
      <p:sp>
        <p:nvSpPr>
          <p:cNvPr id="11" name="Rounded Rectangle 10"/>
          <p:cNvSpPr/>
          <p:nvPr/>
        </p:nvSpPr>
        <p:spPr>
          <a:xfrm>
            <a:off x="9011183" y="1170432"/>
            <a:ext cx="2613583" cy="1188720"/>
          </a:xfrm>
          <a:prstGeom prst="roundRect">
            <a:avLst>
              <a:gd name="adj" fmla="val 7000"/>
            </a:avLst>
          </a:prstGeom>
          <a:solidFill>
            <a:srgbClr val="0C2E22"/>
          </a:solidFill>
          <a:ln w="11430">
            <a:solidFill>
              <a:srgbClr val="1E453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18872" bIns="73152">
            <a:noAutofit/>
          </a:bodyPr>
          <a:lstStyle/>
          <a:p>
            <a:pPr algn="ctr">
              <a:lnSpc>
                <a:spcPct val="100000"/>
              </a:lnSpc>
              <a:spcAft>
                <a:spcPts val="300"/>
              </a:spcAft>
            </a:pPr>
            <a:r>
              <a:rPr sz="2200" b="1" i="0">
                <a:solidFill>
                  <a:srgbClr val="7FD1AE"/>
                </a:solidFill>
                <a:latin typeface="Calibri"/>
              </a:rPr>
              <a:t>392 hrs</a:t>
            </a:r>
          </a:p>
          <a:p>
            <a:pPr>
              <a:lnSpc>
                <a:spcPct val="100000"/>
              </a:lnSpc>
              <a:spcAft>
                <a:spcPts val="300"/>
              </a:spcAft>
            </a:pPr>
            <a:r>
              <a:rPr sz="800" b="1" i="0">
                <a:solidFill>
                  <a:srgbClr val="9FBBAE"/>
                </a:solidFill>
                <a:latin typeface="Calibri"/>
              </a:rPr>
              <a:t>COOLING HOURS LOGGED</a:t>
            </a:r>
          </a:p>
          <a:p>
            <a:pPr>
              <a:lnSpc>
                <a:spcPct val="100000"/>
              </a:lnSpc>
              <a:spcAft>
                <a:spcPts val="300"/>
              </a:spcAft>
            </a:pPr>
            <a:r>
              <a:rPr sz="780" b="0" i="0">
                <a:solidFill>
                  <a:srgbClr val="7E9D8F"/>
                </a:solidFill>
                <a:latin typeface="Calibri"/>
              </a:rPr>
              <a:t>Across 3 hubs, monitored per batch.</a:t>
            </a:r>
          </a:p>
        </p:txBody>
      </p:sp>
      <p:sp>
        <p:nvSpPr>
          <p:cNvPr id="12" name="Rounded Rectangle 11"/>
          <p:cNvSpPr/>
          <p:nvPr/>
        </p:nvSpPr>
        <p:spPr>
          <a:xfrm>
            <a:off x="566928" y="2560320"/>
            <a:ext cx="6192389" cy="2788920"/>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  </a:t>
            </a:r>
            <a:r>
              <a:rPr sz="1150" b="1" i="0">
                <a:solidFill>
                  <a:srgbClr val="FFFFFF"/>
                </a:solidFill>
                <a:latin typeface="Calibri"/>
              </a:rPr>
              <a:t>SDG contributions</a:t>
            </a:r>
          </a:p>
        </p:txBody>
      </p:sp>
      <p:sp>
        <p:nvSpPr>
          <p:cNvPr id="13" name="TextBox 12"/>
          <p:cNvSpPr txBox="1"/>
          <p:nvPr/>
        </p:nvSpPr>
        <p:spPr>
          <a:xfrm>
            <a:off x="749808" y="3163824"/>
            <a:ext cx="2875038" cy="237744"/>
          </a:xfrm>
          <a:prstGeom prst="rect">
            <a:avLst/>
          </a:prstGeom>
          <a:noFill/>
        </p:spPr>
        <p:txBody>
          <a:bodyPr wrap="square" anchor="t" lIns="0" rIns="0" tIns="0" bIns="0">
            <a:noAutofit/>
          </a:bodyPr>
          <a:lstStyle/>
          <a:p>
            <a:pPr algn="l">
              <a:lnSpc>
                <a:spcPct val="100000"/>
              </a:lnSpc>
              <a:spcAft>
                <a:spcPts val="0"/>
              </a:spcAft>
            </a:pPr>
            <a:r>
              <a:rPr sz="950" b="1" i="0">
                <a:solidFill>
                  <a:srgbClr val="FFFFFF"/>
                </a:solidFill>
                <a:latin typeface="Calibri"/>
              </a:rPr>
              <a:t>SDG 2 Zero hunger</a:t>
            </a:r>
          </a:p>
        </p:txBody>
      </p:sp>
      <p:sp>
        <p:nvSpPr>
          <p:cNvPr id="14" name="TextBox 13"/>
          <p:cNvSpPr txBox="1"/>
          <p:nvPr/>
        </p:nvSpPr>
        <p:spPr>
          <a:xfrm>
            <a:off x="3884279" y="3163824"/>
            <a:ext cx="2653881" cy="237744"/>
          </a:xfrm>
          <a:prstGeom prst="rect">
            <a:avLst/>
          </a:prstGeom>
          <a:noFill/>
        </p:spPr>
        <p:txBody>
          <a:bodyPr wrap="square" anchor="t" lIns="0" rIns="0" tIns="0" bIns="0">
            <a:noAutofit/>
          </a:bodyPr>
          <a:lstStyle/>
          <a:p>
            <a:pPr algn="l">
              <a:lnSpc>
                <a:spcPct val="100000"/>
              </a:lnSpc>
              <a:spcAft>
                <a:spcPts val="0"/>
              </a:spcAft>
            </a:pPr>
            <a:r>
              <a:rPr sz="930" b="0" i="0">
                <a:solidFill>
                  <a:srgbClr val="CBE2D7"/>
                </a:solidFill>
                <a:latin typeface="Calibri"/>
              </a:rPr>
              <a:t>84 t of food kept edible in Year 1</a:t>
            </a:r>
          </a:p>
        </p:txBody>
      </p:sp>
      <p:sp>
        <p:nvSpPr>
          <p:cNvPr id="15" name="Rectangle 14"/>
          <p:cNvSpPr/>
          <p:nvPr/>
        </p:nvSpPr>
        <p:spPr>
          <a:xfrm>
            <a:off x="749808" y="3474720"/>
            <a:ext cx="5826629" cy="9144"/>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49808" y="3547872"/>
            <a:ext cx="2875038" cy="237744"/>
          </a:xfrm>
          <a:prstGeom prst="rect">
            <a:avLst/>
          </a:prstGeom>
          <a:noFill/>
        </p:spPr>
        <p:txBody>
          <a:bodyPr wrap="square" anchor="t" lIns="0" rIns="0" tIns="0" bIns="0">
            <a:noAutofit/>
          </a:bodyPr>
          <a:lstStyle/>
          <a:p>
            <a:pPr algn="l">
              <a:lnSpc>
                <a:spcPct val="100000"/>
              </a:lnSpc>
              <a:spcAft>
                <a:spcPts val="0"/>
              </a:spcAft>
            </a:pPr>
            <a:r>
              <a:rPr sz="950" b="1" i="0">
                <a:solidFill>
                  <a:srgbClr val="FFFFFF"/>
                </a:solidFill>
                <a:latin typeface="Calibri"/>
              </a:rPr>
              <a:t>SDG 8 Decent work &amp; growth</a:t>
            </a:r>
          </a:p>
        </p:txBody>
      </p:sp>
      <p:sp>
        <p:nvSpPr>
          <p:cNvPr id="17" name="TextBox 16"/>
          <p:cNvSpPr txBox="1"/>
          <p:nvPr/>
        </p:nvSpPr>
        <p:spPr>
          <a:xfrm>
            <a:off x="3884279" y="3547872"/>
            <a:ext cx="2653881" cy="237744"/>
          </a:xfrm>
          <a:prstGeom prst="rect">
            <a:avLst/>
          </a:prstGeom>
          <a:noFill/>
        </p:spPr>
        <p:txBody>
          <a:bodyPr wrap="square" anchor="t" lIns="0" rIns="0" tIns="0" bIns="0">
            <a:noAutofit/>
          </a:bodyPr>
          <a:lstStyle/>
          <a:p>
            <a:pPr algn="l">
              <a:lnSpc>
                <a:spcPct val="100000"/>
              </a:lnSpc>
              <a:spcAft>
                <a:spcPts val="0"/>
              </a:spcAft>
            </a:pPr>
            <a:r>
              <a:rPr sz="930" b="0" i="0">
                <a:solidFill>
                  <a:srgbClr val="CBE2D7"/>
                </a:solidFill>
                <a:latin typeface="Calibri"/>
              </a:rPr>
              <a:t>+35% net income per kg sold; 6 hub jobs</a:t>
            </a:r>
          </a:p>
        </p:txBody>
      </p:sp>
      <p:sp>
        <p:nvSpPr>
          <p:cNvPr id="18" name="Rectangle 17"/>
          <p:cNvSpPr/>
          <p:nvPr/>
        </p:nvSpPr>
        <p:spPr>
          <a:xfrm>
            <a:off x="749808" y="3858768"/>
            <a:ext cx="5826629" cy="9144"/>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49808" y="3931920"/>
            <a:ext cx="2875038" cy="237744"/>
          </a:xfrm>
          <a:prstGeom prst="rect">
            <a:avLst/>
          </a:prstGeom>
          <a:noFill/>
        </p:spPr>
        <p:txBody>
          <a:bodyPr wrap="square" anchor="t" lIns="0" rIns="0" tIns="0" bIns="0">
            <a:noAutofit/>
          </a:bodyPr>
          <a:lstStyle/>
          <a:p>
            <a:pPr algn="l">
              <a:lnSpc>
                <a:spcPct val="100000"/>
              </a:lnSpc>
              <a:spcAft>
                <a:spcPts val="0"/>
              </a:spcAft>
            </a:pPr>
            <a:r>
              <a:rPr sz="950" b="1" i="0">
                <a:solidFill>
                  <a:srgbClr val="FFFFFF"/>
                </a:solidFill>
                <a:latin typeface="Calibri"/>
              </a:rPr>
              <a:t>SDG 9 Industry &amp; innovation</a:t>
            </a:r>
          </a:p>
        </p:txBody>
      </p:sp>
      <p:sp>
        <p:nvSpPr>
          <p:cNvPr id="20" name="TextBox 19"/>
          <p:cNvSpPr txBox="1"/>
          <p:nvPr/>
        </p:nvSpPr>
        <p:spPr>
          <a:xfrm>
            <a:off x="3884279" y="3931920"/>
            <a:ext cx="2653881" cy="237744"/>
          </a:xfrm>
          <a:prstGeom prst="rect">
            <a:avLst/>
          </a:prstGeom>
          <a:noFill/>
        </p:spPr>
        <p:txBody>
          <a:bodyPr wrap="square" anchor="t" lIns="0" rIns="0" tIns="0" bIns="0">
            <a:noAutofit/>
          </a:bodyPr>
          <a:lstStyle/>
          <a:p>
            <a:pPr algn="l">
              <a:lnSpc>
                <a:spcPct val="100000"/>
              </a:lnSpc>
              <a:spcAft>
                <a:spcPts val="0"/>
              </a:spcAft>
            </a:pPr>
            <a:r>
              <a:rPr sz="930" b="0" i="0">
                <a:solidFill>
                  <a:srgbClr val="CBE2D7"/>
                </a:solidFill>
                <a:latin typeface="Calibri"/>
              </a:rPr>
              <a:t>Farm-side IoT infrastructure in rural areas</a:t>
            </a:r>
          </a:p>
        </p:txBody>
      </p:sp>
      <p:sp>
        <p:nvSpPr>
          <p:cNvPr id="21" name="Rectangle 20"/>
          <p:cNvSpPr/>
          <p:nvPr/>
        </p:nvSpPr>
        <p:spPr>
          <a:xfrm>
            <a:off x="749808" y="4242816"/>
            <a:ext cx="5826629" cy="9144"/>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9808" y="4315968"/>
            <a:ext cx="2875038" cy="237744"/>
          </a:xfrm>
          <a:prstGeom prst="rect">
            <a:avLst/>
          </a:prstGeom>
          <a:noFill/>
        </p:spPr>
        <p:txBody>
          <a:bodyPr wrap="square" anchor="t" lIns="0" rIns="0" tIns="0" bIns="0">
            <a:noAutofit/>
          </a:bodyPr>
          <a:lstStyle/>
          <a:p>
            <a:pPr algn="l">
              <a:lnSpc>
                <a:spcPct val="100000"/>
              </a:lnSpc>
              <a:spcAft>
                <a:spcPts val="0"/>
              </a:spcAft>
            </a:pPr>
            <a:r>
              <a:rPr sz="950" b="1" i="0">
                <a:solidFill>
                  <a:srgbClr val="FFFFFF"/>
                </a:solidFill>
                <a:latin typeface="Calibri"/>
              </a:rPr>
              <a:t>SDG 12 Responsible production (priority)</a:t>
            </a:r>
          </a:p>
        </p:txBody>
      </p:sp>
      <p:sp>
        <p:nvSpPr>
          <p:cNvPr id="23" name="TextBox 22"/>
          <p:cNvSpPr txBox="1"/>
          <p:nvPr/>
        </p:nvSpPr>
        <p:spPr>
          <a:xfrm>
            <a:off x="3884279" y="4315968"/>
            <a:ext cx="2653881" cy="237744"/>
          </a:xfrm>
          <a:prstGeom prst="rect">
            <a:avLst/>
          </a:prstGeom>
          <a:noFill/>
        </p:spPr>
        <p:txBody>
          <a:bodyPr wrap="square" anchor="t" lIns="0" rIns="0" tIns="0" bIns="0">
            <a:noAutofit/>
          </a:bodyPr>
          <a:lstStyle/>
          <a:p>
            <a:pPr algn="l">
              <a:lnSpc>
                <a:spcPct val="100000"/>
              </a:lnSpc>
              <a:spcAft>
                <a:spcPts val="0"/>
              </a:spcAft>
            </a:pPr>
            <a:r>
              <a:rPr sz="930" b="0" i="0">
                <a:solidFill>
                  <a:srgbClr val="CBE2D7"/>
                </a:solidFill>
                <a:latin typeface="Calibri"/>
              </a:rPr>
              <a:t>Loss 35% → 15% — target 12.3</a:t>
            </a:r>
          </a:p>
        </p:txBody>
      </p:sp>
      <p:sp>
        <p:nvSpPr>
          <p:cNvPr id="24" name="Rectangle 23"/>
          <p:cNvSpPr/>
          <p:nvPr/>
        </p:nvSpPr>
        <p:spPr>
          <a:xfrm>
            <a:off x="749808" y="4626864"/>
            <a:ext cx="5826629" cy="9144"/>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49808" y="4700016"/>
            <a:ext cx="2875038" cy="237744"/>
          </a:xfrm>
          <a:prstGeom prst="rect">
            <a:avLst/>
          </a:prstGeom>
          <a:noFill/>
        </p:spPr>
        <p:txBody>
          <a:bodyPr wrap="square" anchor="t" lIns="0" rIns="0" tIns="0" bIns="0">
            <a:noAutofit/>
          </a:bodyPr>
          <a:lstStyle/>
          <a:p>
            <a:pPr algn="l">
              <a:lnSpc>
                <a:spcPct val="100000"/>
              </a:lnSpc>
              <a:spcAft>
                <a:spcPts val="0"/>
              </a:spcAft>
            </a:pPr>
            <a:r>
              <a:rPr sz="950" b="1" i="0">
                <a:solidFill>
                  <a:srgbClr val="FFFFFF"/>
                </a:solidFill>
                <a:latin typeface="Calibri"/>
              </a:rPr>
              <a:t>SDG 13 Climate action</a:t>
            </a:r>
          </a:p>
        </p:txBody>
      </p:sp>
      <p:sp>
        <p:nvSpPr>
          <p:cNvPr id="26" name="TextBox 25"/>
          <p:cNvSpPr txBox="1"/>
          <p:nvPr/>
        </p:nvSpPr>
        <p:spPr>
          <a:xfrm>
            <a:off x="3884279" y="4700016"/>
            <a:ext cx="2653881" cy="237744"/>
          </a:xfrm>
          <a:prstGeom prst="rect">
            <a:avLst/>
          </a:prstGeom>
          <a:noFill/>
        </p:spPr>
        <p:txBody>
          <a:bodyPr wrap="square" anchor="t" lIns="0" rIns="0" tIns="0" bIns="0">
            <a:noAutofit/>
          </a:bodyPr>
          <a:lstStyle/>
          <a:p>
            <a:pPr algn="l">
              <a:lnSpc>
                <a:spcPct val="100000"/>
              </a:lnSpc>
              <a:spcAft>
                <a:spcPts val="0"/>
              </a:spcAft>
            </a:pPr>
            <a:r>
              <a:rPr sz="930" b="0" i="0">
                <a:solidFill>
                  <a:srgbClr val="CBE2D7"/>
                </a:solidFill>
                <a:latin typeface="Calibri"/>
              </a:rPr>
              <a:t>Solar cooling displaces diesel reefer</a:t>
            </a:r>
          </a:p>
        </p:txBody>
      </p:sp>
      <p:sp>
        <p:nvSpPr>
          <p:cNvPr id="27" name="Rectangle 26"/>
          <p:cNvSpPr/>
          <p:nvPr/>
        </p:nvSpPr>
        <p:spPr>
          <a:xfrm>
            <a:off x="749808" y="5010912"/>
            <a:ext cx="5826629" cy="9144"/>
          </a:xfrm>
          <a:prstGeom prst="rect">
            <a:avLst/>
          </a:prstGeom>
          <a:solidFill>
            <a:srgbClr val="1E45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978773" y="2560320"/>
            <a:ext cx="4645993" cy="1481328"/>
          </a:xfrm>
          <a:prstGeom prst="roundRect">
            <a:avLst>
              <a:gd name="adj" fmla="val 6000"/>
            </a:avLst>
          </a:prstGeom>
          <a:solidFill>
            <a:srgbClr val="0C2E22"/>
          </a:solidFill>
          <a:ln w="11430">
            <a:solidFill>
              <a:srgbClr val="8FD4E8"/>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8FD4E8"/>
                </a:solidFill>
                <a:latin typeface="Calibri"/>
              </a:rPr>
              <a:t>📈  </a:t>
            </a:r>
            <a:r>
              <a:rPr sz="1150" b="1" i="0">
                <a:solidFill>
                  <a:srgbClr val="FFFFFF"/>
                </a:solidFill>
                <a:latin typeface="Calibri"/>
              </a:rPr>
              <a:t>How we measure</a:t>
            </a:r>
          </a:p>
          <a:p>
            <a:pPr>
              <a:lnSpc>
                <a:spcPct val="100000"/>
              </a:lnSpc>
              <a:spcAft>
                <a:spcPts val="300"/>
              </a:spcAft>
            </a:pPr>
            <a:r>
              <a:rPr sz="930" b="1">
                <a:solidFill>
                  <a:srgbClr val="8FD4E8"/>
                </a:solidFill>
                <a:latin typeface="Calibri"/>
              </a:rPr>
              <a:t>▪  </a:t>
            </a:r>
            <a:r>
              <a:rPr sz="930" b="0" i="0">
                <a:solidFill>
                  <a:srgbClr val="CBE2D7"/>
                </a:solidFill>
                <a:latin typeface="Calibri"/>
              </a:rPr>
              <a:t>Control-group comparison: same barangay, same crop, same week.</a:t>
            </a:r>
          </a:p>
          <a:p>
            <a:pPr>
              <a:lnSpc>
                <a:spcPct val="100000"/>
              </a:lnSpc>
              <a:spcAft>
                <a:spcPts val="300"/>
              </a:spcAft>
            </a:pPr>
            <a:r>
              <a:rPr sz="930" b="1">
                <a:solidFill>
                  <a:srgbClr val="8FD4E8"/>
                </a:solidFill>
                <a:latin typeface="Calibri"/>
              </a:rPr>
              <a:t>▪  </a:t>
            </a:r>
            <a:r>
              <a:rPr sz="930" b="0" i="0">
                <a:solidFill>
                  <a:srgbClr val="CBE2D7"/>
                </a:solidFill>
                <a:latin typeface="Calibri"/>
              </a:rPr>
              <a:t>Temperature logs and weight reconciliation per batch.</a:t>
            </a:r>
          </a:p>
          <a:p>
            <a:pPr>
              <a:lnSpc>
                <a:spcPct val="100000"/>
              </a:lnSpc>
              <a:spcAft>
                <a:spcPts val="300"/>
              </a:spcAft>
            </a:pPr>
            <a:r>
              <a:rPr sz="930" b="1">
                <a:solidFill>
                  <a:srgbClr val="8FD4E8"/>
                </a:solidFill>
                <a:latin typeface="Calibri"/>
              </a:rPr>
              <a:t>▪  </a:t>
            </a:r>
            <a:r>
              <a:rPr sz="930" b="0" i="0">
                <a:solidFill>
                  <a:srgbClr val="CBE2D7"/>
                </a:solidFill>
                <a:latin typeface="Calibri"/>
              </a:rPr>
              <a:t>E-wallet settlement records as proof of income change.</a:t>
            </a:r>
          </a:p>
          <a:p>
            <a:pPr>
              <a:lnSpc>
                <a:spcPct val="100000"/>
              </a:lnSpc>
              <a:spcAft>
                <a:spcPts val="300"/>
              </a:spcAft>
            </a:pPr>
            <a:r>
              <a:rPr sz="930" b="1">
                <a:solidFill>
                  <a:srgbClr val="8FD4E8"/>
                </a:solidFill>
                <a:latin typeface="Calibri"/>
              </a:rPr>
              <a:t>▪  </a:t>
            </a:r>
            <a:r>
              <a:rPr sz="930" b="0" i="0">
                <a:solidFill>
                  <a:srgbClr val="CBE2D7"/>
                </a:solidFill>
                <a:latin typeface="Calibri"/>
              </a:rPr>
              <a:t>Third-party verification by the cooperative and LGU agri office.</a:t>
            </a:r>
          </a:p>
        </p:txBody>
      </p:sp>
      <p:sp>
        <p:nvSpPr>
          <p:cNvPr id="29" name="Rounded Rectangle 28"/>
          <p:cNvSpPr/>
          <p:nvPr/>
        </p:nvSpPr>
        <p:spPr>
          <a:xfrm>
            <a:off x="6978773" y="4206240"/>
            <a:ext cx="4645993" cy="1143000"/>
          </a:xfrm>
          <a:prstGeom prst="roundRect">
            <a:avLst>
              <a:gd name="adj" fmla="val 6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F2A33C"/>
                </a:solidFill>
                <a:latin typeface="Calibri"/>
              </a:rPr>
              <a:t>→  </a:t>
            </a:r>
            <a:r>
              <a:rPr sz="1150" b="1" i="0">
                <a:solidFill>
                  <a:srgbClr val="FFFFFF"/>
                </a:solidFill>
                <a:latin typeface="Calibri"/>
              </a:rPr>
              <a:t>3-year roadmap</a:t>
            </a:r>
          </a:p>
        </p:txBody>
      </p:sp>
      <p:sp>
        <p:nvSpPr>
          <p:cNvPr id="30" name="Rectangle 29"/>
          <p:cNvSpPr/>
          <p:nvPr/>
        </p:nvSpPr>
        <p:spPr>
          <a:xfrm>
            <a:off x="7234805" y="4645152"/>
            <a:ext cx="4133929" cy="18288"/>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7234805" y="4572000"/>
            <a:ext cx="164592" cy="164592"/>
          </a:xfrm>
          <a:prstGeom prst="ellipse">
            <a:avLst/>
          </a:prstGeom>
          <a:solidFill>
            <a:srgbClr val="F2A33C"/>
          </a:solidFill>
          <a:ln w="1524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960485" y="4809744"/>
            <a:ext cx="1280160" cy="457200"/>
          </a:xfrm>
          <a:prstGeom prst="rect">
            <a:avLst/>
          </a:prstGeom>
          <a:noFill/>
        </p:spPr>
        <p:txBody>
          <a:bodyPr wrap="square" anchor="t" lIns="0" rIns="0" tIns="0" bIns="0">
            <a:noAutofit/>
          </a:bodyPr>
          <a:lstStyle/>
          <a:p>
            <a:pPr algn="ctr">
              <a:lnSpc>
                <a:spcPct val="110000"/>
              </a:lnSpc>
              <a:spcAft>
                <a:spcPts val="0"/>
              </a:spcAft>
            </a:pPr>
            <a:r>
              <a:rPr sz="950" b="1" i="0">
                <a:solidFill>
                  <a:srgbClr val="FFFFFF"/>
                </a:solidFill>
                <a:latin typeface="Calibri"/>
              </a:rPr>
              <a:t>Y1</a:t>
            </a:r>
          </a:p>
          <a:p>
            <a:pPr algn="ctr">
              <a:lnSpc>
                <a:spcPct val="110000"/>
              </a:lnSpc>
              <a:spcAft>
                <a:spcPts val="0"/>
              </a:spcAft>
            </a:pPr>
            <a:r>
              <a:rPr sz="819" b="0" i="0">
                <a:solidFill>
                  <a:srgbClr val="9FBBAE"/>
                </a:solidFill>
                <a:latin typeface="Calibri"/>
              </a:rPr>
              <a:t>3 hubs · 120 farmers</a:t>
            </a:r>
          </a:p>
        </p:txBody>
      </p:sp>
      <p:sp>
        <p:nvSpPr>
          <p:cNvPr id="33" name="Oval 32"/>
          <p:cNvSpPr/>
          <p:nvPr/>
        </p:nvSpPr>
        <p:spPr>
          <a:xfrm>
            <a:off x="8888377" y="4572000"/>
            <a:ext cx="164592" cy="164592"/>
          </a:xfrm>
          <a:prstGeom prst="ellipse">
            <a:avLst/>
          </a:prstGeom>
          <a:solidFill>
            <a:srgbClr val="103A2C"/>
          </a:solidFill>
          <a:ln w="1524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614057" y="4809744"/>
            <a:ext cx="1280160" cy="457200"/>
          </a:xfrm>
          <a:prstGeom prst="rect">
            <a:avLst/>
          </a:prstGeom>
          <a:noFill/>
        </p:spPr>
        <p:txBody>
          <a:bodyPr wrap="square" anchor="t" lIns="0" rIns="0" tIns="0" bIns="0">
            <a:noAutofit/>
          </a:bodyPr>
          <a:lstStyle/>
          <a:p>
            <a:pPr algn="ctr">
              <a:lnSpc>
                <a:spcPct val="110000"/>
              </a:lnSpc>
              <a:spcAft>
                <a:spcPts val="0"/>
              </a:spcAft>
            </a:pPr>
            <a:r>
              <a:rPr sz="950" b="1" i="0">
                <a:solidFill>
                  <a:srgbClr val="FFFFFF"/>
                </a:solidFill>
                <a:latin typeface="Calibri"/>
              </a:rPr>
              <a:t>Y2</a:t>
            </a:r>
          </a:p>
          <a:p>
            <a:pPr algn="ctr">
              <a:lnSpc>
                <a:spcPct val="110000"/>
              </a:lnSpc>
              <a:spcAft>
                <a:spcPts val="0"/>
              </a:spcAft>
            </a:pPr>
            <a:r>
              <a:rPr sz="819" b="0" i="0">
                <a:solidFill>
                  <a:srgbClr val="9FBBAE"/>
                </a:solidFill>
                <a:latin typeface="Calibri"/>
              </a:rPr>
              <a:t>12 hubs · 600 farmers</a:t>
            </a:r>
          </a:p>
        </p:txBody>
      </p:sp>
      <p:sp>
        <p:nvSpPr>
          <p:cNvPr id="35" name="Oval 34"/>
          <p:cNvSpPr/>
          <p:nvPr/>
        </p:nvSpPr>
        <p:spPr>
          <a:xfrm>
            <a:off x="10541949" y="4572000"/>
            <a:ext cx="164592" cy="164592"/>
          </a:xfrm>
          <a:prstGeom prst="ellipse">
            <a:avLst/>
          </a:prstGeom>
          <a:solidFill>
            <a:srgbClr val="103A2C"/>
          </a:solidFill>
          <a:ln w="1524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267629" y="4809744"/>
            <a:ext cx="1280160" cy="457200"/>
          </a:xfrm>
          <a:prstGeom prst="rect">
            <a:avLst/>
          </a:prstGeom>
          <a:noFill/>
        </p:spPr>
        <p:txBody>
          <a:bodyPr wrap="square" anchor="t" lIns="0" rIns="0" tIns="0" bIns="0">
            <a:noAutofit/>
          </a:bodyPr>
          <a:lstStyle/>
          <a:p>
            <a:pPr algn="ctr">
              <a:lnSpc>
                <a:spcPct val="110000"/>
              </a:lnSpc>
              <a:spcAft>
                <a:spcPts val="0"/>
              </a:spcAft>
            </a:pPr>
            <a:r>
              <a:rPr sz="950" b="1" i="0">
                <a:solidFill>
                  <a:srgbClr val="FFFFFF"/>
                </a:solidFill>
                <a:latin typeface="Calibri"/>
              </a:rPr>
              <a:t>Y3</a:t>
            </a:r>
          </a:p>
          <a:p>
            <a:pPr algn="ctr">
              <a:lnSpc>
                <a:spcPct val="110000"/>
              </a:lnSpc>
              <a:spcAft>
                <a:spcPts val="0"/>
              </a:spcAft>
            </a:pPr>
            <a:r>
              <a:rPr sz="819" b="0" i="0">
                <a:solidFill>
                  <a:srgbClr val="9FBBAE"/>
                </a:solidFill>
                <a:latin typeface="Calibri"/>
              </a:rPr>
              <a:t>30 hubs · 1,500 farmers</a:t>
            </a:r>
          </a:p>
        </p:txBody>
      </p:sp>
    </p:spTree>
  </p:cSld>
  <p:clrMapOvr>
    <a:masterClrMapping/>
  </p:clrMapOvr>
  <mc:AlternateContent xmlns:mc="http://schemas.openxmlformats.org/markup-compatibility/2006">
    <mc:Choice xmlns:p14="http://schemas.microsoft.com/office/powerpoint/2010/main" Requires="p14">
      <p:transition advTm="16000" p14:dur="1100">
        <p14:cube dir="l"/>
      </p:transition>
    </mc:Choice>
    <mc:Fallback>
      <p:transition spd="slow" advTm="16000">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766560"/>
            <a:ext cx="12191695" cy="91440"/>
          </a:xfrm>
          <a:prstGeom prst="rect">
            <a:avLst/>
          </a:prstGeom>
          <a:solidFill>
            <a:srgbClr val="F2A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005840"/>
            <a:ext cx="6400800" cy="274320"/>
          </a:xfrm>
          <a:prstGeom prst="rect">
            <a:avLst/>
          </a:prstGeom>
          <a:noFill/>
        </p:spPr>
        <p:txBody>
          <a:bodyPr wrap="square" anchor="t" lIns="0" rIns="0" tIns="0" bIns="0">
            <a:noAutofit/>
          </a:bodyPr>
          <a:lstStyle/>
          <a:p>
            <a:pPr algn="l">
              <a:lnSpc>
                <a:spcPct val="100000"/>
              </a:lnSpc>
              <a:spcAft>
                <a:spcPts val="0"/>
              </a:spcAft>
            </a:pPr>
            <a:r>
              <a:rPr sz="950" b="1" i="0">
                <a:solidFill>
                  <a:srgbClr val="2E7D5B"/>
                </a:solidFill>
                <a:latin typeface="Calibri"/>
              </a:rPr>
              <a:t>CLOSING</a:t>
            </a:r>
          </a:p>
        </p:txBody>
      </p:sp>
      <p:sp>
        <p:nvSpPr>
          <p:cNvPr id="5" name="TextBox 4"/>
          <p:cNvSpPr txBox="1"/>
          <p:nvPr/>
        </p:nvSpPr>
        <p:spPr>
          <a:xfrm>
            <a:off x="566928" y="1298448"/>
            <a:ext cx="6949440" cy="1737360"/>
          </a:xfrm>
          <a:prstGeom prst="rect">
            <a:avLst/>
          </a:prstGeom>
          <a:noFill/>
        </p:spPr>
        <p:txBody>
          <a:bodyPr wrap="square" anchor="t" lIns="0" rIns="0" tIns="0" bIns="0">
            <a:noAutofit/>
          </a:bodyPr>
          <a:lstStyle/>
          <a:p>
            <a:pPr algn="l">
              <a:lnSpc>
                <a:spcPct val="102000"/>
              </a:lnSpc>
              <a:spcAft>
                <a:spcPts val="0"/>
              </a:spcAft>
            </a:pPr>
            <a:r>
              <a:rPr sz="4000" b="1" i="0">
                <a:solidFill>
                  <a:srgbClr val="0A1F17"/>
                </a:solidFill>
                <a:latin typeface="Calibri"/>
              </a:rPr>
              <a:t>Cooling exists.</a:t>
            </a:r>
          </a:p>
          <a:p>
            <a:pPr algn="l">
              <a:lnSpc>
                <a:spcPct val="102000"/>
              </a:lnSpc>
              <a:spcAft>
                <a:spcPts val="0"/>
              </a:spcAft>
            </a:pPr>
            <a:r>
              <a:rPr sz="4000" b="1" i="0">
                <a:solidFill>
                  <a:srgbClr val="0A1F17"/>
                </a:solidFill>
                <a:latin typeface="Calibri"/>
              </a:rPr>
              <a:t>It just isn't at the farm.</a:t>
            </a:r>
          </a:p>
        </p:txBody>
      </p:sp>
      <p:sp>
        <p:nvSpPr>
          <p:cNvPr id="6" name="TextBox 5"/>
          <p:cNvSpPr txBox="1"/>
          <p:nvPr/>
        </p:nvSpPr>
        <p:spPr>
          <a:xfrm>
            <a:off x="566928" y="2999232"/>
            <a:ext cx="6400800" cy="731520"/>
          </a:xfrm>
          <a:prstGeom prst="rect">
            <a:avLst/>
          </a:prstGeom>
          <a:noFill/>
        </p:spPr>
        <p:txBody>
          <a:bodyPr wrap="square" anchor="t" lIns="0" rIns="0" tIns="0" bIns="0">
            <a:noAutofit/>
          </a:bodyPr>
          <a:lstStyle/>
          <a:p>
            <a:pPr algn="l">
              <a:lnSpc>
                <a:spcPct val="115000"/>
              </a:lnSpc>
              <a:spcAft>
                <a:spcPts val="0"/>
              </a:spcAft>
            </a:pPr>
            <a:r>
              <a:rPr sz="1400" b="0" i="0">
                <a:solidFill>
                  <a:srgbClr val="3A5348"/>
                </a:solidFill>
                <a:latin typeface="Calibri"/>
              </a:rPr>
              <a:t>Fresko puts it there — shared, solar-powered, and backed by real demand. Every kilo counts.</a:t>
            </a:r>
          </a:p>
        </p:txBody>
      </p:sp>
      <p:sp>
        <p:nvSpPr>
          <p:cNvPr id="7" name="Rounded Rectangle 6"/>
          <p:cNvSpPr/>
          <p:nvPr/>
        </p:nvSpPr>
        <p:spPr>
          <a:xfrm>
            <a:off x="566928" y="3931920"/>
            <a:ext cx="2185416" cy="310896"/>
          </a:xfrm>
          <a:prstGeom prst="roundRect">
            <a:avLst>
              <a:gd name="adj" fmla="val 50000"/>
            </a:avLst>
          </a:prstGeom>
          <a:solidFill>
            <a:srgbClr val="0C2E22"/>
          </a:solidFill>
          <a:ln w="1143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2E7D5B"/>
                </a:solidFill>
                <a:latin typeface="Calibri"/>
              </a:rPr>
              <a:t>Ask ① ₱2.4 M seed funding</a:t>
            </a:r>
          </a:p>
        </p:txBody>
      </p:sp>
      <p:sp>
        <p:nvSpPr>
          <p:cNvPr id="8" name="Rounded Rectangle 7"/>
          <p:cNvSpPr/>
          <p:nvPr/>
        </p:nvSpPr>
        <p:spPr>
          <a:xfrm>
            <a:off x="2880360" y="3931920"/>
            <a:ext cx="2412552" cy="310896"/>
          </a:xfrm>
          <a:prstGeom prst="roundRect">
            <a:avLst>
              <a:gd name="adj" fmla="val 50000"/>
            </a:avLst>
          </a:prstGeom>
          <a:solidFill>
            <a:srgbClr val="0C2E22"/>
          </a:solidFill>
          <a:ln w="1143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2E7D5B"/>
                </a:solidFill>
                <a:latin typeface="Calibri"/>
              </a:rPr>
              <a:t>Ask ② 3 cooperative partners</a:t>
            </a:r>
          </a:p>
        </p:txBody>
      </p:sp>
      <p:sp>
        <p:nvSpPr>
          <p:cNvPr id="9" name="Rounded Rectangle 8"/>
          <p:cNvSpPr/>
          <p:nvPr/>
        </p:nvSpPr>
        <p:spPr>
          <a:xfrm>
            <a:off x="5420928" y="3931920"/>
            <a:ext cx="2185416" cy="310896"/>
          </a:xfrm>
          <a:prstGeom prst="roundRect">
            <a:avLst>
              <a:gd name="adj" fmla="val 50000"/>
            </a:avLst>
          </a:prstGeom>
          <a:solidFill>
            <a:srgbClr val="0C2E22"/>
          </a:solidFill>
          <a:ln w="1143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2E7D5B"/>
                </a:solidFill>
                <a:latin typeface="Calibri"/>
              </a:rPr>
              <a:t>Ask ③ 1 logistics partner</a:t>
            </a:r>
          </a:p>
        </p:txBody>
      </p:sp>
      <p:pic>
        <p:nvPicPr>
          <p:cNvPr id="10" name="Picture 9" descr="fresko-logo.png"/>
          <p:cNvPicPr>
            <a:picLocks noChangeAspect="1"/>
          </p:cNvPicPr>
          <p:nvPr/>
        </p:nvPicPr>
        <p:blipFill>
          <a:blip r:embed="rId2"/>
          <a:stretch>
            <a:fillRect/>
          </a:stretch>
        </p:blipFill>
        <p:spPr>
          <a:xfrm>
            <a:off x="7818120" y="1298448"/>
            <a:ext cx="1554480" cy="1554480"/>
          </a:xfrm>
          <a:prstGeom prst="rect">
            <a:avLst/>
          </a:prstGeom>
        </p:spPr>
      </p:pic>
      <p:sp>
        <p:nvSpPr>
          <p:cNvPr id="11" name="TextBox 10"/>
          <p:cNvSpPr txBox="1"/>
          <p:nvPr/>
        </p:nvSpPr>
        <p:spPr>
          <a:xfrm>
            <a:off x="7818120" y="3054096"/>
            <a:ext cx="3840480" cy="548640"/>
          </a:xfrm>
          <a:prstGeom prst="rect">
            <a:avLst/>
          </a:prstGeom>
          <a:noFill/>
        </p:spPr>
        <p:txBody>
          <a:bodyPr wrap="square" anchor="t" lIns="0" rIns="0" tIns="0" bIns="0">
            <a:noAutofit/>
          </a:bodyPr>
          <a:lstStyle/>
          <a:p>
            <a:pPr algn="l">
              <a:lnSpc>
                <a:spcPct val="100000"/>
              </a:lnSpc>
              <a:spcAft>
                <a:spcPts val="0"/>
              </a:spcAft>
            </a:pPr>
            <a:r>
              <a:rPr sz="3000" b="1" i="0">
                <a:solidFill>
                  <a:srgbClr val="0A1F17"/>
                </a:solidFill>
                <a:latin typeface="Calibri"/>
              </a:rPr>
              <a:t>Thank you</a:t>
            </a:r>
          </a:p>
        </p:txBody>
      </p:sp>
      <p:sp>
        <p:nvSpPr>
          <p:cNvPr id="12" name="TextBox 11"/>
          <p:cNvSpPr txBox="1"/>
          <p:nvPr/>
        </p:nvSpPr>
        <p:spPr>
          <a:xfrm>
            <a:off x="7818120" y="3675887"/>
            <a:ext cx="3840480" cy="1371600"/>
          </a:xfrm>
          <a:prstGeom prst="rect">
            <a:avLst/>
          </a:prstGeom>
          <a:noFill/>
        </p:spPr>
        <p:txBody>
          <a:bodyPr wrap="square" anchor="t" lIns="0" rIns="0" tIns="0" bIns="0">
            <a:noAutofit/>
          </a:bodyPr>
          <a:lstStyle/>
          <a:p>
            <a:pPr algn="l">
              <a:lnSpc>
                <a:spcPct val="130000"/>
              </a:lnSpc>
              <a:spcAft>
                <a:spcPts val="0"/>
              </a:spcAft>
            </a:pPr>
            <a:r>
              <a:rPr sz="1150" b="1" i="0">
                <a:solidFill>
                  <a:srgbClr val="0A1F17"/>
                </a:solidFill>
                <a:latin typeface="Calibri"/>
              </a:rPr>
              <a:t>Team [TEAM NAME]</a:t>
            </a:r>
          </a:p>
          <a:p>
            <a:pPr algn="l">
              <a:lnSpc>
                <a:spcPct val="130000"/>
              </a:lnSpc>
              <a:spcAft>
                <a:spcPts val="0"/>
              </a:spcAft>
            </a:pPr>
            <a:r>
              <a:rPr sz="1100" b="0" i="0">
                <a:solidFill>
                  <a:srgbClr val="3A5348"/>
                </a:solidFill>
                <a:latin typeface="Calibri"/>
              </a:rPr>
              <a:t>[Member 1] · [Member 2] · [Member 3]</a:t>
            </a:r>
          </a:p>
          <a:p>
            <a:pPr algn="l">
              <a:lnSpc>
                <a:spcPct val="130000"/>
              </a:lnSpc>
              <a:spcAft>
                <a:spcPts val="0"/>
              </a:spcAft>
            </a:pPr>
            <a:r>
              <a:rPr sz="1100" b="0" i="0">
                <a:solidFill>
                  <a:srgbClr val="3A5348"/>
                </a:solidFill>
                <a:latin typeface="Calibri"/>
              </a:rPr>
              <a:t>Mentor: [MENTOR NAME]</a:t>
            </a:r>
          </a:p>
          <a:p>
            <a:pPr algn="l">
              <a:lnSpc>
                <a:spcPct val="130000"/>
              </a:lnSpc>
              <a:spcAft>
                <a:spcPts val="0"/>
              </a:spcAft>
            </a:pPr>
            <a:r>
              <a:rPr sz="1100" b="0" i="0">
                <a:solidFill>
                  <a:srgbClr val="3A5348"/>
                </a:solidFill>
                <a:latin typeface="Calibri"/>
              </a:rPr>
              <a:t>[email] · [mobile]</a:t>
            </a:r>
          </a:p>
        </p:txBody>
      </p:sp>
    </p:spTree>
  </p:cSld>
  <p:clrMapOvr>
    <a:masterClrMapping/>
  </p:clrMapOvr>
  <mc:AlternateContent xmlns:mc="http://schemas.openxmlformats.org/markup-compatibility/2006">
    <mc:Choice xmlns:p14="http://schemas.microsoft.com/office/powerpoint/2010/main" Requires="p14">
      <p:transition advTm="15000" p14:dur="1100">
        <p14:cube dir="l"/>
      </p:transition>
    </mc:Choice>
    <mc:Fallback>
      <p:transition spd="slow" advTm="15000">
        <p:push dir="l"/>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1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168335" y="-1371600"/>
            <a:ext cx="5120640" cy="51206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828800" y="4114800"/>
            <a:ext cx="4206240" cy="4206240"/>
          </a:xfrm>
          <a:prstGeom prst="ellipse">
            <a:avLst/>
          </a:prstGeom>
          <a:solidFill>
            <a:srgbClr val="0C2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66928" y="384048"/>
            <a:ext cx="676656" cy="676656"/>
          </a:xfrm>
          <a:prstGeom prst="roundRect">
            <a:avLst>
              <a:gd name="adj" fmla="val 22000"/>
            </a:avLst>
          </a:prstGeom>
          <a:solidFill>
            <a:srgbClr val="7FD1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04120C"/>
                </a:solidFill>
                <a:latin typeface="Calibri"/>
              </a:rPr>
              <a:t>A</a:t>
            </a:r>
          </a:p>
        </p:txBody>
      </p:sp>
      <p:sp>
        <p:nvSpPr>
          <p:cNvPr id="6" name="TextBox 5"/>
          <p:cNvSpPr txBox="1"/>
          <p:nvPr/>
        </p:nvSpPr>
        <p:spPr>
          <a:xfrm>
            <a:off x="1481328" y="402336"/>
            <a:ext cx="10143439" cy="201168"/>
          </a:xfrm>
          <a:prstGeom prst="rect">
            <a:avLst/>
          </a:prstGeom>
          <a:noFill/>
        </p:spPr>
        <p:txBody>
          <a:bodyPr wrap="square" anchor="t" lIns="0" rIns="0" tIns="0" bIns="0">
            <a:noAutofit/>
          </a:bodyPr>
          <a:lstStyle/>
          <a:p>
            <a:pPr algn="l">
              <a:lnSpc>
                <a:spcPct val="100000"/>
              </a:lnSpc>
              <a:spcAft>
                <a:spcPts val="0"/>
              </a:spcAft>
            </a:pPr>
            <a:r>
              <a:rPr sz="900" b="1" i="0">
                <a:solidFill>
                  <a:srgbClr val="7FD1AE"/>
                </a:solidFill>
                <a:latin typeface="Calibri"/>
              </a:rPr>
              <a:t>APPENDIX</a:t>
            </a:r>
          </a:p>
        </p:txBody>
      </p:sp>
      <p:sp>
        <p:nvSpPr>
          <p:cNvPr id="7" name="TextBox 6"/>
          <p:cNvSpPr txBox="1"/>
          <p:nvPr/>
        </p:nvSpPr>
        <p:spPr>
          <a:xfrm>
            <a:off x="1481328" y="621792"/>
            <a:ext cx="10143439" cy="457200"/>
          </a:xfrm>
          <a:prstGeom prst="rect">
            <a:avLst/>
          </a:prstGeom>
          <a:noFill/>
        </p:spPr>
        <p:txBody>
          <a:bodyPr wrap="square" anchor="t" lIns="0" rIns="0" tIns="0" bIns="0">
            <a:noAutofit/>
          </a:bodyPr>
          <a:lstStyle/>
          <a:p>
            <a:pPr algn="l">
              <a:lnSpc>
                <a:spcPct val="98000"/>
              </a:lnSpc>
              <a:spcAft>
                <a:spcPts val="0"/>
              </a:spcAft>
            </a:pPr>
            <a:r>
              <a:rPr sz="2400" b="1" i="0">
                <a:solidFill>
                  <a:srgbClr val="FFFFFF"/>
                </a:solidFill>
                <a:latin typeface="Calibri"/>
              </a:rPr>
              <a:t>Sources &amp; assumptions</a:t>
            </a:r>
          </a:p>
        </p:txBody>
      </p:sp>
      <p:sp>
        <p:nvSpPr>
          <p:cNvPr id="8" name="Rounded Rectangle 7"/>
          <p:cNvSpPr/>
          <p:nvPr/>
        </p:nvSpPr>
        <p:spPr>
          <a:xfrm>
            <a:off x="566928" y="1170432"/>
            <a:ext cx="5419191" cy="2971800"/>
          </a:xfrm>
          <a:prstGeom prst="roundRect">
            <a:avLst>
              <a:gd name="adj" fmla="val 6000"/>
            </a:avLst>
          </a:prstGeom>
          <a:solidFill>
            <a:srgbClr val="0C2E22"/>
          </a:solidFill>
          <a:ln w="11430">
            <a:solidFill>
              <a:srgbClr val="7FD1A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7FD1AE"/>
                </a:solidFill>
                <a:latin typeface="Calibri"/>
              </a:rPr>
              <a:t>⌘  </a:t>
            </a:r>
            <a:r>
              <a:rPr sz="1150" b="1" i="0">
                <a:solidFill>
                  <a:srgbClr val="FFFFFF"/>
                </a:solidFill>
                <a:latin typeface="Calibri"/>
              </a:rPr>
              <a:t>Sources</a:t>
            </a:r>
          </a:p>
          <a:p>
            <a:pPr>
              <a:lnSpc>
                <a:spcPct val="100000"/>
              </a:lnSpc>
              <a:spcAft>
                <a:spcPts val="300"/>
              </a:spcAft>
            </a:pPr>
            <a:r>
              <a:rPr sz="930" b="1">
                <a:solidFill>
                  <a:srgbClr val="7FD1AE"/>
                </a:solidFill>
                <a:latin typeface="Calibri"/>
              </a:rPr>
              <a:t>▪  </a:t>
            </a:r>
            <a:r>
              <a:rPr sz="930" b="0" i="0">
                <a:solidFill>
                  <a:srgbClr val="CBE2D7"/>
                </a:solidFill>
                <a:latin typeface="Calibri"/>
              </a:rPr>
              <a:t>PSA RSSO-CAR — Situation of Selected High-Value Vegetable Crops in Benguet, 2024 (253,543.95 MT).</a:t>
            </a:r>
          </a:p>
          <a:p>
            <a:pPr>
              <a:lnSpc>
                <a:spcPct val="100000"/>
              </a:lnSpc>
              <a:spcAft>
                <a:spcPts val="300"/>
              </a:spcAft>
            </a:pPr>
            <a:r>
              <a:rPr sz="930" b="1">
                <a:solidFill>
                  <a:srgbClr val="7FD1AE"/>
                </a:solidFill>
                <a:latin typeface="Calibri"/>
              </a:rPr>
              <a:t>▪  </a:t>
            </a:r>
            <a:r>
              <a:rPr sz="930" b="0" i="0">
                <a:solidFill>
                  <a:srgbClr val="CBE2D7"/>
                </a:solidFill>
                <a:latin typeface="Calibri"/>
              </a:rPr>
              <a:t>UN-CSAM / Mopera — Post-harvest Technology in the Philippines (42% vegetables, 28% fruits lost).</a:t>
            </a:r>
          </a:p>
          <a:p>
            <a:pPr>
              <a:lnSpc>
                <a:spcPct val="100000"/>
              </a:lnSpc>
              <a:spcAft>
                <a:spcPts val="300"/>
              </a:spcAft>
            </a:pPr>
            <a:r>
              <a:rPr sz="930" b="1">
                <a:solidFill>
                  <a:srgbClr val="7FD1AE"/>
                </a:solidFill>
                <a:latin typeface="Calibri"/>
              </a:rPr>
              <a:t>▪  </a:t>
            </a:r>
            <a:r>
              <a:rPr sz="930" b="0" i="0">
                <a:solidFill>
                  <a:srgbClr val="CBE2D7"/>
                </a:solidFill>
                <a:latin typeface="Calibri"/>
              </a:rPr>
              <a:t>PCAARRD (2025) — Luzon tomato farmgate ₱4–6/kg vs Metro Manila retail ₱25–60/kg.</a:t>
            </a:r>
          </a:p>
          <a:p>
            <a:pPr>
              <a:lnSpc>
                <a:spcPct val="100000"/>
              </a:lnSpc>
              <a:spcAft>
                <a:spcPts val="300"/>
              </a:spcAft>
            </a:pPr>
            <a:r>
              <a:rPr sz="930" b="1">
                <a:solidFill>
                  <a:srgbClr val="7FD1AE"/>
                </a:solidFill>
                <a:latin typeface="Calibri"/>
              </a:rPr>
              <a:t>▪  </a:t>
            </a:r>
            <a:r>
              <a:rPr sz="930" b="0" i="0">
                <a:solidFill>
                  <a:srgbClr val="CBE2D7"/>
                </a:solidFill>
                <a:latin typeface="Calibri"/>
              </a:rPr>
              <a:t>SEARCA / ADB post-harvest loss study (2022) — mango, tomato and onion route losses.</a:t>
            </a:r>
          </a:p>
          <a:p>
            <a:pPr>
              <a:lnSpc>
                <a:spcPct val="100000"/>
              </a:lnSpc>
              <a:spcAft>
                <a:spcPts val="300"/>
              </a:spcAft>
            </a:pPr>
            <a:r>
              <a:rPr sz="930" b="1">
                <a:solidFill>
                  <a:srgbClr val="7FD1AE"/>
                </a:solidFill>
                <a:latin typeface="Calibri"/>
              </a:rPr>
              <a:t>▪  </a:t>
            </a:r>
            <a:r>
              <a:rPr sz="930" b="0" i="0">
                <a:solidFill>
                  <a:srgbClr val="CBE2D7"/>
                </a:solidFill>
                <a:latin typeface="Calibri"/>
              </a:rPr>
              <a:t>UN Food Systems — Philippine Agrifood System Transformation Pathway (cold-chain gap).</a:t>
            </a:r>
          </a:p>
          <a:p>
            <a:pPr>
              <a:lnSpc>
                <a:spcPct val="100000"/>
              </a:lnSpc>
              <a:spcAft>
                <a:spcPts val="300"/>
              </a:spcAft>
            </a:pPr>
            <a:r>
              <a:rPr sz="930" b="1">
                <a:solidFill>
                  <a:srgbClr val="7FD1AE"/>
                </a:solidFill>
                <a:latin typeface="Calibri"/>
              </a:rPr>
              <a:t>▪  </a:t>
            </a:r>
            <a:r>
              <a:rPr sz="930" b="0" i="0">
                <a:solidFill>
                  <a:srgbClr val="CBE2D7"/>
                </a:solidFill>
                <a:latin typeface="Calibri"/>
              </a:rPr>
              <a:t>Industry estimate: ~860,000 of ~1.4 M cold-storage pallet positions available.</a:t>
            </a:r>
          </a:p>
        </p:txBody>
      </p:sp>
      <p:sp>
        <p:nvSpPr>
          <p:cNvPr id="9" name="Rounded Rectangle 8"/>
          <p:cNvSpPr/>
          <p:nvPr/>
        </p:nvSpPr>
        <p:spPr>
          <a:xfrm>
            <a:off x="6205575" y="1170432"/>
            <a:ext cx="5419191" cy="2971800"/>
          </a:xfrm>
          <a:prstGeom prst="roundRect">
            <a:avLst>
              <a:gd name="adj" fmla="val 6000"/>
            </a:avLst>
          </a:prstGeom>
          <a:solidFill>
            <a:srgbClr val="0C2E22"/>
          </a:solidFill>
          <a:ln w="11430">
            <a:solidFill>
              <a:srgbClr val="F2A33C"/>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91440">
            <a:noAutofit/>
          </a:bodyPr>
          <a:lstStyle/>
          <a:p>
            <a:pPr algn="ctr">
              <a:lnSpc>
                <a:spcPct val="100000"/>
              </a:lnSpc>
              <a:spcAft>
                <a:spcPts val="500"/>
              </a:spcAft>
            </a:pPr>
            <a:r>
              <a:rPr sz="1150" b="1" i="0">
                <a:solidFill>
                  <a:srgbClr val="F2A33C"/>
                </a:solidFill>
                <a:latin typeface="Calibri"/>
              </a:rPr>
              <a:t>Σ  </a:t>
            </a:r>
            <a:r>
              <a:rPr sz="1150" b="1" i="0">
                <a:solidFill>
                  <a:srgbClr val="FFFFFF"/>
                </a:solidFill>
                <a:latin typeface="Calibri"/>
              </a:rPr>
              <a:t>Key assumptions</a:t>
            </a:r>
          </a:p>
          <a:p>
            <a:pPr>
              <a:lnSpc>
                <a:spcPct val="100000"/>
              </a:lnSpc>
              <a:spcAft>
                <a:spcPts val="300"/>
              </a:spcAft>
            </a:pPr>
            <a:r>
              <a:rPr sz="930" b="1">
                <a:solidFill>
                  <a:srgbClr val="F2A33C"/>
                </a:solidFill>
                <a:latin typeface="Calibri"/>
              </a:rPr>
              <a:t>▪  </a:t>
            </a:r>
            <a:r>
              <a:rPr sz="930" b="0" i="0">
                <a:solidFill>
                  <a:srgbClr val="CBE2D7"/>
                </a:solidFill>
                <a:latin typeface="Calibri"/>
              </a:rPr>
              <a:t>Hub capex ₱480,000 · opex ₱28,000/month · storage ₱1.20/kg/day.</a:t>
            </a:r>
          </a:p>
          <a:p>
            <a:pPr>
              <a:lnSpc>
                <a:spcPct val="100000"/>
              </a:lnSpc>
              <a:spcAft>
                <a:spcPts val="300"/>
              </a:spcAft>
            </a:pPr>
            <a:r>
              <a:rPr sz="930" b="1">
                <a:solidFill>
                  <a:srgbClr val="F2A33C"/>
                </a:solidFill>
                <a:latin typeface="Calibri"/>
              </a:rPr>
              <a:t>▪  </a:t>
            </a:r>
            <a:r>
              <a:rPr sz="930" b="0" i="0">
                <a:solidFill>
                  <a:srgbClr val="CBE2D7"/>
                </a:solidFill>
                <a:latin typeface="Calibri"/>
              </a:rPr>
              <a:t>Utilisation ramp 35% → 55% → 70%; 2-tonne nominal capacity.</a:t>
            </a:r>
          </a:p>
          <a:p>
            <a:pPr>
              <a:lnSpc>
                <a:spcPct val="100000"/>
              </a:lnSpc>
              <a:spcAft>
                <a:spcPts val="300"/>
              </a:spcAft>
            </a:pPr>
            <a:r>
              <a:rPr sz="930" b="1">
                <a:solidFill>
                  <a:srgbClr val="F2A33C"/>
                </a:solidFill>
                <a:latin typeface="Calibri"/>
              </a:rPr>
              <a:t>▪  </a:t>
            </a:r>
            <a:r>
              <a:rPr sz="930" b="0" i="0">
                <a:solidFill>
                  <a:srgbClr val="CBE2D7"/>
                </a:solidFill>
                <a:latin typeface="Calibri"/>
              </a:rPr>
              <a:t>Offtake commission 6% on matched GMV; 80/20 co-op revenue share.</a:t>
            </a:r>
          </a:p>
          <a:p>
            <a:pPr>
              <a:lnSpc>
                <a:spcPct val="100000"/>
              </a:lnSpc>
              <a:spcAft>
                <a:spcPts val="300"/>
              </a:spcAft>
            </a:pPr>
            <a:r>
              <a:rPr sz="930" b="1">
                <a:solidFill>
                  <a:srgbClr val="F2A33C"/>
                </a:solidFill>
                <a:latin typeface="Calibri"/>
              </a:rPr>
              <a:t>▪  </a:t>
            </a:r>
            <a:r>
              <a:rPr sz="930" b="0" i="0">
                <a:solidFill>
                  <a:srgbClr val="CBE2D7"/>
                </a:solidFill>
                <a:latin typeface="Calibri"/>
              </a:rPr>
              <a:t>Loss reduction 35% → 15% validated against a same-week control group.</a:t>
            </a:r>
          </a:p>
          <a:p>
            <a:pPr>
              <a:lnSpc>
                <a:spcPct val="100000"/>
              </a:lnSpc>
              <a:spcAft>
                <a:spcPts val="300"/>
              </a:spcAft>
            </a:pPr>
            <a:r>
              <a:rPr sz="930" b="1">
                <a:solidFill>
                  <a:srgbClr val="F2A33C"/>
                </a:solidFill>
                <a:latin typeface="Calibri"/>
              </a:rPr>
              <a:t>▪  </a:t>
            </a:r>
            <a:r>
              <a:rPr sz="930" b="0" i="0">
                <a:solidFill>
                  <a:srgbClr val="CBE2D7"/>
                </a:solidFill>
                <a:latin typeface="Calibri"/>
              </a:rPr>
              <a:t>₱30/kg average farmgate for value-of-loss estimates.</a:t>
            </a:r>
          </a:p>
          <a:p>
            <a:pPr>
              <a:lnSpc>
                <a:spcPct val="100000"/>
              </a:lnSpc>
              <a:spcAft>
                <a:spcPts val="300"/>
              </a:spcAft>
            </a:pPr>
            <a:r>
              <a:rPr sz="930" b="1">
                <a:solidFill>
                  <a:srgbClr val="F2A33C"/>
                </a:solidFill>
                <a:latin typeface="Calibri"/>
              </a:rPr>
              <a:t>▪  </a:t>
            </a:r>
            <a:r>
              <a:rPr sz="930" b="0" i="0">
                <a:solidFill>
                  <a:srgbClr val="CBE2D7"/>
                </a:solidFill>
                <a:latin typeface="Calibri"/>
              </a:rPr>
              <a:t>All financials are concept-level projections for the 12-month pilot.</a:t>
            </a:r>
          </a:p>
        </p:txBody>
      </p:sp>
      <p:sp>
        <p:nvSpPr>
          <p:cNvPr id="10" name="TextBox 9"/>
          <p:cNvSpPr txBox="1"/>
          <p:nvPr/>
        </p:nvSpPr>
        <p:spPr>
          <a:xfrm>
            <a:off x="566928" y="4370832"/>
            <a:ext cx="11057839" cy="640080"/>
          </a:xfrm>
          <a:prstGeom prst="rect">
            <a:avLst/>
          </a:prstGeom>
          <a:noFill/>
        </p:spPr>
        <p:txBody>
          <a:bodyPr wrap="square" anchor="t" lIns="0" rIns="0" tIns="0" bIns="0">
            <a:noAutofit/>
          </a:bodyPr>
          <a:lstStyle/>
          <a:p>
            <a:pPr algn="l">
              <a:lnSpc>
                <a:spcPct val="115000"/>
              </a:lnSpc>
              <a:spcAft>
                <a:spcPts val="0"/>
              </a:spcAft>
            </a:pPr>
            <a:r>
              <a:rPr sz="1300" b="0" i="0">
                <a:solidFill>
                  <a:srgbClr val="EAF4EE"/>
                </a:solidFill>
                <a:latin typeface="Calibri"/>
              </a:rPr>
              <a:t>Ask us the hard questions — </a:t>
            </a:r>
            <a:r>
              <a:rPr sz="1300" b="1" i="0">
                <a:solidFill>
                  <a:srgbClr val="FFD9A2"/>
                </a:solidFill>
                <a:latin typeface="Calibri"/>
              </a:rPr>
              <a:t>unit economics, permitting, or the model behind the 15% loss target.</a:t>
            </a:r>
            <a:r>
              <a:rPr sz="1300" b="0" i="0">
                <a:solidFill>
                  <a:srgbClr val="EAF4EE"/>
                </a:solidFill>
                <a:latin typeface="Calibri"/>
              </a:rPr>
              <a:t>  We brought the spreadsheet.</a:t>
            </a:r>
          </a:p>
        </p:txBody>
      </p:sp>
    </p:spTree>
  </p:cSld>
  <p:clrMapOvr>
    <a:masterClrMapping/>
  </p:clrMapOvr>
  <mc:AlternateContent xmlns:mc="http://schemas.openxmlformats.org/markup-compatibility/2006">
    <mc:Choice xmlns:p14="http://schemas.microsoft.com/office/powerpoint/2010/main" Requires="p14">
      <p:transition advTm="14000" p14:dur="1100">
        <p14:cube dir="l"/>
      </p:transition>
    </mc:Choice>
    <mc:Fallback>
      <p:transition spd="slow" advTm="14000">
        <p:push dir="l"/>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